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BAE9-F73B-64B8-F023-0ADFBEFA2D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AA26A-10CD-F795-EFD0-680EA3786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364BEC-F36A-E4F5-1BD1-2AE19CC9E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2740F-1C74-F243-B6C1-1BA837A5F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CDC2-C6D2-8552-6DA5-F7D8D8BF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574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8F90F-4B98-FD0F-7882-FA8F9CFD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ECB56-00C8-5FB5-3C1D-5500CC466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9FC8-6C91-7914-65ED-8ADFB13D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6F935-93B5-31AC-A347-D6603730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26F2E-F8CE-C521-FFE6-5B709D44D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07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EA1B9-9682-6F93-EFAD-F20796D4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A58541-7DC8-8BBE-4AC5-5BB1777D3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CED1F-9C73-1165-6EA8-906C7AC0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EC9AA-52C5-EB04-0E84-255F0B4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490A7-6D59-B266-0859-22044E50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307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241B7-409F-7EAE-E7D7-06DAA62F5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7E5E3-8111-E76C-8E72-C5C24EB5B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D5E81-FF58-5E56-CF7C-C18F9A5F4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8E6F0-4079-C08D-42F4-14EEF3D90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CCA0C-1197-8C8C-7AA8-552D3A1AE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A75FC-4B87-D544-2A01-44AD62B48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531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A8EF-526E-BCB6-E54E-7F5D88435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52C3F-375E-6C2B-5039-00C2B1807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896E9-D6B7-63AA-3CBE-50B0ABD57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D8ACA1-4B5A-8928-CE1F-AE656ADC5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4F3DA-C314-C677-80BB-85ADEE0668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37BF1D-57D7-64F9-ED07-504DE606A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97EE33-582C-DB7E-27DA-2EA7FB82B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073F3-8F60-CB7A-6172-E7F24FA1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23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C0DE8-3952-5C64-E40F-BA667D5E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B15E3B-A1FB-BEA5-00BF-3CA7D2AB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AA30A-935C-335D-1DEE-C8D83D525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A65177-1D40-3A60-AE77-49FF60B3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72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139907-EDB4-AA27-9B78-719DDAF3D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8CC205-4A56-5B1E-1EC6-4BAA47AAE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861B3-08A3-4A37-92C2-CF670E0D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034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A171-7178-5F88-B0E1-F5B95E6F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9B165-6AB3-B174-27E2-41B61E5EF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A57A7-EEC3-C214-C497-7BB424C4A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A8D55F-038C-B15F-36F8-5F421393A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F311C-5A3D-EAB5-AB76-CC66ED853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423B5-D7F1-4EDE-46E2-F5CC4CA6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0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A2F5B-CBC2-D0B6-C8DF-B9657A2D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DF294A-692D-AF05-3D58-9D4B6BCA79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75213-935D-802C-7FB7-71C4B4E96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87279-A9E0-E803-38AB-EFD00A811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6F455-BE8F-DDB3-CD7C-8746BF416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6DFD1-1C4B-5099-2BCE-5A6BBAC38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326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5317D-D23F-A8B1-4BD3-6B158848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0F9EC6-1400-4EF2-132D-C64390CA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2049E-713B-5EEF-8FFB-06C5D284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865A-8970-3320-0054-5DCA045F2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E59D-3397-7208-2878-CE15A5659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4767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71776A-11F4-E500-21B0-AE6191601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35C546-376F-8E96-ABFB-4509C5FEA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B6DC8-834F-2E86-5BB9-4458481DF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E648A-9EE4-8A33-7835-3D1E7ADA5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3BFF5-C701-B3F1-6034-D549AB72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303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C972D8-9F89-E948-4374-24FD72BF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6F2E-2BE9-08E4-D19D-5DAA3E2AD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01B89-B877-33B9-AA2D-25E3EE0DE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E70CD-0C52-4877-95B4-2234339B47C2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3656B-E68B-9093-2C03-83B23F0D78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3015-F9AD-EF92-F434-62D0A56F0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1734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B2617A1-A279-75EA-817D-CB193DC569B4}"/>
              </a:ext>
            </a:extLst>
          </p:cNvPr>
          <p:cNvGrpSpPr/>
          <p:nvPr/>
        </p:nvGrpSpPr>
        <p:grpSpPr>
          <a:xfrm>
            <a:off x="1791222" y="322545"/>
            <a:ext cx="7252570" cy="6212909"/>
            <a:chOff x="1791222" y="322545"/>
            <a:chExt cx="7252570" cy="621290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C1FE2B1-A5AF-6C45-8711-A42E0690A0E5}"/>
                </a:ext>
              </a:extLst>
            </p:cNvPr>
            <p:cNvSpPr/>
            <p:nvPr/>
          </p:nvSpPr>
          <p:spPr>
            <a:xfrm>
              <a:off x="1791222" y="322545"/>
              <a:ext cx="7252570" cy="6212909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5715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F261C4-C722-8F5F-DA21-F8B2D7040F69}"/>
                </a:ext>
              </a:extLst>
            </p:cNvPr>
            <p:cNvSpPr/>
            <p:nvPr/>
          </p:nvSpPr>
          <p:spPr>
            <a:xfrm>
              <a:off x="2411259" y="1823580"/>
              <a:ext cx="3081403" cy="2923783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571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C36C44-68E0-3016-3C36-0BCA44EB28C3}"/>
                </a:ext>
              </a:extLst>
            </p:cNvPr>
            <p:cNvSpPr txBox="1"/>
            <p:nvPr/>
          </p:nvSpPr>
          <p:spPr>
            <a:xfrm>
              <a:off x="3951961" y="494726"/>
              <a:ext cx="2793304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accent2">
                      <a:lumMod val="50000"/>
                    </a:schemeClr>
                  </a:solidFill>
                </a:rPr>
                <a:t>Hepatocyte</a:t>
              </a:r>
              <a:endParaRPr lang="es-ES" sz="2400" b="1" dirty="0">
                <a:solidFill>
                  <a:schemeClr val="accent2">
                    <a:lumMod val="50000"/>
                  </a:schemeClr>
                </a:solidFill>
              </a:endParaRPr>
            </a:p>
            <a:p>
              <a:pPr algn="ctr"/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(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Liver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 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cell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)</a:t>
              </a:r>
              <a:endParaRPr lang="en-GB" sz="2400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C2BBBA-8F46-7D90-AB27-85641718B0EE}"/>
                </a:ext>
              </a:extLst>
            </p:cNvPr>
            <p:cNvSpPr txBox="1"/>
            <p:nvPr/>
          </p:nvSpPr>
          <p:spPr>
            <a:xfrm>
              <a:off x="2555308" y="1988936"/>
              <a:ext cx="279330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tx2"/>
                  </a:solidFill>
                </a:rPr>
                <a:t>Lisosome</a:t>
              </a:r>
              <a:endParaRPr lang="es-ES" sz="24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7CF2C9-6A35-C295-C833-7C2B03CA51E6}"/>
              </a:ext>
            </a:extLst>
          </p:cNvPr>
          <p:cNvGrpSpPr/>
          <p:nvPr/>
        </p:nvGrpSpPr>
        <p:grpSpPr>
          <a:xfrm>
            <a:off x="2555308" y="2773653"/>
            <a:ext cx="2873800" cy="1310691"/>
            <a:chOff x="2458522" y="2890381"/>
            <a:chExt cx="2873800" cy="1310691"/>
          </a:xfrm>
        </p:grpSpPr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BC574A13-B895-BAD9-D2FB-80F95917760C}"/>
                </a:ext>
              </a:extLst>
            </p:cNvPr>
            <p:cNvSpPr/>
            <p:nvPr/>
          </p:nvSpPr>
          <p:spPr>
            <a:xfrm>
              <a:off x="2705621" y="2890381"/>
              <a:ext cx="463464" cy="461666"/>
            </a:xfrm>
            <a:prstGeom prst="pentagon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0009F5-A280-E45B-E5AB-0B5C88D81D85}"/>
                </a:ext>
              </a:extLst>
            </p:cNvPr>
            <p:cNvCxnSpPr/>
            <p:nvPr/>
          </p:nvCxnSpPr>
          <p:spPr>
            <a:xfrm>
              <a:off x="3331923" y="3156559"/>
              <a:ext cx="9018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C5048ACF-B25F-A051-4BF7-4D7FB325ABCE}"/>
                </a:ext>
              </a:extLst>
            </p:cNvPr>
            <p:cNvSpPr/>
            <p:nvPr/>
          </p:nvSpPr>
          <p:spPr>
            <a:xfrm rot="2707551">
              <a:off x="3532260" y="3294356"/>
              <a:ext cx="529963" cy="550554"/>
            </a:xfrm>
            <a:prstGeom prst="pi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C56CDC-58B8-970A-64FD-4943E09BBD39}"/>
                </a:ext>
              </a:extLst>
            </p:cNvPr>
            <p:cNvSpPr txBox="1"/>
            <p:nvPr/>
          </p:nvSpPr>
          <p:spPr>
            <a:xfrm>
              <a:off x="2458522" y="3352047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Drug</a:t>
              </a:r>
              <a:endParaRPr lang="es-ES" sz="16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F706AF-5AA8-5A8E-20D2-9A259062D338}"/>
                </a:ext>
              </a:extLst>
            </p:cNvPr>
            <p:cNvSpPr txBox="1"/>
            <p:nvPr/>
          </p:nvSpPr>
          <p:spPr>
            <a:xfrm>
              <a:off x="3322528" y="3862518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b="1" dirty="0"/>
                <a:t>CYP450</a:t>
              </a:r>
            </a:p>
          </p:txBody>
        </p:sp>
        <p:sp>
          <p:nvSpPr>
            <p:cNvPr id="15" name="Star: 7 Points 14">
              <a:extLst>
                <a:ext uri="{FF2B5EF4-FFF2-40B4-BE49-F238E27FC236}">
                  <a16:creationId xmlns:a16="http://schemas.microsoft.com/office/drawing/2014/main" id="{5AB508EC-8D71-3F45-5A0D-9E2204FCA91A}"/>
                </a:ext>
              </a:extLst>
            </p:cNvPr>
            <p:cNvSpPr/>
            <p:nvPr/>
          </p:nvSpPr>
          <p:spPr>
            <a:xfrm>
              <a:off x="4479918" y="2890381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DE973F-D331-D2DD-3895-363D3BD28771}"/>
                </a:ext>
              </a:extLst>
            </p:cNvPr>
            <p:cNvSpPr txBox="1"/>
            <p:nvPr/>
          </p:nvSpPr>
          <p:spPr>
            <a:xfrm>
              <a:off x="4090978" y="3485140"/>
              <a:ext cx="12413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Metabolite</a:t>
              </a:r>
              <a:endParaRPr lang="es-E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3274D3-4C8D-709B-F7C5-405CCC1D5994}"/>
              </a:ext>
            </a:extLst>
          </p:cNvPr>
          <p:cNvCxnSpPr/>
          <p:nvPr/>
        </p:nvCxnSpPr>
        <p:spPr>
          <a:xfrm>
            <a:off x="5194126" y="3070901"/>
            <a:ext cx="901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F982EC-A022-5DCF-4C63-A69894319D37}"/>
              </a:ext>
            </a:extLst>
          </p:cNvPr>
          <p:cNvSpPr txBox="1"/>
          <p:nvPr/>
        </p:nvSpPr>
        <p:spPr>
          <a:xfrm>
            <a:off x="2555308" y="4829721"/>
            <a:ext cx="2793304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/>
              <a:t>Phase</a:t>
            </a:r>
            <a:r>
              <a:rPr lang="es-ES" sz="2000" b="1" dirty="0"/>
              <a:t> I </a:t>
            </a:r>
            <a:r>
              <a:rPr lang="es-ES" sz="2000" b="1" dirty="0" err="1"/>
              <a:t>Reaction</a:t>
            </a:r>
            <a:endParaRPr lang="es-ES" sz="2000" b="1" dirty="0"/>
          </a:p>
          <a:p>
            <a:pPr algn="ctr"/>
            <a:r>
              <a:rPr lang="es-ES" sz="2000" dirty="0"/>
              <a:t>(</a:t>
            </a:r>
            <a:r>
              <a:rPr lang="es-ES" sz="2000" dirty="0" err="1"/>
              <a:t>e.g</a:t>
            </a:r>
            <a:r>
              <a:rPr lang="es-ES" sz="2000" dirty="0"/>
              <a:t>. </a:t>
            </a:r>
            <a:r>
              <a:rPr lang="es-ES" sz="2000" dirty="0" err="1"/>
              <a:t>Oxidation</a:t>
            </a:r>
            <a:r>
              <a:rPr lang="es-ES" sz="2000" dirty="0"/>
              <a:t>)</a:t>
            </a:r>
            <a:endParaRPr lang="en-GB" sz="20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ED49620-DA31-2674-730F-8C7CD1678527}"/>
              </a:ext>
            </a:extLst>
          </p:cNvPr>
          <p:cNvGrpSpPr/>
          <p:nvPr/>
        </p:nvGrpSpPr>
        <p:grpSpPr>
          <a:xfrm>
            <a:off x="6013038" y="2760389"/>
            <a:ext cx="3284115" cy="2838597"/>
            <a:chOff x="6096000" y="2709524"/>
            <a:chExt cx="3284115" cy="2838597"/>
          </a:xfrm>
        </p:grpSpPr>
        <p:sp>
          <p:nvSpPr>
            <p:cNvPr id="20" name="Star: 7 Points 19">
              <a:extLst>
                <a:ext uri="{FF2B5EF4-FFF2-40B4-BE49-F238E27FC236}">
                  <a16:creationId xmlns:a16="http://schemas.microsoft.com/office/drawing/2014/main" id="{8AB06384-E948-058A-4E19-9F89D3571F91}"/>
                </a:ext>
              </a:extLst>
            </p:cNvPr>
            <p:cNvSpPr/>
            <p:nvPr/>
          </p:nvSpPr>
          <p:spPr>
            <a:xfrm>
              <a:off x="6380758" y="2773653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E55AC96-1703-958D-8283-57FF5A67A5F0}"/>
                </a:ext>
              </a:extLst>
            </p:cNvPr>
            <p:cNvCxnSpPr>
              <a:cxnSpLocks/>
            </p:cNvCxnSpPr>
            <p:nvPr/>
          </p:nvCxnSpPr>
          <p:spPr>
            <a:xfrm>
              <a:off x="6630027" y="3428999"/>
              <a:ext cx="0" cy="8674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A319016-A5E1-9837-8476-82402D6B31AA}"/>
                </a:ext>
              </a:extLst>
            </p:cNvPr>
            <p:cNvSpPr/>
            <p:nvPr/>
          </p:nvSpPr>
          <p:spPr>
            <a:xfrm>
              <a:off x="6913443" y="3573873"/>
              <a:ext cx="853937" cy="500732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Star: 7 Points 35">
              <a:extLst>
                <a:ext uri="{FF2B5EF4-FFF2-40B4-BE49-F238E27FC236}">
                  <a16:creationId xmlns:a16="http://schemas.microsoft.com/office/drawing/2014/main" id="{3C83B1B8-8D89-A55D-2856-0754B7030AB0}"/>
                </a:ext>
              </a:extLst>
            </p:cNvPr>
            <p:cNvSpPr/>
            <p:nvPr/>
          </p:nvSpPr>
          <p:spPr>
            <a:xfrm>
              <a:off x="6256748" y="4385246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Flowchart: Decision 38">
              <a:extLst>
                <a:ext uri="{FF2B5EF4-FFF2-40B4-BE49-F238E27FC236}">
                  <a16:creationId xmlns:a16="http://schemas.microsoft.com/office/drawing/2014/main" id="{533DB632-2EF7-255D-3BC2-A6A7FC25F55F}"/>
                </a:ext>
              </a:extLst>
            </p:cNvPr>
            <p:cNvSpPr/>
            <p:nvPr/>
          </p:nvSpPr>
          <p:spPr>
            <a:xfrm>
              <a:off x="6856901" y="4632362"/>
              <a:ext cx="414457" cy="222247"/>
            </a:xfrm>
            <a:prstGeom prst="flowChartDecision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BE4CE6D-C970-FBE5-874B-35AB269619AA}"/>
                </a:ext>
              </a:extLst>
            </p:cNvPr>
            <p:cNvCxnSpPr/>
            <p:nvPr/>
          </p:nvCxnSpPr>
          <p:spPr>
            <a:xfrm flipH="1" flipV="1">
              <a:off x="6586811" y="4685039"/>
              <a:ext cx="408348" cy="82358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36E49B1-6555-AE8C-2E62-92FF36D3DB28}"/>
                </a:ext>
              </a:extLst>
            </p:cNvPr>
            <p:cNvSpPr txBox="1"/>
            <p:nvPr/>
          </p:nvSpPr>
          <p:spPr>
            <a:xfrm>
              <a:off x="6096000" y="4963346"/>
              <a:ext cx="124134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Conjugated</a:t>
              </a:r>
              <a:r>
                <a:rPr lang="es-ES" sz="1600" dirty="0"/>
                <a:t> </a:t>
              </a:r>
              <a:r>
                <a:rPr lang="es-ES" sz="1600" dirty="0" err="1"/>
                <a:t>Metabolite</a:t>
              </a:r>
              <a:endParaRPr lang="es-ES" sz="16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3184D66-CB54-DA3D-23B9-2DC99F55C7ED}"/>
                </a:ext>
              </a:extLst>
            </p:cNvPr>
            <p:cNvSpPr txBox="1"/>
            <p:nvPr/>
          </p:nvSpPr>
          <p:spPr>
            <a:xfrm>
              <a:off x="6586811" y="2709524"/>
              <a:ext cx="2793304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*</a:t>
              </a:r>
              <a:r>
                <a:rPr lang="es-ES" sz="2000" b="1" dirty="0" err="1"/>
                <a:t>Phase</a:t>
              </a:r>
              <a:r>
                <a:rPr lang="es-ES" sz="2000" b="1" dirty="0"/>
                <a:t> II </a:t>
              </a:r>
              <a:r>
                <a:rPr lang="es-ES" sz="2000" b="1" dirty="0" err="1"/>
                <a:t>Reaction</a:t>
              </a:r>
              <a:endParaRPr lang="es-ES" sz="2000" b="1" dirty="0"/>
            </a:p>
            <a:p>
              <a:pPr algn="ctr"/>
              <a:r>
                <a:rPr lang="es-ES" sz="2000" dirty="0"/>
                <a:t>(</a:t>
              </a:r>
              <a:r>
                <a:rPr lang="es-ES" sz="2000" dirty="0" err="1"/>
                <a:t>Conjugation</a:t>
              </a:r>
              <a:r>
                <a:rPr lang="es-ES" sz="2000" dirty="0"/>
                <a:t>)</a:t>
              </a:r>
              <a:endParaRPr lang="en-GB" sz="20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053484-71AC-9C16-0A34-7C67B0FBD2D1}"/>
              </a:ext>
            </a:extLst>
          </p:cNvPr>
          <p:cNvGrpSpPr/>
          <p:nvPr/>
        </p:nvGrpSpPr>
        <p:grpSpPr>
          <a:xfrm>
            <a:off x="6931612" y="4399293"/>
            <a:ext cx="2793304" cy="418969"/>
            <a:chOff x="6931612" y="4399293"/>
            <a:chExt cx="2793304" cy="41896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1642A36-1071-F942-A7EA-A3F55F98F2B5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D47F540-D077-5F9E-7ABB-5FA3A949686B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Elimination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48" name="Flowchart: Decision 47">
            <a:extLst>
              <a:ext uri="{FF2B5EF4-FFF2-40B4-BE49-F238E27FC236}">
                <a16:creationId xmlns:a16="http://schemas.microsoft.com/office/drawing/2014/main" id="{8F238B57-1635-AE58-B3BA-BFBEFDF715CB}"/>
              </a:ext>
            </a:extLst>
          </p:cNvPr>
          <p:cNvSpPr/>
          <p:nvPr/>
        </p:nvSpPr>
        <p:spPr>
          <a:xfrm>
            <a:off x="6745265" y="3820309"/>
            <a:ext cx="414457" cy="222247"/>
          </a:xfrm>
          <a:prstGeom prst="flowChartDecisio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FAB1A65-7190-E6C3-4020-36F532B1D31E}"/>
              </a:ext>
            </a:extLst>
          </p:cNvPr>
          <p:cNvGrpSpPr/>
          <p:nvPr/>
        </p:nvGrpSpPr>
        <p:grpSpPr>
          <a:xfrm>
            <a:off x="252711" y="2655054"/>
            <a:ext cx="2793304" cy="418969"/>
            <a:chOff x="6931612" y="4399293"/>
            <a:chExt cx="2793304" cy="418969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41D195C-E206-9950-DE44-D09C2D55963F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29F818-126E-C025-F448-EF260EA0662F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Distribution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560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30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Gonzalo Robles Criado</dc:creator>
  <cp:lastModifiedBy>Gonzalo Robles Criado</cp:lastModifiedBy>
  <cp:revision>2</cp:revision>
  <dcterms:created xsi:type="dcterms:W3CDTF">2025-09-28T13:54:23Z</dcterms:created>
  <dcterms:modified xsi:type="dcterms:W3CDTF">2025-09-28T14:22:25Z</dcterms:modified>
</cp:coreProperties>
</file>