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5F9A"/>
    <a:srgbClr val="A6CAEC"/>
    <a:srgbClr val="CAEEFB"/>
    <a:srgbClr val="CBC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AD191-481F-47CD-BB31-6284BAB9F5F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75E58-B779-47B9-B424-789E2006D5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5036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Z = final </a:t>
            </a:r>
            <a:r>
              <a:rPr lang="es-ES" dirty="0" err="1"/>
              <a:t>embedding</a:t>
            </a:r>
            <a:endParaRPr lang="es-ES" dirty="0"/>
          </a:p>
          <a:p>
            <a:r>
              <a:rPr lang="es-ES" dirty="0"/>
              <a:t>E(t1)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tokenization</a:t>
            </a:r>
            <a:r>
              <a:rPr lang="es-ES" dirty="0"/>
              <a:t> step,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learned</a:t>
            </a:r>
            <a:r>
              <a:rPr lang="es-ES" dirty="0"/>
              <a:t> </a:t>
            </a:r>
            <a:r>
              <a:rPr lang="es-ES" dirty="0" err="1"/>
              <a:t>tokenizer</a:t>
            </a:r>
            <a:endParaRPr lang="es-ES" dirty="0"/>
          </a:p>
          <a:p>
            <a:r>
              <a:rPr lang="es-ES" dirty="0" err="1"/>
              <a:t>fO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embedder</a:t>
            </a:r>
            <a:endParaRPr lang="es-ES" dirty="0"/>
          </a:p>
          <a:p>
            <a:r>
              <a:rPr lang="es-ES" dirty="0"/>
              <a:t>X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matrix</a:t>
            </a:r>
            <a:r>
              <a:rPr lang="es-ES" dirty="0"/>
              <a:t> </a:t>
            </a:r>
            <a:r>
              <a:rPr lang="es-ES" dirty="0" err="1"/>
              <a:t>resulting</a:t>
            </a:r>
            <a:r>
              <a:rPr lang="es-ES" dirty="0"/>
              <a:t> </a:t>
            </a:r>
            <a:r>
              <a:rPr lang="es-ES" dirty="0" err="1"/>
              <a:t>form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tokenizer</a:t>
            </a:r>
            <a:r>
              <a:rPr lang="es-ES" dirty="0"/>
              <a:t> step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introducing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ibuprofen</a:t>
            </a:r>
            <a:r>
              <a:rPr lang="es-ES" dirty="0"/>
              <a:t> SMILES</a:t>
            </a:r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1BA27C-3EF0-485A-B33F-5876D132EE7E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2076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BAE9-F73B-64B8-F023-0ADFBEFA2D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AA26A-10CD-F795-EFD0-680EA37869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364BEC-F36A-E4F5-1BD1-2AE19CC9E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2740F-1C74-F243-B6C1-1BA837A5F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CDC2-C6D2-8552-6DA5-F7D8D8BF5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6574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8F90F-4B98-FD0F-7882-FA8F9CFDC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ECB56-00C8-5FB5-3C1D-5500CC466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9FC8-6C91-7914-65ED-8ADFB13D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6F935-93B5-31AC-A347-D6603730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26F2E-F8CE-C521-FFE6-5B709D44D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07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EA1B9-9682-6F93-EFAD-F20796D47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A58541-7DC8-8BBE-4AC5-5BB1777D3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CED1F-9C73-1165-6EA8-906C7AC0C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EC9AA-52C5-EB04-0E84-255F0B4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490A7-6D59-B266-0859-22044E50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307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241B7-409F-7EAE-E7D7-06DAA62F5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7E5E3-8111-E76C-8E72-C5C24EB5BA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D5E81-FF58-5E56-CF7C-C18F9A5F4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8E6F0-4079-C08D-42F4-14EEF3D90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CCA0C-1197-8C8C-7AA8-552D3A1AE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A75FC-4B87-D544-2A01-44AD62B48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531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A8EF-526E-BCB6-E54E-7F5D88435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52C3F-375E-6C2B-5039-00C2B1807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896E9-D6B7-63AA-3CBE-50B0ABD578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D8ACA1-4B5A-8928-CE1F-AE656ADC5B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4F3DA-C314-C677-80BB-85ADEE0668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37BF1D-57D7-64F9-ED07-504DE606A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97EE33-582C-DB7E-27DA-2EA7FB82B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073F3-8F60-CB7A-6172-E7F24FA1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23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C0DE8-3952-5C64-E40F-BA667D5E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B15E3B-A1FB-BEA5-00BF-3CA7D2AB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AA30A-935C-335D-1DEE-C8D83D525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A65177-1D40-3A60-AE77-49FF60B3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72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139907-EDB4-AA27-9B78-719DDAF3D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8CC205-4A56-5B1E-1EC6-4BAA47AAE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861B3-08A3-4A37-92C2-CF670E0D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034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A171-7178-5F88-B0E1-F5B95E6F5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9B165-6AB3-B174-27E2-41B61E5EF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AA57A7-EEC3-C214-C497-7BB424C4A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A8D55F-038C-B15F-36F8-5F421393A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F311C-5A3D-EAB5-AB76-CC66ED853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F423B5-D7F1-4EDE-46E2-F5CC4CA6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610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A2F5B-CBC2-D0B6-C8DF-B9657A2D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DF294A-692D-AF05-3D58-9D4B6BCA79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75213-935D-802C-7FB7-71C4B4E96F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87279-A9E0-E803-38AB-EFD00A811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6F455-BE8F-DDB3-CD7C-8746BF416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6DFD1-1C4B-5099-2BCE-5A6BBAC38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326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5317D-D23F-A8B1-4BD3-6B158848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0F9EC6-1400-4EF2-132D-C64390CA1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2049E-713B-5EEF-8FFB-06C5D284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D865A-8970-3320-0054-5DCA045F2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E59D-3397-7208-2878-CE15A5659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4767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71776A-11F4-E500-21B0-AE61916017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35C546-376F-8E96-ABFB-4509C5FEA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B6DC8-834F-2E86-5BB9-4458481DF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E648A-9EE4-8A33-7835-3D1E7ADA5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3BFF5-C701-B3F1-6034-D549AB725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303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C972D8-9F89-E948-4374-24FD72BFE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6F2E-2BE9-08E4-D19D-5DAA3E2AD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01B89-B877-33B9-AA2D-25E3EE0DE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EE70CD-0C52-4877-95B4-2234339B47C2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3656B-E68B-9093-2C03-83B23F0D78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3015-F9AD-EF92-F434-62D0A56F0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1734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5.png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12" Type="http://schemas.openxmlformats.org/officeDocument/2006/relationships/image" Target="../media/image4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6.png"/><Relationship Id="rId4" Type="http://schemas.openxmlformats.org/officeDocument/2006/relationships/image" Target="../media/image2.png"/><Relationship Id="rId14" Type="http://schemas.openxmlformats.org/officeDocument/2006/relationships/image" Target="../media/image12.png"/><Relationship Id="rId22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B2617A1-A279-75EA-817D-CB193DC569B4}"/>
              </a:ext>
            </a:extLst>
          </p:cNvPr>
          <p:cNvGrpSpPr/>
          <p:nvPr/>
        </p:nvGrpSpPr>
        <p:grpSpPr>
          <a:xfrm>
            <a:off x="1791222" y="322545"/>
            <a:ext cx="7252570" cy="6212909"/>
            <a:chOff x="1791222" y="322545"/>
            <a:chExt cx="7252570" cy="621290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C1FE2B1-A5AF-6C45-8711-A42E0690A0E5}"/>
                </a:ext>
              </a:extLst>
            </p:cNvPr>
            <p:cNvSpPr/>
            <p:nvPr/>
          </p:nvSpPr>
          <p:spPr>
            <a:xfrm>
              <a:off x="1791222" y="322545"/>
              <a:ext cx="7252570" cy="6212909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5715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F261C4-C722-8F5F-DA21-F8B2D7040F69}"/>
                </a:ext>
              </a:extLst>
            </p:cNvPr>
            <p:cNvSpPr/>
            <p:nvPr/>
          </p:nvSpPr>
          <p:spPr>
            <a:xfrm>
              <a:off x="2411259" y="1823580"/>
              <a:ext cx="3081403" cy="2923783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571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C36C44-68E0-3016-3C36-0BCA44EB28C3}"/>
                </a:ext>
              </a:extLst>
            </p:cNvPr>
            <p:cNvSpPr txBox="1"/>
            <p:nvPr/>
          </p:nvSpPr>
          <p:spPr>
            <a:xfrm>
              <a:off x="3951961" y="494726"/>
              <a:ext cx="2793304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>
                  <a:solidFill>
                    <a:schemeClr val="accent2">
                      <a:lumMod val="50000"/>
                    </a:schemeClr>
                  </a:solidFill>
                </a:rPr>
                <a:t>Hepatocyte</a:t>
              </a:r>
              <a:endParaRPr lang="es-ES" sz="2400" b="1" dirty="0">
                <a:solidFill>
                  <a:schemeClr val="accent2">
                    <a:lumMod val="50000"/>
                  </a:schemeClr>
                </a:solidFill>
              </a:endParaRPr>
            </a:p>
            <a:p>
              <a:pPr algn="ctr"/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(</a:t>
              </a:r>
              <a:r>
                <a:rPr lang="es-ES" sz="2400" dirty="0" err="1">
                  <a:solidFill>
                    <a:schemeClr val="accent2">
                      <a:lumMod val="50000"/>
                    </a:schemeClr>
                  </a:solidFill>
                </a:rPr>
                <a:t>Liver</a:t>
              </a:r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 </a:t>
              </a:r>
              <a:r>
                <a:rPr lang="es-ES" sz="2400" dirty="0" err="1">
                  <a:solidFill>
                    <a:schemeClr val="accent2">
                      <a:lumMod val="50000"/>
                    </a:schemeClr>
                  </a:solidFill>
                </a:rPr>
                <a:t>cell</a:t>
              </a:r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)</a:t>
              </a:r>
              <a:endParaRPr lang="en-GB" sz="2400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5C2BBBA-8F46-7D90-AB27-85641718B0EE}"/>
                </a:ext>
              </a:extLst>
            </p:cNvPr>
            <p:cNvSpPr txBox="1"/>
            <p:nvPr/>
          </p:nvSpPr>
          <p:spPr>
            <a:xfrm>
              <a:off x="2555308" y="1988936"/>
              <a:ext cx="279330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>
                  <a:solidFill>
                    <a:schemeClr val="tx2"/>
                  </a:solidFill>
                </a:rPr>
                <a:t>Lisosome</a:t>
              </a:r>
              <a:endParaRPr lang="es-ES" sz="24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7CF2C9-6A35-C295-C833-7C2B03CA51E6}"/>
              </a:ext>
            </a:extLst>
          </p:cNvPr>
          <p:cNvGrpSpPr/>
          <p:nvPr/>
        </p:nvGrpSpPr>
        <p:grpSpPr>
          <a:xfrm>
            <a:off x="2555308" y="2773653"/>
            <a:ext cx="2873800" cy="1310691"/>
            <a:chOff x="2458522" y="2890381"/>
            <a:chExt cx="2873800" cy="1310691"/>
          </a:xfrm>
        </p:grpSpPr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BC574A13-B895-BAD9-D2FB-80F95917760C}"/>
                </a:ext>
              </a:extLst>
            </p:cNvPr>
            <p:cNvSpPr/>
            <p:nvPr/>
          </p:nvSpPr>
          <p:spPr>
            <a:xfrm>
              <a:off x="2705621" y="2890381"/>
              <a:ext cx="463464" cy="461666"/>
            </a:xfrm>
            <a:prstGeom prst="pentagon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0009F5-A280-E45B-E5AB-0B5C88D81D85}"/>
                </a:ext>
              </a:extLst>
            </p:cNvPr>
            <p:cNvCxnSpPr/>
            <p:nvPr/>
          </p:nvCxnSpPr>
          <p:spPr>
            <a:xfrm>
              <a:off x="3331923" y="3156559"/>
              <a:ext cx="90187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C5048ACF-B25F-A051-4BF7-4D7FB325ABCE}"/>
                </a:ext>
              </a:extLst>
            </p:cNvPr>
            <p:cNvSpPr/>
            <p:nvPr/>
          </p:nvSpPr>
          <p:spPr>
            <a:xfrm rot="2707551">
              <a:off x="3532260" y="3294356"/>
              <a:ext cx="529963" cy="550554"/>
            </a:xfrm>
            <a:prstGeom prst="pi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C56CDC-58B8-970A-64FD-4943E09BBD39}"/>
                </a:ext>
              </a:extLst>
            </p:cNvPr>
            <p:cNvSpPr txBox="1"/>
            <p:nvPr/>
          </p:nvSpPr>
          <p:spPr>
            <a:xfrm>
              <a:off x="2458522" y="3352047"/>
              <a:ext cx="92066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Drug</a:t>
              </a:r>
              <a:endParaRPr lang="es-ES" sz="16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F706AF-5AA8-5A8E-20D2-9A259062D338}"/>
                </a:ext>
              </a:extLst>
            </p:cNvPr>
            <p:cNvSpPr txBox="1"/>
            <p:nvPr/>
          </p:nvSpPr>
          <p:spPr>
            <a:xfrm>
              <a:off x="3322528" y="3862518"/>
              <a:ext cx="92066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b="1" dirty="0"/>
                <a:t>CYP450</a:t>
              </a:r>
            </a:p>
          </p:txBody>
        </p:sp>
        <p:sp>
          <p:nvSpPr>
            <p:cNvPr id="15" name="Star: 7 Points 14">
              <a:extLst>
                <a:ext uri="{FF2B5EF4-FFF2-40B4-BE49-F238E27FC236}">
                  <a16:creationId xmlns:a16="http://schemas.microsoft.com/office/drawing/2014/main" id="{5AB508EC-8D71-3F45-5A0D-9E2204FCA91A}"/>
                </a:ext>
              </a:extLst>
            </p:cNvPr>
            <p:cNvSpPr/>
            <p:nvPr/>
          </p:nvSpPr>
          <p:spPr>
            <a:xfrm>
              <a:off x="4479918" y="2890381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DE973F-D331-D2DD-3895-363D3BD28771}"/>
                </a:ext>
              </a:extLst>
            </p:cNvPr>
            <p:cNvSpPr txBox="1"/>
            <p:nvPr/>
          </p:nvSpPr>
          <p:spPr>
            <a:xfrm>
              <a:off x="4090978" y="3485140"/>
              <a:ext cx="12413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Metabolite</a:t>
              </a:r>
              <a:endParaRPr lang="es-ES" sz="1600" dirty="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63274D3-4C8D-709B-F7C5-405CCC1D5994}"/>
              </a:ext>
            </a:extLst>
          </p:cNvPr>
          <p:cNvCxnSpPr/>
          <p:nvPr/>
        </p:nvCxnSpPr>
        <p:spPr>
          <a:xfrm>
            <a:off x="5194126" y="3070901"/>
            <a:ext cx="901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F982EC-A022-5DCF-4C63-A69894319D37}"/>
              </a:ext>
            </a:extLst>
          </p:cNvPr>
          <p:cNvSpPr txBox="1"/>
          <p:nvPr/>
        </p:nvSpPr>
        <p:spPr>
          <a:xfrm>
            <a:off x="2555308" y="4829721"/>
            <a:ext cx="2793304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/>
              <a:t>Phase</a:t>
            </a:r>
            <a:r>
              <a:rPr lang="es-ES" sz="2000" b="1" dirty="0"/>
              <a:t> I </a:t>
            </a:r>
            <a:r>
              <a:rPr lang="es-ES" sz="2000" b="1" dirty="0" err="1"/>
              <a:t>Reaction</a:t>
            </a:r>
            <a:endParaRPr lang="es-ES" sz="2000" b="1" dirty="0"/>
          </a:p>
          <a:p>
            <a:pPr algn="ctr"/>
            <a:r>
              <a:rPr lang="es-ES" sz="2000" dirty="0"/>
              <a:t>(</a:t>
            </a:r>
            <a:r>
              <a:rPr lang="es-ES" sz="2000" dirty="0" err="1"/>
              <a:t>e.g</a:t>
            </a:r>
            <a:r>
              <a:rPr lang="es-ES" sz="2000" dirty="0"/>
              <a:t>. </a:t>
            </a:r>
            <a:r>
              <a:rPr lang="es-ES" sz="2000" dirty="0" err="1"/>
              <a:t>Oxidation</a:t>
            </a:r>
            <a:r>
              <a:rPr lang="es-ES" sz="2000" dirty="0"/>
              <a:t>)</a:t>
            </a:r>
            <a:endParaRPr lang="en-GB" sz="20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ED49620-DA31-2674-730F-8C7CD1678527}"/>
              </a:ext>
            </a:extLst>
          </p:cNvPr>
          <p:cNvGrpSpPr/>
          <p:nvPr/>
        </p:nvGrpSpPr>
        <p:grpSpPr>
          <a:xfrm>
            <a:off x="6013038" y="2760389"/>
            <a:ext cx="3284115" cy="2838597"/>
            <a:chOff x="6096000" y="2709524"/>
            <a:chExt cx="3284115" cy="2838597"/>
          </a:xfrm>
        </p:grpSpPr>
        <p:sp>
          <p:nvSpPr>
            <p:cNvPr id="20" name="Star: 7 Points 19">
              <a:extLst>
                <a:ext uri="{FF2B5EF4-FFF2-40B4-BE49-F238E27FC236}">
                  <a16:creationId xmlns:a16="http://schemas.microsoft.com/office/drawing/2014/main" id="{8AB06384-E948-058A-4E19-9F89D3571F91}"/>
                </a:ext>
              </a:extLst>
            </p:cNvPr>
            <p:cNvSpPr/>
            <p:nvPr/>
          </p:nvSpPr>
          <p:spPr>
            <a:xfrm>
              <a:off x="6380758" y="2773653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E55AC96-1703-958D-8283-57FF5A67A5F0}"/>
                </a:ext>
              </a:extLst>
            </p:cNvPr>
            <p:cNvCxnSpPr>
              <a:cxnSpLocks/>
            </p:cNvCxnSpPr>
            <p:nvPr/>
          </p:nvCxnSpPr>
          <p:spPr>
            <a:xfrm>
              <a:off x="6630027" y="3428999"/>
              <a:ext cx="0" cy="8674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loud 34">
              <a:extLst>
                <a:ext uri="{FF2B5EF4-FFF2-40B4-BE49-F238E27FC236}">
                  <a16:creationId xmlns:a16="http://schemas.microsoft.com/office/drawing/2014/main" id="{7A319016-A5E1-9837-8476-82402D6B31AA}"/>
                </a:ext>
              </a:extLst>
            </p:cNvPr>
            <p:cNvSpPr/>
            <p:nvPr/>
          </p:nvSpPr>
          <p:spPr>
            <a:xfrm>
              <a:off x="6913443" y="3573873"/>
              <a:ext cx="853937" cy="500732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Star: 7 Points 35">
              <a:extLst>
                <a:ext uri="{FF2B5EF4-FFF2-40B4-BE49-F238E27FC236}">
                  <a16:creationId xmlns:a16="http://schemas.microsoft.com/office/drawing/2014/main" id="{3C83B1B8-8D89-A55D-2856-0754B7030AB0}"/>
                </a:ext>
              </a:extLst>
            </p:cNvPr>
            <p:cNvSpPr/>
            <p:nvPr/>
          </p:nvSpPr>
          <p:spPr>
            <a:xfrm>
              <a:off x="6256748" y="4385246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Flowchart: Decision 38">
              <a:extLst>
                <a:ext uri="{FF2B5EF4-FFF2-40B4-BE49-F238E27FC236}">
                  <a16:creationId xmlns:a16="http://schemas.microsoft.com/office/drawing/2014/main" id="{533DB632-2EF7-255D-3BC2-A6A7FC25F55F}"/>
                </a:ext>
              </a:extLst>
            </p:cNvPr>
            <p:cNvSpPr/>
            <p:nvPr/>
          </p:nvSpPr>
          <p:spPr>
            <a:xfrm>
              <a:off x="6856901" y="4632362"/>
              <a:ext cx="414457" cy="222247"/>
            </a:xfrm>
            <a:prstGeom prst="flowChartDecision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BE4CE6D-C970-FBE5-874B-35AB269619AA}"/>
                </a:ext>
              </a:extLst>
            </p:cNvPr>
            <p:cNvCxnSpPr/>
            <p:nvPr/>
          </p:nvCxnSpPr>
          <p:spPr>
            <a:xfrm flipH="1" flipV="1">
              <a:off x="6586811" y="4685039"/>
              <a:ext cx="408348" cy="82358"/>
            </a:xfrm>
            <a:prstGeom prst="line">
              <a:avLst/>
            </a:prstGeom>
            <a:ln w="38100">
              <a:solidFill>
                <a:schemeClr val="accent3"/>
              </a:solidFill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36E49B1-6555-AE8C-2E62-92FF36D3DB28}"/>
                </a:ext>
              </a:extLst>
            </p:cNvPr>
            <p:cNvSpPr txBox="1"/>
            <p:nvPr/>
          </p:nvSpPr>
          <p:spPr>
            <a:xfrm>
              <a:off x="6096000" y="4963346"/>
              <a:ext cx="124134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Conjugated</a:t>
              </a:r>
              <a:r>
                <a:rPr lang="es-ES" sz="1600" dirty="0"/>
                <a:t> </a:t>
              </a:r>
              <a:r>
                <a:rPr lang="es-ES" sz="1600" dirty="0" err="1"/>
                <a:t>Metabolite</a:t>
              </a:r>
              <a:endParaRPr lang="es-ES" sz="16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3184D66-CB54-DA3D-23B9-2DC99F55C7ED}"/>
                </a:ext>
              </a:extLst>
            </p:cNvPr>
            <p:cNvSpPr txBox="1"/>
            <p:nvPr/>
          </p:nvSpPr>
          <p:spPr>
            <a:xfrm>
              <a:off x="6586811" y="2709524"/>
              <a:ext cx="2793304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/>
                <a:t>*</a:t>
              </a:r>
              <a:r>
                <a:rPr lang="es-ES" sz="2000" b="1" dirty="0" err="1"/>
                <a:t>Phase</a:t>
              </a:r>
              <a:r>
                <a:rPr lang="es-ES" sz="2000" b="1" dirty="0"/>
                <a:t> II </a:t>
              </a:r>
              <a:r>
                <a:rPr lang="es-ES" sz="2000" b="1" dirty="0" err="1"/>
                <a:t>Reaction</a:t>
              </a:r>
              <a:endParaRPr lang="es-ES" sz="2000" b="1" dirty="0"/>
            </a:p>
            <a:p>
              <a:pPr algn="ctr"/>
              <a:r>
                <a:rPr lang="es-ES" sz="2000" dirty="0"/>
                <a:t>(</a:t>
              </a:r>
              <a:r>
                <a:rPr lang="es-ES" sz="2000" dirty="0" err="1"/>
                <a:t>Conjugation</a:t>
              </a:r>
              <a:r>
                <a:rPr lang="es-ES" sz="2000" dirty="0"/>
                <a:t>)</a:t>
              </a:r>
              <a:endParaRPr lang="en-GB" sz="20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2053484-71AC-9C16-0A34-7C67B0FBD2D1}"/>
              </a:ext>
            </a:extLst>
          </p:cNvPr>
          <p:cNvGrpSpPr/>
          <p:nvPr/>
        </p:nvGrpSpPr>
        <p:grpSpPr>
          <a:xfrm>
            <a:off x="6931612" y="4399293"/>
            <a:ext cx="2793304" cy="418969"/>
            <a:chOff x="6931612" y="4399293"/>
            <a:chExt cx="2793304" cy="418969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1642A36-1071-F942-A7EA-A3F55F98F2B5}"/>
                </a:ext>
              </a:extLst>
            </p:cNvPr>
            <p:cNvCxnSpPr>
              <a:cxnSpLocks/>
            </p:cNvCxnSpPr>
            <p:nvPr/>
          </p:nvCxnSpPr>
          <p:spPr>
            <a:xfrm>
              <a:off x="7438372" y="4818262"/>
              <a:ext cx="1858781" cy="0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D47F540-D077-5F9E-7ABB-5FA3A949686B}"/>
                </a:ext>
              </a:extLst>
            </p:cNvPr>
            <p:cNvSpPr txBox="1"/>
            <p:nvPr/>
          </p:nvSpPr>
          <p:spPr>
            <a:xfrm>
              <a:off x="6931612" y="4399293"/>
              <a:ext cx="279330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 err="1">
                  <a:solidFill>
                    <a:schemeClr val="bg2">
                      <a:lumMod val="25000"/>
                    </a:schemeClr>
                  </a:solidFill>
                </a:rPr>
                <a:t>Elimination</a:t>
              </a:r>
              <a:endParaRPr lang="en-GB" sz="2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48" name="Flowchart: Decision 47">
            <a:extLst>
              <a:ext uri="{FF2B5EF4-FFF2-40B4-BE49-F238E27FC236}">
                <a16:creationId xmlns:a16="http://schemas.microsoft.com/office/drawing/2014/main" id="{8F238B57-1635-AE58-B3BA-BFBEFDF715CB}"/>
              </a:ext>
            </a:extLst>
          </p:cNvPr>
          <p:cNvSpPr/>
          <p:nvPr/>
        </p:nvSpPr>
        <p:spPr>
          <a:xfrm>
            <a:off x="6745265" y="3820309"/>
            <a:ext cx="414457" cy="222247"/>
          </a:xfrm>
          <a:prstGeom prst="flowChartDecisio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FAB1A65-7190-E6C3-4020-36F532B1D31E}"/>
              </a:ext>
            </a:extLst>
          </p:cNvPr>
          <p:cNvGrpSpPr/>
          <p:nvPr/>
        </p:nvGrpSpPr>
        <p:grpSpPr>
          <a:xfrm>
            <a:off x="252711" y="2655054"/>
            <a:ext cx="2793304" cy="418969"/>
            <a:chOff x="6931612" y="4399293"/>
            <a:chExt cx="2793304" cy="418969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141D195C-E206-9950-DE44-D09C2D55963F}"/>
                </a:ext>
              </a:extLst>
            </p:cNvPr>
            <p:cNvCxnSpPr>
              <a:cxnSpLocks/>
            </p:cNvCxnSpPr>
            <p:nvPr/>
          </p:nvCxnSpPr>
          <p:spPr>
            <a:xfrm>
              <a:off x="7438372" y="4818262"/>
              <a:ext cx="1858781" cy="0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29F818-126E-C025-F448-EF260EA0662F}"/>
                </a:ext>
              </a:extLst>
            </p:cNvPr>
            <p:cNvSpPr txBox="1"/>
            <p:nvPr/>
          </p:nvSpPr>
          <p:spPr>
            <a:xfrm>
              <a:off x="6931612" y="4399293"/>
              <a:ext cx="279330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 err="1">
                  <a:solidFill>
                    <a:schemeClr val="bg2">
                      <a:lumMod val="25000"/>
                    </a:schemeClr>
                  </a:solidFill>
                </a:rPr>
                <a:t>Distribution</a:t>
              </a:r>
              <a:endParaRPr lang="en-GB" sz="2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8560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2" name="Grupo 1061">
            <a:extLst>
              <a:ext uri="{FF2B5EF4-FFF2-40B4-BE49-F238E27FC236}">
                <a16:creationId xmlns:a16="http://schemas.microsoft.com/office/drawing/2014/main" id="{DC3009EC-AA9C-83AA-33E4-6D8E204F63A8}"/>
              </a:ext>
            </a:extLst>
          </p:cNvPr>
          <p:cNvGrpSpPr/>
          <p:nvPr/>
        </p:nvGrpSpPr>
        <p:grpSpPr>
          <a:xfrm>
            <a:off x="2257425" y="235356"/>
            <a:ext cx="7499734" cy="1900727"/>
            <a:chOff x="2257425" y="235356"/>
            <a:chExt cx="7499734" cy="1900727"/>
          </a:xfrm>
        </p:grpSpPr>
        <p:pic>
          <p:nvPicPr>
            <p:cNvPr id="1061" name="Imagen 1060">
              <a:extLst>
                <a:ext uri="{FF2B5EF4-FFF2-40B4-BE49-F238E27FC236}">
                  <a16:creationId xmlns:a16="http://schemas.microsoft.com/office/drawing/2014/main" id="{2DB22FF4-A3DB-78B6-5D09-169E8E930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57425" y="235356"/>
              <a:ext cx="3696886" cy="1848443"/>
            </a:xfrm>
            <a:prstGeom prst="rect">
              <a:avLst/>
            </a:prstGeom>
          </p:spPr>
        </p:pic>
        <p:grpSp>
          <p:nvGrpSpPr>
            <p:cNvPr id="41" name="Grupo 40">
              <a:extLst>
                <a:ext uri="{FF2B5EF4-FFF2-40B4-BE49-F238E27FC236}">
                  <a16:creationId xmlns:a16="http://schemas.microsoft.com/office/drawing/2014/main" id="{A7B94D04-17B5-8EBC-1DCC-B5BDDD4F60AE}"/>
                </a:ext>
              </a:extLst>
            </p:cNvPr>
            <p:cNvGrpSpPr/>
            <p:nvPr/>
          </p:nvGrpSpPr>
          <p:grpSpPr>
            <a:xfrm>
              <a:off x="3495051" y="1082675"/>
              <a:ext cx="6262108" cy="1053408"/>
              <a:chOff x="3495051" y="1082675"/>
              <a:chExt cx="6262108" cy="1053408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E167B4B8-BDB5-926A-E81C-8A21FD1461E5}"/>
                  </a:ext>
                </a:extLst>
              </p:cNvPr>
              <p:cNvGrpSpPr/>
              <p:nvPr/>
            </p:nvGrpSpPr>
            <p:grpSpPr>
              <a:xfrm>
                <a:off x="5511736" y="1082675"/>
                <a:ext cx="4245423" cy="394031"/>
                <a:chOff x="5511736" y="1061317"/>
                <a:chExt cx="4245423" cy="394031"/>
              </a:xfrm>
            </p:grpSpPr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1385188E-EE7F-378A-FCDF-74D42C8FBD89}"/>
                    </a:ext>
                  </a:extLst>
                </p:cNvPr>
                <p:cNvGrpSpPr/>
                <p:nvPr/>
              </p:nvGrpSpPr>
              <p:grpSpPr>
                <a:xfrm>
                  <a:off x="5511736" y="1061317"/>
                  <a:ext cx="1168528" cy="261610"/>
                  <a:chOff x="5551019" y="1024313"/>
                  <a:chExt cx="1168528" cy="261610"/>
                </a:xfrm>
              </p:grpSpPr>
              <p:cxnSp>
                <p:nvCxnSpPr>
                  <p:cNvPr id="9" name="Conector recto de flecha 8">
                    <a:extLst>
                      <a:ext uri="{FF2B5EF4-FFF2-40B4-BE49-F238E27FC236}">
                        <a16:creationId xmlns:a16="http://schemas.microsoft.com/office/drawing/2014/main" id="{D22FA9FB-7FA3-6DBF-73A6-600F81E6C9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587596" y="1249067"/>
                    <a:ext cx="1131951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" name="CuadroTexto 9">
                    <a:extLst>
                      <a:ext uri="{FF2B5EF4-FFF2-40B4-BE49-F238E27FC236}">
                        <a16:creationId xmlns:a16="http://schemas.microsoft.com/office/drawing/2014/main" id="{F575386E-C0BD-8E0A-822E-8DC083E3FDC6}"/>
                      </a:ext>
                    </a:extLst>
                  </p:cNvPr>
                  <p:cNvSpPr txBox="1"/>
                  <p:nvPr/>
                </p:nvSpPr>
                <p:spPr>
                  <a:xfrm>
                    <a:off x="5551019" y="1024313"/>
                    <a:ext cx="1131951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b="1" noProof="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String encoding </a:t>
                    </a:r>
                  </a:p>
                </p:txBody>
              </p:sp>
            </p:grpSp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994FC89D-8F3A-E6DF-886B-9715B1D8E649}"/>
                    </a:ext>
                  </a:extLst>
                </p:cNvPr>
                <p:cNvSpPr txBox="1"/>
                <p:nvPr/>
              </p:nvSpPr>
              <p:spPr>
                <a:xfrm>
                  <a:off x="6756126" y="1116794"/>
                  <a:ext cx="3001033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noProof="1">
                      <a:solidFill>
                        <a:srgbClr val="FF9A25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CC(C)C</a:t>
                  </a:r>
                  <a:r>
                    <a:rPr lang="en-US" sz="1600" b="1" noProof="1">
                      <a:solidFill>
                        <a:srgbClr val="FF0000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C1=CC=C(C=C1)</a:t>
                  </a:r>
                  <a:r>
                    <a:rPr lang="en-US" sz="1600" b="1" noProof="1">
                      <a:solidFill>
                        <a:srgbClr val="FF69B4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C(C)</a:t>
                  </a:r>
                  <a:r>
                    <a:rPr lang="en-US" sz="1600" b="1" noProof="1">
                      <a:solidFill>
                        <a:srgbClr val="8CC253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C(=O)O</a:t>
                  </a:r>
                </a:p>
              </p:txBody>
            </p:sp>
          </p:grpSp>
          <p:sp>
            <p:nvSpPr>
              <p:cNvPr id="32" name="CuadroTexto 31">
                <a:extLst>
                  <a:ext uri="{FF2B5EF4-FFF2-40B4-BE49-F238E27FC236}">
                    <a16:creationId xmlns:a16="http://schemas.microsoft.com/office/drawing/2014/main" id="{FECC6823-9B0A-6311-5D64-53C52EF4B68A}"/>
                  </a:ext>
                </a:extLst>
              </p:cNvPr>
              <p:cNvSpPr txBox="1"/>
              <p:nvPr/>
            </p:nvSpPr>
            <p:spPr>
              <a:xfrm>
                <a:off x="3495051" y="1828306"/>
                <a:ext cx="1329941" cy="307777"/>
              </a:xfrm>
              <a:prstGeom prst="rect">
                <a:avLst/>
              </a:prstGeom>
              <a:solidFill>
                <a:srgbClr val="FCFCFC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Ibuprofen</a:t>
                </a:r>
              </a:p>
            </p:txBody>
          </p:sp>
        </p:grpSp>
      </p:grp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1DA9A9A-25EE-2FC8-822A-3632977FE3D0}"/>
              </a:ext>
            </a:extLst>
          </p:cNvPr>
          <p:cNvCxnSpPr>
            <a:cxnSpLocks/>
          </p:cNvCxnSpPr>
          <p:nvPr/>
        </p:nvCxnSpPr>
        <p:spPr>
          <a:xfrm>
            <a:off x="-18289" y="2251531"/>
            <a:ext cx="12192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6BB3199-A4B3-71B1-628C-C121F5CE7F8E}"/>
              </a:ext>
            </a:extLst>
          </p:cNvPr>
          <p:cNvSpPr txBox="1"/>
          <p:nvPr/>
        </p:nvSpPr>
        <p:spPr>
          <a:xfrm>
            <a:off x="4134659" y="43387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Chemical representation → SMILES</a:t>
            </a: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8575DC62-F9B7-30CF-228B-67E2616B34B2}"/>
              </a:ext>
            </a:extLst>
          </p:cNvPr>
          <p:cNvCxnSpPr>
            <a:cxnSpLocks/>
          </p:cNvCxnSpPr>
          <p:nvPr/>
        </p:nvCxnSpPr>
        <p:spPr>
          <a:xfrm>
            <a:off x="-12273" y="4534935"/>
            <a:ext cx="12192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453C512-6DD5-B6F5-66B9-E75E6014876F}"/>
              </a:ext>
            </a:extLst>
          </p:cNvPr>
          <p:cNvSpPr txBox="1"/>
          <p:nvPr/>
        </p:nvSpPr>
        <p:spPr>
          <a:xfrm>
            <a:off x="4173099" y="2308490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SMILES → Morgan Fingerprints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5F57696A-FD26-5FFD-D1B6-9AC79ADAE2CC}"/>
              </a:ext>
            </a:extLst>
          </p:cNvPr>
          <p:cNvSpPr txBox="1"/>
          <p:nvPr/>
        </p:nvSpPr>
        <p:spPr>
          <a:xfrm>
            <a:off x="6642484" y="1444819"/>
            <a:ext cx="31146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SMILES </a:t>
            </a:r>
          </a:p>
          <a:p>
            <a:pPr algn="ctr"/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(linear textual representation)</a:t>
            </a:r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6D4E31DC-68BC-C61C-612B-EBBAD7BA9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947" y="2889124"/>
            <a:ext cx="2785700" cy="1260721"/>
          </a:xfrm>
          <a:prstGeom prst="rect">
            <a:avLst/>
          </a:prstGeom>
        </p:spPr>
      </p:pic>
      <p:sp>
        <p:nvSpPr>
          <p:cNvPr id="36" name="Elipse 35">
            <a:extLst>
              <a:ext uri="{FF2B5EF4-FFF2-40B4-BE49-F238E27FC236}">
                <a16:creationId xmlns:a16="http://schemas.microsoft.com/office/drawing/2014/main" id="{EF4DF477-0A16-CC26-E35B-C7330C3D7F63}"/>
              </a:ext>
            </a:extLst>
          </p:cNvPr>
          <p:cNvSpPr/>
          <p:nvPr/>
        </p:nvSpPr>
        <p:spPr>
          <a:xfrm>
            <a:off x="1836746" y="2752145"/>
            <a:ext cx="1154104" cy="1260723"/>
          </a:xfrm>
          <a:prstGeom prst="ellipse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F9C1D32E-085C-F5FB-357B-F2FC78D633CC}"/>
              </a:ext>
            </a:extLst>
          </p:cNvPr>
          <p:cNvSpPr txBox="1"/>
          <p:nvPr/>
        </p:nvSpPr>
        <p:spPr>
          <a:xfrm>
            <a:off x="401216" y="2600903"/>
            <a:ext cx="13821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Select </a:t>
            </a:r>
            <a:r>
              <a:rPr lang="en-US" sz="1100" b="1" noProof="1">
                <a:solidFill>
                  <a:srgbClr val="FF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atom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82FC17F2-5F79-56AD-D857-0B1BCA0061DA}"/>
              </a:ext>
            </a:extLst>
          </p:cNvPr>
          <p:cNvSpPr txBox="1"/>
          <p:nvPr/>
        </p:nvSpPr>
        <p:spPr>
          <a:xfrm>
            <a:off x="2862488" y="2726275"/>
            <a:ext cx="113195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Check substructures in </a:t>
            </a:r>
            <a:r>
              <a:rPr lang="en-US" sz="1100" b="1" noProof="1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Radius = 3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3A9B3E78-660F-6A75-44F7-4FCC95B12EFF}"/>
              </a:ext>
            </a:extLst>
          </p:cNvPr>
          <p:cNvSpPr txBox="1"/>
          <p:nvPr/>
        </p:nvSpPr>
        <p:spPr>
          <a:xfrm>
            <a:off x="3767172" y="3290060"/>
            <a:ext cx="14200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Hashing algorithm</a:t>
            </a:r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637A5816-08BD-1C14-DF30-52C557AAF55E}"/>
              </a:ext>
            </a:extLst>
          </p:cNvPr>
          <p:cNvCxnSpPr>
            <a:cxnSpLocks/>
          </p:cNvCxnSpPr>
          <p:nvPr/>
        </p:nvCxnSpPr>
        <p:spPr>
          <a:xfrm>
            <a:off x="3890031" y="3536279"/>
            <a:ext cx="12616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9" name="CuadroTexto 1038">
            <a:extLst>
              <a:ext uri="{FF2B5EF4-FFF2-40B4-BE49-F238E27FC236}">
                <a16:creationId xmlns:a16="http://schemas.microsoft.com/office/drawing/2014/main" id="{C909B4C3-DB09-2160-3E68-DFA47E48305B}"/>
              </a:ext>
            </a:extLst>
          </p:cNvPr>
          <p:cNvSpPr txBox="1"/>
          <p:nvPr/>
        </p:nvSpPr>
        <p:spPr>
          <a:xfrm>
            <a:off x="1851334" y="4007179"/>
            <a:ext cx="137906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Iterative process for each atom</a:t>
            </a:r>
          </a:p>
        </p:txBody>
      </p:sp>
      <p:sp>
        <p:nvSpPr>
          <p:cNvPr id="1051" name="CuadroTexto 1050">
            <a:extLst>
              <a:ext uri="{FF2B5EF4-FFF2-40B4-BE49-F238E27FC236}">
                <a16:creationId xmlns:a16="http://schemas.microsoft.com/office/drawing/2014/main" id="{422AB256-2016-3AD6-E9F5-7784C184CDEB}"/>
              </a:ext>
            </a:extLst>
          </p:cNvPr>
          <p:cNvSpPr txBox="1"/>
          <p:nvPr/>
        </p:nvSpPr>
        <p:spPr>
          <a:xfrm>
            <a:off x="6542871" y="4111178"/>
            <a:ext cx="3319564" cy="261610"/>
          </a:xfrm>
          <a:prstGeom prst="rect">
            <a:avLst/>
          </a:prstGeom>
          <a:solidFill>
            <a:srgbClr val="9A9A9A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ECFP6 = […, 0, </a:t>
            </a:r>
            <a:r>
              <a:rPr lang="en-US" sz="1100" b="1" noProof="1">
                <a:solidFill>
                  <a:srgbClr val="FF66B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FF9A2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8CC25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00BB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...]</a:t>
            </a:r>
          </a:p>
        </p:txBody>
      </p:sp>
      <p:sp>
        <p:nvSpPr>
          <p:cNvPr id="1052" name="CuadroTexto 1051">
            <a:extLst>
              <a:ext uri="{FF2B5EF4-FFF2-40B4-BE49-F238E27FC236}">
                <a16:creationId xmlns:a16="http://schemas.microsoft.com/office/drawing/2014/main" id="{08BAA5DD-8691-780C-4BEB-2858763872D6}"/>
              </a:ext>
            </a:extLst>
          </p:cNvPr>
          <p:cNvSpPr txBox="1"/>
          <p:nvPr/>
        </p:nvSpPr>
        <p:spPr>
          <a:xfrm>
            <a:off x="10517978" y="2838853"/>
            <a:ext cx="193641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Fixed length (2048)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Interpretable 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Sparse (Mostly 0s)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Discrete (Integers only)</a:t>
            </a:r>
          </a:p>
        </p:txBody>
      </p:sp>
      <p:sp>
        <p:nvSpPr>
          <p:cNvPr id="1054" name="CuadroTexto 1053">
            <a:extLst>
              <a:ext uri="{FF2B5EF4-FFF2-40B4-BE49-F238E27FC236}">
                <a16:creationId xmlns:a16="http://schemas.microsoft.com/office/drawing/2014/main" id="{0C7B6728-3D0B-3871-3716-D024D038983F}"/>
              </a:ext>
            </a:extLst>
          </p:cNvPr>
          <p:cNvSpPr txBox="1"/>
          <p:nvPr/>
        </p:nvSpPr>
        <p:spPr>
          <a:xfrm>
            <a:off x="5086351" y="3804850"/>
            <a:ext cx="318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…</a:t>
            </a:r>
          </a:p>
        </p:txBody>
      </p:sp>
      <p:sp>
        <p:nvSpPr>
          <p:cNvPr id="1055" name="CuadroTexto 1054">
            <a:extLst>
              <a:ext uri="{FF2B5EF4-FFF2-40B4-BE49-F238E27FC236}">
                <a16:creationId xmlns:a16="http://schemas.microsoft.com/office/drawing/2014/main" id="{F020B35C-4ED7-4D4A-2245-9DE7728CCCD7}"/>
              </a:ext>
            </a:extLst>
          </p:cNvPr>
          <p:cNvSpPr txBox="1"/>
          <p:nvPr/>
        </p:nvSpPr>
        <p:spPr>
          <a:xfrm>
            <a:off x="10722401" y="3804850"/>
            <a:ext cx="318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…</a:t>
            </a:r>
          </a:p>
        </p:txBody>
      </p:sp>
      <p:sp>
        <p:nvSpPr>
          <p:cNvPr id="1057" name="CuadroTexto 1056">
            <a:extLst>
              <a:ext uri="{FF2B5EF4-FFF2-40B4-BE49-F238E27FC236}">
                <a16:creationId xmlns:a16="http://schemas.microsoft.com/office/drawing/2014/main" id="{74DC6ABE-02ED-E9C0-7DEA-7056450D0938}"/>
              </a:ext>
            </a:extLst>
          </p:cNvPr>
          <p:cNvSpPr txBox="1"/>
          <p:nvPr/>
        </p:nvSpPr>
        <p:spPr>
          <a:xfrm>
            <a:off x="4151561" y="4601513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SMILES → Neural Embedding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6F03835C-1AE9-A30F-2565-A76FABE9F554}"/>
              </a:ext>
            </a:extLst>
          </p:cNvPr>
          <p:cNvGrpSpPr/>
          <p:nvPr/>
        </p:nvGrpSpPr>
        <p:grpSpPr>
          <a:xfrm>
            <a:off x="519794" y="5130923"/>
            <a:ext cx="1665429" cy="1225578"/>
            <a:chOff x="392333" y="5187995"/>
            <a:chExt cx="1665429" cy="1225578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7133E526-6554-A0B4-9013-1420CE0C4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2353" y="5238273"/>
              <a:ext cx="1565388" cy="1125022"/>
            </a:xfrm>
            <a:prstGeom prst="rect">
              <a:avLst/>
            </a:prstGeom>
          </p:spPr>
        </p:pic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666C8195-F7A6-7FB8-0417-ED469BE7C332}"/>
                </a:ext>
              </a:extLst>
            </p:cNvPr>
            <p:cNvSpPr/>
            <p:nvPr/>
          </p:nvSpPr>
          <p:spPr>
            <a:xfrm>
              <a:off x="392333" y="5187995"/>
              <a:ext cx="1665429" cy="122557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6" name="CuadroTexto 5">
            <a:extLst>
              <a:ext uri="{FF2B5EF4-FFF2-40B4-BE49-F238E27FC236}">
                <a16:creationId xmlns:a16="http://schemas.microsoft.com/office/drawing/2014/main" id="{A3593480-D2E9-9E32-3655-C4B92FBC82D1}"/>
              </a:ext>
            </a:extLst>
          </p:cNvPr>
          <p:cNvSpPr txBox="1"/>
          <p:nvPr/>
        </p:nvSpPr>
        <p:spPr>
          <a:xfrm>
            <a:off x="721681" y="6319000"/>
            <a:ext cx="12616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 chemical db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86F06E1-519C-2534-70F3-A9A0C4D8C9E7}"/>
              </a:ext>
            </a:extLst>
          </p:cNvPr>
          <p:cNvSpPr txBox="1"/>
          <p:nvPr/>
        </p:nvSpPr>
        <p:spPr>
          <a:xfrm>
            <a:off x="2221535" y="5402013"/>
            <a:ext cx="1261654" cy="5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learning</a:t>
            </a:r>
          </a:p>
        </p:txBody>
      </p: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D996592F-04BF-1057-63AD-12576F18153D}"/>
              </a:ext>
            </a:extLst>
          </p:cNvPr>
          <p:cNvCxnSpPr>
            <a:cxnSpLocks/>
          </p:cNvCxnSpPr>
          <p:nvPr/>
        </p:nvCxnSpPr>
        <p:spPr>
          <a:xfrm>
            <a:off x="2260001" y="5730981"/>
            <a:ext cx="12616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69" name="Grupo 1068">
            <a:extLst>
              <a:ext uri="{FF2B5EF4-FFF2-40B4-BE49-F238E27FC236}">
                <a16:creationId xmlns:a16="http://schemas.microsoft.com/office/drawing/2014/main" id="{2D803080-2D22-61C3-6B40-4FB518EBAE14}"/>
              </a:ext>
            </a:extLst>
          </p:cNvPr>
          <p:cNvGrpSpPr/>
          <p:nvPr/>
        </p:nvGrpSpPr>
        <p:grpSpPr>
          <a:xfrm flipH="1">
            <a:off x="4725731" y="5737387"/>
            <a:ext cx="1944183" cy="1391162"/>
            <a:chOff x="6105440" y="5672578"/>
            <a:chExt cx="1944183" cy="1391162"/>
          </a:xfrm>
        </p:grpSpPr>
        <p:cxnSp>
          <p:nvCxnSpPr>
            <p:cNvPr id="1033" name="Conector recto de flecha 1032">
              <a:extLst>
                <a:ext uri="{FF2B5EF4-FFF2-40B4-BE49-F238E27FC236}">
                  <a16:creationId xmlns:a16="http://schemas.microsoft.com/office/drawing/2014/main" id="{280527BD-4A85-6C64-DA4E-49C5BB265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5440" y="5672578"/>
              <a:ext cx="194418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38" name="Arco 1037">
              <a:extLst>
                <a:ext uri="{FF2B5EF4-FFF2-40B4-BE49-F238E27FC236}">
                  <a16:creationId xmlns:a16="http://schemas.microsoft.com/office/drawing/2014/main" id="{CD130AED-A103-0004-10B3-14072A2C77E3}"/>
                </a:ext>
              </a:extLst>
            </p:cNvPr>
            <p:cNvSpPr/>
            <p:nvPr/>
          </p:nvSpPr>
          <p:spPr>
            <a:xfrm>
              <a:off x="6162672" y="5672578"/>
              <a:ext cx="1504774" cy="1391162"/>
            </a:xfrm>
            <a:prstGeom prst="arc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41" name="CuadroTexto 1040">
            <a:extLst>
              <a:ext uri="{FF2B5EF4-FFF2-40B4-BE49-F238E27FC236}">
                <a16:creationId xmlns:a16="http://schemas.microsoft.com/office/drawing/2014/main" id="{62B676EA-0B9E-FD55-BD2B-EF0FE755F8A9}"/>
              </a:ext>
            </a:extLst>
          </p:cNvPr>
          <p:cNvSpPr txBox="1"/>
          <p:nvPr/>
        </p:nvSpPr>
        <p:spPr>
          <a:xfrm>
            <a:off x="4470784" y="6366356"/>
            <a:ext cx="13299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1">
                <a:solidFill>
                  <a:srgbClr val="78206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Ibuprofen</a:t>
            </a:r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SMILES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9" name="CuadroTexto 1058">
                <a:extLst>
                  <a:ext uri="{FF2B5EF4-FFF2-40B4-BE49-F238E27FC236}">
                    <a16:creationId xmlns:a16="http://schemas.microsoft.com/office/drawing/2014/main" id="{058A701C-8BB5-4B70-1972-43EBBFB96102}"/>
                  </a:ext>
                </a:extLst>
              </p:cNvPr>
              <p:cNvSpPr txBox="1"/>
              <p:nvPr/>
            </p:nvSpPr>
            <p:spPr>
              <a:xfrm>
                <a:off x="4961465" y="5374719"/>
                <a:ext cx="16175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i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059" name="CuadroTexto 1058">
                <a:extLst>
                  <a:ext uri="{FF2B5EF4-FFF2-40B4-BE49-F238E27FC236}">
                    <a16:creationId xmlns:a16="http://schemas.microsoft.com/office/drawing/2014/main" id="{058A701C-8BB5-4B70-1972-43EBBFB96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465" y="5374719"/>
                <a:ext cx="1617552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0" name="Grupo 1069">
            <a:extLst>
              <a:ext uri="{FF2B5EF4-FFF2-40B4-BE49-F238E27FC236}">
                <a16:creationId xmlns:a16="http://schemas.microsoft.com/office/drawing/2014/main" id="{3460D1AC-6972-B8AC-7AE7-A01AC6555CAF}"/>
              </a:ext>
            </a:extLst>
          </p:cNvPr>
          <p:cNvGrpSpPr/>
          <p:nvPr/>
        </p:nvGrpSpPr>
        <p:grpSpPr>
          <a:xfrm>
            <a:off x="4698415" y="5884213"/>
            <a:ext cx="2524936" cy="429640"/>
            <a:chOff x="6429333" y="5916389"/>
            <a:chExt cx="2524936" cy="429640"/>
          </a:xfrm>
        </p:grpSpPr>
        <p:sp>
          <p:nvSpPr>
            <p:cNvPr id="1044" name="CuadroTexto 1043">
              <a:extLst>
                <a:ext uri="{FF2B5EF4-FFF2-40B4-BE49-F238E27FC236}">
                  <a16:creationId xmlns:a16="http://schemas.microsoft.com/office/drawing/2014/main" id="{17FEF3F5-9E50-6314-9181-F38C0A73F42B}"/>
                </a:ext>
              </a:extLst>
            </p:cNvPr>
            <p:cNvSpPr txBox="1"/>
            <p:nvPr/>
          </p:nvSpPr>
          <p:spPr>
            <a:xfrm>
              <a:off x="7103049" y="5916389"/>
              <a:ext cx="12616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1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r>
                <a:rPr lang="en-GB" dirty="0"/>
                <a:t>Feature extraction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4" name="CuadroTexto 1063">
                  <a:extLst>
                    <a:ext uri="{FF2B5EF4-FFF2-40B4-BE49-F238E27FC236}">
                      <a16:creationId xmlns:a16="http://schemas.microsoft.com/office/drawing/2014/main" id="{F319FD34-1111-1226-576B-2296FD938214}"/>
                    </a:ext>
                  </a:extLst>
                </p:cNvPr>
                <p:cNvSpPr txBox="1"/>
                <p:nvPr/>
              </p:nvSpPr>
              <p:spPr>
                <a:xfrm>
                  <a:off x="6429333" y="6084419"/>
                  <a:ext cx="2524936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S" sz="105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s-ES" sz="105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sz="105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GB" sz="1050" i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sz="105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GB" sz="1050" i="0">
                            <a:latin typeface="Cambria Math" panose="02040503050406030204" pitchFamily="18" charset="0"/>
                          </a:rPr>
                          <m:t>, … , </m:t>
                        </m:r>
                        <m:r>
                          <a:rPr lang="en-GB" sz="105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sz="1050" dirty="0"/>
                </a:p>
              </p:txBody>
            </p:sp>
          </mc:Choice>
          <mc:Fallback xmlns="">
            <p:sp>
              <p:nvSpPr>
                <p:cNvPr id="1064" name="CuadroTexto 1063">
                  <a:extLst>
                    <a:ext uri="{FF2B5EF4-FFF2-40B4-BE49-F238E27FC236}">
                      <a16:creationId xmlns:a16="http://schemas.microsoft.com/office/drawing/2014/main" id="{F319FD34-1111-1226-576B-2296FD938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9333" y="6084419"/>
                  <a:ext cx="2524936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65" name="CuadroTexto 1064">
                <a:extLst>
                  <a:ext uri="{FF2B5EF4-FFF2-40B4-BE49-F238E27FC236}">
                    <a16:creationId xmlns:a16="http://schemas.microsoft.com/office/drawing/2014/main" id="{EA134F5B-32EC-4276-E7FC-5E4929ECC5F7}"/>
                  </a:ext>
                </a:extLst>
              </p:cNvPr>
              <p:cNvSpPr txBox="1"/>
              <p:nvPr/>
            </p:nvSpPr>
            <p:spPr>
              <a:xfrm>
                <a:off x="6331242" y="5568848"/>
                <a:ext cx="30575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=[1.12, 0.33, −1.34, …,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65" name="CuadroTexto 1064">
                <a:extLst>
                  <a:ext uri="{FF2B5EF4-FFF2-40B4-BE49-F238E27FC236}">
                    <a16:creationId xmlns:a16="http://schemas.microsoft.com/office/drawing/2014/main" id="{EA134F5B-32EC-4276-E7FC-5E4929ECC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242" y="5568848"/>
                <a:ext cx="3057525" cy="307777"/>
              </a:xfrm>
              <a:prstGeom prst="rect">
                <a:avLst/>
              </a:prstGeom>
              <a:blipFill>
                <a:blip r:embed="rId1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6E8BE35-1D53-D7D6-FC94-87A873EFB8CB}"/>
                  </a:ext>
                </a:extLst>
              </p:cNvPr>
              <p:cNvSpPr txBox="1"/>
              <p:nvPr/>
            </p:nvSpPr>
            <p:spPr>
              <a:xfrm>
                <a:off x="9647944" y="6386836"/>
                <a:ext cx="214143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1100" b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defRPr>
                </a:lvl1pPr>
              </a:lstStyle>
              <a:p>
                <a:r>
                  <a:rPr lang="en-US" noProof="1"/>
                  <a:t>Learned molecular embedding space (</a:t>
                </a:r>
                <a14:m>
                  <m:oMath xmlns:m="http://schemas.openxmlformats.org/officeDocument/2006/math">
                    <m:r>
                      <a:rPr lang="es-ES" b="1" i="1" noProof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noProof="1"/>
                  <a:t>-dimensional)</a:t>
                </a: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6E8BE35-1D53-D7D6-FC94-87A873EFB8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7944" y="6386836"/>
                <a:ext cx="2141439" cy="430887"/>
              </a:xfrm>
              <a:prstGeom prst="rect">
                <a:avLst/>
              </a:prstGeom>
              <a:blipFill>
                <a:blip r:embed="rId13"/>
                <a:stretch>
                  <a:fillRect t="-1429" b="-10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8" name="Grupo 1077">
            <a:extLst>
              <a:ext uri="{FF2B5EF4-FFF2-40B4-BE49-F238E27FC236}">
                <a16:creationId xmlns:a16="http://schemas.microsoft.com/office/drawing/2014/main" id="{F864B66A-D158-9D1C-4A01-A66CB32440EF}"/>
              </a:ext>
            </a:extLst>
          </p:cNvPr>
          <p:cNvGrpSpPr/>
          <p:nvPr/>
        </p:nvGrpSpPr>
        <p:grpSpPr>
          <a:xfrm>
            <a:off x="9885890" y="5110978"/>
            <a:ext cx="1523852" cy="1247749"/>
            <a:chOff x="9896949" y="5021422"/>
            <a:chExt cx="1523852" cy="1247749"/>
          </a:xfrm>
        </p:grpSpPr>
        <p:sp>
          <p:nvSpPr>
            <p:cNvPr id="60" name="Rectángulo: esquinas redondeadas 59">
              <a:extLst>
                <a:ext uri="{FF2B5EF4-FFF2-40B4-BE49-F238E27FC236}">
                  <a16:creationId xmlns:a16="http://schemas.microsoft.com/office/drawing/2014/main" id="{534EB05A-F451-63E2-1D4C-F0A1BEC37A4E}"/>
                </a:ext>
              </a:extLst>
            </p:cNvPr>
            <p:cNvSpPr/>
            <p:nvPr/>
          </p:nvSpPr>
          <p:spPr>
            <a:xfrm>
              <a:off x="10098896" y="5061989"/>
              <a:ext cx="1261654" cy="1201693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3C5FCA5-3EB2-DE35-4A48-C2A335EFEE1A}"/>
                </a:ext>
              </a:extLst>
            </p:cNvPr>
            <p:cNvCxnSpPr/>
            <p:nvPr/>
          </p:nvCxnSpPr>
          <p:spPr>
            <a:xfrm>
              <a:off x="10659984" y="5199960"/>
              <a:ext cx="0" cy="60007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245A6979-7A6E-E67C-EE16-F698EEE81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87608" y="5800807"/>
              <a:ext cx="276074" cy="29450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B31CB71B-A635-3F28-6E75-E5F79A6925C8}"/>
                </a:ext>
              </a:extLst>
            </p:cNvPr>
            <p:cNvCxnSpPr>
              <a:cxnSpLocks/>
            </p:cNvCxnSpPr>
            <p:nvPr/>
          </p:nvCxnSpPr>
          <p:spPr>
            <a:xfrm>
              <a:off x="10663682" y="5800035"/>
              <a:ext cx="545534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49C5B09-32F9-6E03-D448-4352EEC0460C}"/>
                </a:ext>
              </a:extLst>
            </p:cNvPr>
            <p:cNvCxnSpPr>
              <a:cxnSpLocks/>
            </p:cNvCxnSpPr>
            <p:nvPr/>
          </p:nvCxnSpPr>
          <p:spPr>
            <a:xfrm>
              <a:off x="10252878" y="5800035"/>
              <a:ext cx="545534" cy="0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6D59460C-3393-4D6C-2F6C-3C66C7DF0468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984" y="5671053"/>
              <a:ext cx="1317" cy="398063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CF2DD38A-A57C-D645-0680-5C90A42506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3010" y="5580182"/>
              <a:ext cx="276074" cy="294503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77DC9C2-00C1-45B0-452C-F1B342A8F0E9}"/>
                </a:ext>
              </a:extLst>
            </p:cNvPr>
            <p:cNvSpPr/>
            <p:nvPr/>
          </p:nvSpPr>
          <p:spPr>
            <a:xfrm>
              <a:off x="10400821" y="5822116"/>
              <a:ext cx="76013" cy="77817"/>
            </a:xfrm>
            <a:prstGeom prst="ellipse">
              <a:avLst/>
            </a:prstGeom>
            <a:solidFill>
              <a:srgbClr val="FF9A25"/>
            </a:solidFill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BC38FBB1-45A1-DDB6-FEC0-50C2EC82D519}"/>
                </a:ext>
              </a:extLst>
            </p:cNvPr>
            <p:cNvSpPr/>
            <p:nvPr/>
          </p:nvSpPr>
          <p:spPr>
            <a:xfrm>
              <a:off x="10595217" y="5329354"/>
              <a:ext cx="76014" cy="73003"/>
            </a:xfrm>
            <a:prstGeom prst="ellipse">
              <a:avLst/>
            </a:prstGeom>
            <a:solidFill>
              <a:srgbClr val="FFEA4E"/>
            </a:solidFill>
            <a:ln w="6350">
              <a:solidFill>
                <a:srgbClr val="CCC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4" name="Elipse 53">
              <a:extLst>
                <a:ext uri="{FF2B5EF4-FFF2-40B4-BE49-F238E27FC236}">
                  <a16:creationId xmlns:a16="http://schemas.microsoft.com/office/drawing/2014/main" id="{A26FFCD0-314B-C18A-3EAD-B117FEE82D3F}"/>
                </a:ext>
              </a:extLst>
            </p:cNvPr>
            <p:cNvSpPr/>
            <p:nvPr/>
          </p:nvSpPr>
          <p:spPr>
            <a:xfrm>
              <a:off x="10540915" y="5930665"/>
              <a:ext cx="73376" cy="73002"/>
            </a:xfrm>
            <a:prstGeom prst="ellipse">
              <a:avLst/>
            </a:prstGeom>
            <a:solidFill>
              <a:srgbClr val="8CC253"/>
            </a:solidFill>
            <a:ln w="6350">
              <a:solidFill>
                <a:srgbClr val="3B7D2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5" name="Elipse 54">
              <a:extLst>
                <a:ext uri="{FF2B5EF4-FFF2-40B4-BE49-F238E27FC236}">
                  <a16:creationId xmlns:a16="http://schemas.microsoft.com/office/drawing/2014/main" id="{BAA8330C-AE21-C3E6-CC40-D763D79721F8}"/>
                </a:ext>
              </a:extLst>
            </p:cNvPr>
            <p:cNvSpPr/>
            <p:nvPr/>
          </p:nvSpPr>
          <p:spPr>
            <a:xfrm>
              <a:off x="10985725" y="5622403"/>
              <a:ext cx="76015" cy="73004"/>
            </a:xfrm>
            <a:prstGeom prst="ellipse">
              <a:avLst/>
            </a:prstGeom>
            <a:solidFill>
              <a:srgbClr val="00BBD3"/>
            </a:solidFill>
            <a:ln w="6350">
              <a:solidFill>
                <a:srgbClr val="0B76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DE36A8B2-A17C-671A-1D6E-A57C188052E2}"/>
                </a:ext>
              </a:extLst>
            </p:cNvPr>
            <p:cNvSpPr txBox="1"/>
            <p:nvPr/>
          </p:nvSpPr>
          <p:spPr>
            <a:xfrm>
              <a:off x="11003814" y="5770056"/>
              <a:ext cx="41698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700"/>
              </a:lvl1pPr>
            </a:lstStyle>
            <a:p>
              <a:r>
                <a:rPr lang="en-US" noProof="1"/>
                <a:t>Dim 1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6C713316-87F6-812A-BB8C-447D028AA1F6}"/>
                </a:ext>
              </a:extLst>
            </p:cNvPr>
            <p:cNvSpPr txBox="1"/>
            <p:nvPr/>
          </p:nvSpPr>
          <p:spPr>
            <a:xfrm>
              <a:off x="10479783" y="5021422"/>
              <a:ext cx="45666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noProof="1"/>
                <a:t>Dim 2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761E8BFA-933E-FDF5-4D3F-DE3C722CD609}"/>
                </a:ext>
              </a:extLst>
            </p:cNvPr>
            <p:cNvSpPr txBox="1"/>
            <p:nvPr/>
          </p:nvSpPr>
          <p:spPr>
            <a:xfrm>
              <a:off x="10191782" y="6069116"/>
              <a:ext cx="41336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700"/>
              </a:lvl1pPr>
            </a:lstStyle>
            <a:p>
              <a:r>
                <a:rPr lang="en-US" noProof="1"/>
                <a:t>Dim 3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8" name="CuadroTexto 1067">
                  <a:extLst>
                    <a:ext uri="{FF2B5EF4-FFF2-40B4-BE49-F238E27FC236}">
                      <a16:creationId xmlns:a16="http://schemas.microsoft.com/office/drawing/2014/main" id="{B9C10625-41F6-2217-7AF5-F1301949B2BE}"/>
                    </a:ext>
                  </a:extLst>
                </p:cNvPr>
                <p:cNvSpPr txBox="1"/>
                <p:nvPr/>
              </p:nvSpPr>
              <p:spPr>
                <a:xfrm>
                  <a:off x="9896949" y="5061989"/>
                  <a:ext cx="883222" cy="3742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68" name="CuadroTexto 1067">
                  <a:extLst>
                    <a:ext uri="{FF2B5EF4-FFF2-40B4-BE49-F238E27FC236}">
                      <a16:creationId xmlns:a16="http://schemas.microsoft.com/office/drawing/2014/main" id="{B9C10625-41F6-2217-7AF5-F1301949B2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96949" y="5061989"/>
                  <a:ext cx="883222" cy="37427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1" name="CuadroTexto 1070">
                <a:extLst>
                  <a:ext uri="{FF2B5EF4-FFF2-40B4-BE49-F238E27FC236}">
                    <a16:creationId xmlns:a16="http://schemas.microsoft.com/office/drawing/2014/main" id="{7AA5FE89-C135-743C-F5FD-DDE00641107F}"/>
                  </a:ext>
                </a:extLst>
              </p:cNvPr>
              <p:cNvSpPr txBox="1"/>
              <p:nvPr/>
            </p:nvSpPr>
            <p:spPr>
              <a:xfrm>
                <a:off x="3452849" y="5427373"/>
                <a:ext cx="126165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Embedder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sz="1400" b="1" noProof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71" name="CuadroTexto 1070">
                <a:extLst>
                  <a:ext uri="{FF2B5EF4-FFF2-40B4-BE49-F238E27FC236}">
                    <a16:creationId xmlns:a16="http://schemas.microsoft.com/office/drawing/2014/main" id="{7AA5FE89-C135-743C-F5FD-DDE006411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2849" y="5427373"/>
                <a:ext cx="1261654" cy="523220"/>
              </a:xfrm>
              <a:prstGeom prst="rect">
                <a:avLst/>
              </a:prstGeom>
              <a:blipFill>
                <a:blip r:embed="rId15"/>
                <a:stretch>
                  <a:fillRect t="-1163" b="-34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3" name="CuadroTexto 1072">
                <a:extLst>
                  <a:ext uri="{FF2B5EF4-FFF2-40B4-BE49-F238E27FC236}">
                    <a16:creationId xmlns:a16="http://schemas.microsoft.com/office/drawing/2014/main" id="{897A4D00-6302-83EF-B51F-2FC39C43F804}"/>
                  </a:ext>
                </a:extLst>
              </p:cNvPr>
              <p:cNvSpPr txBox="1"/>
              <p:nvPr/>
            </p:nvSpPr>
            <p:spPr>
              <a:xfrm>
                <a:off x="7391927" y="5927450"/>
                <a:ext cx="133991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Fixed length (</a:t>
                </a:r>
                <a14:m>
                  <m:oMath xmlns:m="http://schemas.openxmlformats.org/officeDocument/2006/math">
                    <m:r>
                      <a:rPr lang="es-ES" sz="11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Obscure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Dense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Continuous</a:t>
                </a:r>
              </a:p>
            </p:txBody>
          </p:sp>
        </mc:Choice>
        <mc:Fallback xmlns="">
          <p:sp>
            <p:nvSpPr>
              <p:cNvPr id="1073" name="CuadroTexto 1072">
                <a:extLst>
                  <a:ext uri="{FF2B5EF4-FFF2-40B4-BE49-F238E27FC236}">
                    <a16:creationId xmlns:a16="http://schemas.microsoft.com/office/drawing/2014/main" id="{897A4D00-6302-83EF-B51F-2FC39C43F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927" y="5927450"/>
                <a:ext cx="1339913" cy="769441"/>
              </a:xfrm>
              <a:prstGeom prst="rect">
                <a:avLst/>
              </a:prstGeom>
              <a:blipFill>
                <a:blip r:embed="rId16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5" name="CuadroTexto 1074">
                <a:extLst>
                  <a:ext uri="{FF2B5EF4-FFF2-40B4-BE49-F238E27FC236}">
                    <a16:creationId xmlns:a16="http://schemas.microsoft.com/office/drawing/2014/main" id="{5882E7B7-6110-BB3E-2988-4EA9DE2A0E5F}"/>
                  </a:ext>
                </a:extLst>
              </p:cNvPr>
              <p:cNvSpPr txBox="1"/>
              <p:nvPr/>
            </p:nvSpPr>
            <p:spPr>
              <a:xfrm>
                <a:off x="9071626" y="5395786"/>
                <a:ext cx="635962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s-E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ϵ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075" name="CuadroTexto 1074">
                <a:extLst>
                  <a:ext uri="{FF2B5EF4-FFF2-40B4-BE49-F238E27FC236}">
                    <a16:creationId xmlns:a16="http://schemas.microsoft.com/office/drawing/2014/main" id="{5882E7B7-6110-BB3E-2988-4EA9DE2A0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1626" y="5395786"/>
                <a:ext cx="635962" cy="374270"/>
              </a:xfrm>
              <a:prstGeom prst="rect">
                <a:avLst/>
              </a:prstGeom>
              <a:blipFill>
                <a:blip r:embed="rId17"/>
                <a:stretch>
                  <a:fillRect r="-153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76" name="Conector recto de flecha 1075">
            <a:extLst>
              <a:ext uri="{FF2B5EF4-FFF2-40B4-BE49-F238E27FC236}">
                <a16:creationId xmlns:a16="http://schemas.microsoft.com/office/drawing/2014/main" id="{B1301A2F-53FB-B1D4-4902-44CE14A54D87}"/>
              </a:ext>
            </a:extLst>
          </p:cNvPr>
          <p:cNvCxnSpPr>
            <a:cxnSpLocks/>
          </p:cNvCxnSpPr>
          <p:nvPr/>
        </p:nvCxnSpPr>
        <p:spPr>
          <a:xfrm>
            <a:off x="9009519" y="5737387"/>
            <a:ext cx="908988" cy="66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9" name="Elipse 1078">
            <a:extLst>
              <a:ext uri="{FF2B5EF4-FFF2-40B4-BE49-F238E27FC236}">
                <a16:creationId xmlns:a16="http://schemas.microsoft.com/office/drawing/2014/main" id="{9CDD35AF-0284-96B3-3A9E-9F985A4DECB5}"/>
              </a:ext>
            </a:extLst>
          </p:cNvPr>
          <p:cNvSpPr/>
          <p:nvPr/>
        </p:nvSpPr>
        <p:spPr>
          <a:xfrm>
            <a:off x="10784681" y="5983718"/>
            <a:ext cx="76015" cy="73004"/>
          </a:xfrm>
          <a:prstGeom prst="ellipse">
            <a:avLst/>
          </a:prstGeom>
          <a:solidFill>
            <a:srgbClr val="78206E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>
              <a:solidFill>
                <a:srgbClr val="78206E"/>
              </a:solidFill>
            </a:endParaRPr>
          </a:p>
        </p:txBody>
      </p:sp>
      <p:sp>
        <p:nvSpPr>
          <p:cNvPr id="1082" name="CuadroTexto 1081">
            <a:extLst>
              <a:ext uri="{FF2B5EF4-FFF2-40B4-BE49-F238E27FC236}">
                <a16:creationId xmlns:a16="http://schemas.microsoft.com/office/drawing/2014/main" id="{8D918043-6CE0-2B47-30E8-9FDE4F38BE59}"/>
              </a:ext>
            </a:extLst>
          </p:cNvPr>
          <p:cNvSpPr txBox="1"/>
          <p:nvPr/>
        </p:nvSpPr>
        <p:spPr>
          <a:xfrm>
            <a:off x="10747397" y="6004777"/>
            <a:ext cx="6569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noProof="1">
                <a:solidFill>
                  <a:srgbClr val="78206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Ibuprofen</a:t>
            </a:r>
            <a:endParaRPr lang="en-GB" sz="800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1370DFA1-252A-F32B-FB64-E2D0B34626F5}"/>
              </a:ext>
            </a:extLst>
          </p:cNvPr>
          <p:cNvGrpSpPr/>
          <p:nvPr/>
        </p:nvGrpSpPr>
        <p:grpSpPr>
          <a:xfrm>
            <a:off x="5395913" y="2787802"/>
            <a:ext cx="5405280" cy="1275683"/>
            <a:chOff x="5395913" y="2787802"/>
            <a:chExt cx="5405280" cy="1275683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6D7ADA22-65AA-0476-31B9-05EC131460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l="20653" t="17246" r="20193" b="21185"/>
            <a:stretch>
              <a:fillRect/>
            </a:stretch>
          </p:blipFill>
          <p:spPr>
            <a:xfrm>
              <a:off x="5417737" y="2787802"/>
              <a:ext cx="1071242" cy="1008986"/>
            </a:xfrm>
            <a:prstGeom prst="rect">
              <a:avLst/>
            </a:prstGeom>
          </p:spPr>
        </p:pic>
        <p:pic>
          <p:nvPicPr>
            <p:cNvPr id="1049" name="Imagen 1048">
              <a:extLst>
                <a:ext uri="{FF2B5EF4-FFF2-40B4-BE49-F238E27FC236}">
                  <a16:creationId xmlns:a16="http://schemas.microsoft.com/office/drawing/2014/main" id="{30171FFD-6E96-EC4B-C747-A41BBF61F4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 l="12543" t="8311" r="6445" b="10092"/>
            <a:stretch>
              <a:fillRect/>
            </a:stretch>
          </p:blipFill>
          <p:spPr>
            <a:xfrm>
              <a:off x="9426773" y="2886795"/>
              <a:ext cx="1000995" cy="853441"/>
            </a:xfrm>
            <a:prstGeom prst="rect">
              <a:avLst/>
            </a:prstGeom>
          </p:spPr>
        </p:pic>
        <p:pic>
          <p:nvPicPr>
            <p:cNvPr id="1047" name="Imagen 1046">
              <a:extLst>
                <a:ext uri="{FF2B5EF4-FFF2-40B4-BE49-F238E27FC236}">
                  <a16:creationId xmlns:a16="http://schemas.microsoft.com/office/drawing/2014/main" id="{8CEF6736-A743-0551-D7BF-84D678EED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 r="23290" b="18453"/>
            <a:stretch>
              <a:fillRect/>
            </a:stretch>
          </p:blipFill>
          <p:spPr>
            <a:xfrm>
              <a:off x="8398031" y="2877753"/>
              <a:ext cx="979566" cy="897372"/>
            </a:xfrm>
            <a:prstGeom prst="rect">
              <a:avLst/>
            </a:prstGeom>
          </p:spPr>
        </p:pic>
        <p:pic>
          <p:nvPicPr>
            <p:cNvPr id="1045" name="Imagen 1044">
              <a:extLst>
                <a:ext uri="{FF2B5EF4-FFF2-40B4-BE49-F238E27FC236}">
                  <a16:creationId xmlns:a16="http://schemas.microsoft.com/office/drawing/2014/main" id="{EB889269-FF30-2244-8F87-31E5200D8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rcRect l="16765" t="16908" r="15413" b="13125"/>
            <a:stretch>
              <a:fillRect/>
            </a:stretch>
          </p:blipFill>
          <p:spPr>
            <a:xfrm>
              <a:off x="7529826" y="2919882"/>
              <a:ext cx="868205" cy="756079"/>
            </a:xfrm>
            <a:prstGeom prst="rect">
              <a:avLst/>
            </a:prstGeom>
          </p:spPr>
        </p:pic>
        <p:pic>
          <p:nvPicPr>
            <p:cNvPr id="1037" name="Imagen 1036">
              <a:extLst>
                <a:ext uri="{FF2B5EF4-FFF2-40B4-BE49-F238E27FC236}">
                  <a16:creationId xmlns:a16="http://schemas.microsoft.com/office/drawing/2014/main" id="{D7213B68-699B-F83E-49D5-3499F6AF3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14800" y="2852188"/>
              <a:ext cx="963383" cy="834933"/>
            </a:xfrm>
            <a:prstGeom prst="rect">
              <a:avLst/>
            </a:prstGeom>
          </p:spPr>
        </p:pic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E3530447-450B-73E4-A0B3-9E6792B0B693}"/>
                </a:ext>
              </a:extLst>
            </p:cNvPr>
            <p:cNvSpPr/>
            <p:nvPr/>
          </p:nvSpPr>
          <p:spPr>
            <a:xfrm>
              <a:off x="708506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D6A46203-80E3-A713-536F-7F7649F924EE}"/>
                </a:ext>
              </a:extLst>
            </p:cNvPr>
            <p:cNvSpPr/>
            <p:nvPr/>
          </p:nvSpPr>
          <p:spPr>
            <a:xfrm>
              <a:off x="742289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9" name="Rectángulo 1028">
              <a:extLst>
                <a:ext uri="{FF2B5EF4-FFF2-40B4-BE49-F238E27FC236}">
                  <a16:creationId xmlns:a16="http://schemas.microsoft.com/office/drawing/2014/main" id="{EFE7F150-310D-5F3D-26A6-43FAEBCBFD96}"/>
                </a:ext>
              </a:extLst>
            </p:cNvPr>
            <p:cNvSpPr/>
            <p:nvPr/>
          </p:nvSpPr>
          <p:spPr>
            <a:xfrm>
              <a:off x="809855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30" name="Rectángulo 1029">
              <a:extLst>
                <a:ext uri="{FF2B5EF4-FFF2-40B4-BE49-F238E27FC236}">
                  <a16:creationId xmlns:a16="http://schemas.microsoft.com/office/drawing/2014/main" id="{C2B690CC-90DF-899E-A66B-CAE6ACFDE4AA}"/>
                </a:ext>
              </a:extLst>
            </p:cNvPr>
            <p:cNvSpPr/>
            <p:nvPr/>
          </p:nvSpPr>
          <p:spPr>
            <a:xfrm>
              <a:off x="843638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32" name="Rectángulo 1031">
              <a:extLst>
                <a:ext uri="{FF2B5EF4-FFF2-40B4-BE49-F238E27FC236}">
                  <a16:creationId xmlns:a16="http://schemas.microsoft.com/office/drawing/2014/main" id="{1A6470AC-E948-7F3E-0300-2F511AF6A0C2}"/>
                </a:ext>
              </a:extLst>
            </p:cNvPr>
            <p:cNvSpPr/>
            <p:nvPr/>
          </p:nvSpPr>
          <p:spPr>
            <a:xfrm>
              <a:off x="911204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4" name="Rectángulo 1023">
              <a:extLst>
                <a:ext uri="{FF2B5EF4-FFF2-40B4-BE49-F238E27FC236}">
                  <a16:creationId xmlns:a16="http://schemas.microsoft.com/office/drawing/2014/main" id="{59E1345C-7BDA-E379-3647-F1A6B91E89C9}"/>
                </a:ext>
              </a:extLst>
            </p:cNvPr>
            <p:cNvSpPr/>
            <p:nvPr/>
          </p:nvSpPr>
          <p:spPr>
            <a:xfrm>
              <a:off x="944987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7" name="Rectángulo 1026">
              <a:extLst>
                <a:ext uri="{FF2B5EF4-FFF2-40B4-BE49-F238E27FC236}">
                  <a16:creationId xmlns:a16="http://schemas.microsoft.com/office/drawing/2014/main" id="{6FD4FD63-4104-EC83-694B-A8688C02603D}"/>
                </a:ext>
              </a:extLst>
            </p:cNvPr>
            <p:cNvSpPr/>
            <p:nvPr/>
          </p:nvSpPr>
          <p:spPr>
            <a:xfrm>
              <a:off x="1012553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8" name="Rectángulo 1027">
              <a:extLst>
                <a:ext uri="{FF2B5EF4-FFF2-40B4-BE49-F238E27FC236}">
                  <a16:creationId xmlns:a16="http://schemas.microsoft.com/office/drawing/2014/main" id="{882496BE-3D6B-9FCE-FC35-5D90FED32610}"/>
                </a:ext>
              </a:extLst>
            </p:cNvPr>
            <p:cNvSpPr/>
            <p:nvPr/>
          </p:nvSpPr>
          <p:spPr>
            <a:xfrm>
              <a:off x="1046336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69ACFBF6-58C3-D303-855A-6EA257996C77}"/>
                </a:ext>
              </a:extLst>
            </p:cNvPr>
            <p:cNvSpPr/>
            <p:nvPr/>
          </p:nvSpPr>
          <p:spPr>
            <a:xfrm>
              <a:off x="539591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E8DCCE86-445E-1077-ED0A-DA6F3155CC68}"/>
                </a:ext>
              </a:extLst>
            </p:cNvPr>
            <p:cNvSpPr/>
            <p:nvPr/>
          </p:nvSpPr>
          <p:spPr>
            <a:xfrm>
              <a:off x="607157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DEC51D03-9A87-7A1C-3349-74CBF0F31317}"/>
                </a:ext>
              </a:extLst>
            </p:cNvPr>
            <p:cNvSpPr/>
            <p:nvPr/>
          </p:nvSpPr>
          <p:spPr>
            <a:xfrm>
              <a:off x="7760723" y="3757035"/>
              <a:ext cx="337830" cy="306450"/>
            </a:xfrm>
            <a:prstGeom prst="rect">
              <a:avLst/>
            </a:prstGeom>
            <a:solidFill>
              <a:srgbClr val="FFEA4E"/>
            </a:solidFill>
            <a:ln>
              <a:solidFill>
                <a:srgbClr val="CCCC00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1</a:t>
              </a:r>
            </a:p>
          </p:txBody>
        </p:sp>
        <p:sp>
          <p:nvSpPr>
            <p:cNvPr id="1025" name="Rectángulo 1024">
              <a:extLst>
                <a:ext uri="{FF2B5EF4-FFF2-40B4-BE49-F238E27FC236}">
                  <a16:creationId xmlns:a16="http://schemas.microsoft.com/office/drawing/2014/main" id="{C55BF753-165B-1D7D-B6D6-0108AC4D937B}"/>
                </a:ext>
              </a:extLst>
            </p:cNvPr>
            <p:cNvSpPr/>
            <p:nvPr/>
          </p:nvSpPr>
          <p:spPr>
            <a:xfrm>
              <a:off x="9787703" y="3757035"/>
              <a:ext cx="337830" cy="306450"/>
            </a:xfrm>
            <a:prstGeom prst="rect">
              <a:avLst/>
            </a:prstGeom>
            <a:solidFill>
              <a:srgbClr val="00BBD3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0</a:t>
              </a:r>
            </a:p>
          </p:txBody>
        </p:sp>
        <p:sp>
          <p:nvSpPr>
            <p:cNvPr id="1053" name="Rectángulo 1052">
              <a:extLst>
                <a:ext uri="{FF2B5EF4-FFF2-40B4-BE49-F238E27FC236}">
                  <a16:creationId xmlns:a16="http://schemas.microsoft.com/office/drawing/2014/main" id="{E3A926DF-9DA7-BF9B-8BFC-31C903000E8B}"/>
                </a:ext>
              </a:extLst>
            </p:cNvPr>
            <p:cNvSpPr/>
            <p:nvPr/>
          </p:nvSpPr>
          <p:spPr>
            <a:xfrm>
              <a:off x="641115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C666F80B-684C-F638-A8A5-528CB77EC7C7}"/>
                </a:ext>
              </a:extLst>
            </p:cNvPr>
            <p:cNvSpPr/>
            <p:nvPr/>
          </p:nvSpPr>
          <p:spPr>
            <a:xfrm>
              <a:off x="6747233" y="3757035"/>
              <a:ext cx="337830" cy="306450"/>
            </a:xfrm>
            <a:prstGeom prst="rect">
              <a:avLst/>
            </a:prstGeom>
            <a:solidFill>
              <a:srgbClr val="FF9A25"/>
            </a:solidFill>
            <a:ln>
              <a:solidFill>
                <a:schemeClr val="accent2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4</a:t>
              </a:r>
            </a:p>
          </p:txBody>
        </p:sp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08C14244-D2BC-2158-5A7F-C938E83054C7}"/>
                </a:ext>
              </a:extLst>
            </p:cNvPr>
            <p:cNvSpPr/>
            <p:nvPr/>
          </p:nvSpPr>
          <p:spPr>
            <a:xfrm>
              <a:off x="5733743" y="3757035"/>
              <a:ext cx="337830" cy="306450"/>
            </a:xfrm>
            <a:prstGeom prst="rect">
              <a:avLst/>
            </a:prstGeom>
            <a:solidFill>
              <a:srgbClr val="FF66B3"/>
            </a:solidFill>
            <a:ln>
              <a:solidFill>
                <a:schemeClr val="accent5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0</a:t>
              </a:r>
            </a:p>
          </p:txBody>
        </p:sp>
        <p:sp>
          <p:nvSpPr>
            <p:cNvPr id="1031" name="Rectángulo 1030">
              <a:extLst>
                <a:ext uri="{FF2B5EF4-FFF2-40B4-BE49-F238E27FC236}">
                  <a16:creationId xmlns:a16="http://schemas.microsoft.com/office/drawing/2014/main" id="{04677E3B-A939-6146-5F66-E718CBA9026C}"/>
                </a:ext>
              </a:extLst>
            </p:cNvPr>
            <p:cNvSpPr/>
            <p:nvPr/>
          </p:nvSpPr>
          <p:spPr>
            <a:xfrm>
              <a:off x="8774213" y="3757035"/>
              <a:ext cx="337830" cy="306450"/>
            </a:xfrm>
            <a:prstGeom prst="rect">
              <a:avLst/>
            </a:prstGeom>
            <a:solidFill>
              <a:srgbClr val="8CC253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1</a:t>
              </a:r>
            </a:p>
          </p:txBody>
        </p:sp>
      </p:grpSp>
      <p:sp>
        <p:nvSpPr>
          <p:cNvPr id="2" name="Text Box 1">
            <a:extLst>
              <a:ext uri="{FF2B5EF4-FFF2-40B4-BE49-F238E27FC236}">
                <a16:creationId xmlns:a16="http://schemas.microsoft.com/office/drawing/2014/main" id="{AB779B5B-CEF6-1AA0-9261-EDCDCCE371B9}"/>
              </a:ext>
            </a:extLst>
          </p:cNvPr>
          <p:cNvSpPr txBox="1"/>
          <p:nvPr/>
        </p:nvSpPr>
        <p:spPr>
          <a:xfrm>
            <a:off x="-50671" y="133585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ln>
                  <a:noFill/>
                </a:ln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Box 1">
            <a:extLst>
              <a:ext uri="{FF2B5EF4-FFF2-40B4-BE49-F238E27FC236}">
                <a16:creationId xmlns:a16="http://schemas.microsoft.com/office/drawing/2014/main" id="{C0376401-464F-A6FC-FAC1-ED020B54C875}"/>
              </a:ext>
            </a:extLst>
          </p:cNvPr>
          <p:cNvSpPr txBox="1"/>
          <p:nvPr/>
        </p:nvSpPr>
        <p:spPr>
          <a:xfrm>
            <a:off x="-41108" y="2274599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Box 1">
            <a:extLst>
              <a:ext uri="{FF2B5EF4-FFF2-40B4-BE49-F238E27FC236}">
                <a16:creationId xmlns:a16="http://schemas.microsoft.com/office/drawing/2014/main" id="{4D1353D1-625C-2244-F83D-787641C8F19B}"/>
              </a:ext>
            </a:extLst>
          </p:cNvPr>
          <p:cNvSpPr txBox="1"/>
          <p:nvPr/>
        </p:nvSpPr>
        <p:spPr>
          <a:xfrm>
            <a:off x="-45573" y="4554832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ln>
                  <a:noFill/>
                </a:ln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4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ángulo 78">
            <a:extLst>
              <a:ext uri="{FF2B5EF4-FFF2-40B4-BE49-F238E27FC236}">
                <a16:creationId xmlns:a16="http://schemas.microsoft.com/office/drawing/2014/main" id="{19EB77B5-4112-0BB5-DB16-CDD05627B468}"/>
              </a:ext>
            </a:extLst>
          </p:cNvPr>
          <p:cNvSpPr/>
          <p:nvPr/>
        </p:nvSpPr>
        <p:spPr>
          <a:xfrm>
            <a:off x="4008357" y="2114524"/>
            <a:ext cx="7393851" cy="255064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33" u="sng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8EEFB8A7-1321-2145-76F9-3A201DB6C12C}"/>
              </a:ext>
            </a:extLst>
          </p:cNvPr>
          <p:cNvSpPr txBox="1"/>
          <p:nvPr/>
        </p:nvSpPr>
        <p:spPr>
          <a:xfrm>
            <a:off x="1096112" y="44873"/>
            <a:ext cx="2801493" cy="5392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452" b="1" dirty="0"/>
              <a:t>Training set </a:t>
            </a:r>
          </a:p>
          <a:p>
            <a:pPr algn="ctr"/>
            <a:r>
              <a:rPr lang="es-ES" sz="1452" dirty="0"/>
              <a:t>(</a:t>
            </a:r>
            <a:r>
              <a:rPr lang="es-ES" sz="1452" i="1" dirty="0"/>
              <a:t>n</a:t>
            </a:r>
            <a:r>
              <a:rPr lang="es-ES" sz="1452" dirty="0"/>
              <a:t> </a:t>
            </a:r>
            <a:r>
              <a:rPr lang="es-ES" sz="1452" dirty="0" err="1"/>
              <a:t>molecules</a:t>
            </a:r>
            <a:r>
              <a:rPr lang="es-ES" sz="1452" dirty="0"/>
              <a:t>, </a:t>
            </a:r>
            <a:r>
              <a:rPr lang="es-ES" sz="1452" i="1" dirty="0"/>
              <a:t>p</a:t>
            </a:r>
            <a:r>
              <a:rPr lang="es-ES" sz="1452" dirty="0"/>
              <a:t> </a:t>
            </a:r>
            <a:r>
              <a:rPr lang="es-ES" sz="1452" dirty="0" err="1"/>
              <a:t>features</a:t>
            </a:r>
            <a:r>
              <a:rPr lang="es-ES" sz="1452" dirty="0"/>
              <a:t>)</a:t>
            </a:r>
          </a:p>
        </p:txBody>
      </p:sp>
      <p:cxnSp>
        <p:nvCxnSpPr>
          <p:cNvPr id="110" name="Conector recto 109">
            <a:extLst>
              <a:ext uri="{FF2B5EF4-FFF2-40B4-BE49-F238E27FC236}">
                <a16:creationId xmlns:a16="http://schemas.microsoft.com/office/drawing/2014/main" id="{0616D13B-D95D-1AAB-1E8D-F9694DAFF520}"/>
              </a:ext>
            </a:extLst>
          </p:cNvPr>
          <p:cNvCxnSpPr>
            <a:cxnSpLocks/>
          </p:cNvCxnSpPr>
          <p:nvPr/>
        </p:nvCxnSpPr>
        <p:spPr>
          <a:xfrm flipH="1">
            <a:off x="9332214" y="3055166"/>
            <a:ext cx="401110" cy="476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Conector recto 110">
            <a:extLst>
              <a:ext uri="{FF2B5EF4-FFF2-40B4-BE49-F238E27FC236}">
                <a16:creationId xmlns:a16="http://schemas.microsoft.com/office/drawing/2014/main" id="{5A962447-A58C-7365-BED9-256F61BC51A7}"/>
              </a:ext>
            </a:extLst>
          </p:cNvPr>
          <p:cNvCxnSpPr>
            <a:cxnSpLocks/>
          </p:cNvCxnSpPr>
          <p:nvPr/>
        </p:nvCxnSpPr>
        <p:spPr>
          <a:xfrm>
            <a:off x="9963562" y="3055166"/>
            <a:ext cx="401110" cy="476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Elipse 111">
            <a:extLst>
              <a:ext uri="{FF2B5EF4-FFF2-40B4-BE49-F238E27FC236}">
                <a16:creationId xmlns:a16="http://schemas.microsoft.com/office/drawing/2014/main" id="{47EFBEA4-8A28-3086-3C6A-2995CEE7ED98}"/>
              </a:ext>
            </a:extLst>
          </p:cNvPr>
          <p:cNvSpPr/>
          <p:nvPr/>
        </p:nvSpPr>
        <p:spPr>
          <a:xfrm>
            <a:off x="9667892" y="2762812"/>
            <a:ext cx="361105" cy="34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998" dirty="0">
              <a:solidFill>
                <a:schemeClr val="tx1"/>
              </a:solidFill>
            </a:endParaRPr>
          </a:p>
        </p:txBody>
      </p: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F68DA517-64FD-DC04-5787-37A221238A63}"/>
              </a:ext>
            </a:extLst>
          </p:cNvPr>
          <p:cNvCxnSpPr>
            <a:cxnSpLocks/>
          </p:cNvCxnSpPr>
          <p:nvPr/>
        </p:nvCxnSpPr>
        <p:spPr>
          <a:xfrm flipH="1">
            <a:off x="10046674" y="3842289"/>
            <a:ext cx="223830" cy="4896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ector recto 113">
            <a:extLst>
              <a:ext uri="{FF2B5EF4-FFF2-40B4-BE49-F238E27FC236}">
                <a16:creationId xmlns:a16="http://schemas.microsoft.com/office/drawing/2014/main" id="{C080B047-EFC5-1564-86DE-5FD6F68C4FCC}"/>
              </a:ext>
            </a:extLst>
          </p:cNvPr>
          <p:cNvCxnSpPr>
            <a:cxnSpLocks/>
          </p:cNvCxnSpPr>
          <p:nvPr/>
        </p:nvCxnSpPr>
        <p:spPr>
          <a:xfrm>
            <a:off x="10507922" y="3835473"/>
            <a:ext cx="260725" cy="496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Conector recto 114">
            <a:extLst>
              <a:ext uri="{FF2B5EF4-FFF2-40B4-BE49-F238E27FC236}">
                <a16:creationId xmlns:a16="http://schemas.microsoft.com/office/drawing/2014/main" id="{D8DC97CA-4AB2-11C3-7767-6B4625DF78E9}"/>
              </a:ext>
            </a:extLst>
          </p:cNvPr>
          <p:cNvCxnSpPr>
            <a:cxnSpLocks/>
          </p:cNvCxnSpPr>
          <p:nvPr/>
        </p:nvCxnSpPr>
        <p:spPr>
          <a:xfrm>
            <a:off x="10402173" y="3863475"/>
            <a:ext cx="0" cy="4820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Conector recto 115">
            <a:extLst>
              <a:ext uri="{FF2B5EF4-FFF2-40B4-BE49-F238E27FC236}">
                <a16:creationId xmlns:a16="http://schemas.microsoft.com/office/drawing/2014/main" id="{6E3B856A-B736-4380-5DA4-327F793DFEFF}"/>
              </a:ext>
            </a:extLst>
          </p:cNvPr>
          <p:cNvCxnSpPr>
            <a:cxnSpLocks/>
            <a:endCxn id="122" idx="0"/>
          </p:cNvCxnSpPr>
          <p:nvPr/>
        </p:nvCxnSpPr>
        <p:spPr>
          <a:xfrm flipH="1">
            <a:off x="8972448" y="3833649"/>
            <a:ext cx="248459" cy="5032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Conector recto 116">
            <a:extLst>
              <a:ext uri="{FF2B5EF4-FFF2-40B4-BE49-F238E27FC236}">
                <a16:creationId xmlns:a16="http://schemas.microsoft.com/office/drawing/2014/main" id="{4734D326-E84F-5D7A-FE66-4639A57DE940}"/>
              </a:ext>
            </a:extLst>
          </p:cNvPr>
          <p:cNvCxnSpPr>
            <a:cxnSpLocks/>
            <a:endCxn id="124" idx="0"/>
          </p:cNvCxnSpPr>
          <p:nvPr/>
        </p:nvCxnSpPr>
        <p:spPr>
          <a:xfrm>
            <a:off x="9458325" y="3826831"/>
            <a:ext cx="227897" cy="506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Conector recto 117">
            <a:extLst>
              <a:ext uri="{FF2B5EF4-FFF2-40B4-BE49-F238E27FC236}">
                <a16:creationId xmlns:a16="http://schemas.microsoft.com/office/drawing/2014/main" id="{057C69D5-59C9-6764-0BE9-996167637E13}"/>
              </a:ext>
            </a:extLst>
          </p:cNvPr>
          <p:cNvCxnSpPr>
            <a:cxnSpLocks/>
          </p:cNvCxnSpPr>
          <p:nvPr/>
        </p:nvCxnSpPr>
        <p:spPr>
          <a:xfrm>
            <a:off x="9330972" y="3854833"/>
            <a:ext cx="0" cy="4820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Elipse 118">
            <a:extLst>
              <a:ext uri="{FF2B5EF4-FFF2-40B4-BE49-F238E27FC236}">
                <a16:creationId xmlns:a16="http://schemas.microsoft.com/office/drawing/2014/main" id="{EFC5C90F-58FB-D2F9-0BDB-F1790EC8AFFC}"/>
              </a:ext>
            </a:extLst>
          </p:cNvPr>
          <p:cNvSpPr/>
          <p:nvPr/>
        </p:nvSpPr>
        <p:spPr>
          <a:xfrm>
            <a:off x="10283545" y="4331918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4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0" name="Elipse 119">
            <a:extLst>
              <a:ext uri="{FF2B5EF4-FFF2-40B4-BE49-F238E27FC236}">
                <a16:creationId xmlns:a16="http://schemas.microsoft.com/office/drawing/2014/main" id="{1473B87A-C76C-8A75-6237-F653DDBA4E4B}"/>
              </a:ext>
            </a:extLst>
          </p:cNvPr>
          <p:cNvSpPr/>
          <p:nvPr/>
        </p:nvSpPr>
        <p:spPr>
          <a:xfrm>
            <a:off x="9923779" y="4324088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2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1" name="Elipse 120">
            <a:extLst>
              <a:ext uri="{FF2B5EF4-FFF2-40B4-BE49-F238E27FC236}">
                <a16:creationId xmlns:a16="http://schemas.microsoft.com/office/drawing/2014/main" id="{0655D880-6E1A-19E6-EBA1-A0ABBEC3AEE3}"/>
              </a:ext>
            </a:extLst>
          </p:cNvPr>
          <p:cNvSpPr/>
          <p:nvPr/>
        </p:nvSpPr>
        <p:spPr>
          <a:xfrm>
            <a:off x="10662899" y="4331918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9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2" name="Elipse 121">
            <a:extLst>
              <a:ext uri="{FF2B5EF4-FFF2-40B4-BE49-F238E27FC236}">
                <a16:creationId xmlns:a16="http://schemas.microsoft.com/office/drawing/2014/main" id="{3AAADD62-3F97-5321-A10C-CCF6703C95E0}"/>
              </a:ext>
            </a:extLst>
          </p:cNvPr>
          <p:cNvSpPr/>
          <p:nvPr/>
        </p:nvSpPr>
        <p:spPr>
          <a:xfrm>
            <a:off x="8842086" y="4336887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3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3" name="Elipse 122">
            <a:extLst>
              <a:ext uri="{FF2B5EF4-FFF2-40B4-BE49-F238E27FC236}">
                <a16:creationId xmlns:a16="http://schemas.microsoft.com/office/drawing/2014/main" id="{5D2CC35D-97EE-C7D3-B5D4-4996928BB395}"/>
              </a:ext>
            </a:extLst>
          </p:cNvPr>
          <p:cNvSpPr/>
          <p:nvPr/>
        </p:nvSpPr>
        <p:spPr>
          <a:xfrm>
            <a:off x="9201852" y="4329219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5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4" name="Elipse 123">
            <a:extLst>
              <a:ext uri="{FF2B5EF4-FFF2-40B4-BE49-F238E27FC236}">
                <a16:creationId xmlns:a16="http://schemas.microsoft.com/office/drawing/2014/main" id="{257E9D1B-8E58-9EFC-5195-A08CF32C3C66}"/>
              </a:ext>
            </a:extLst>
          </p:cNvPr>
          <p:cNvSpPr/>
          <p:nvPr/>
        </p:nvSpPr>
        <p:spPr>
          <a:xfrm>
            <a:off x="9555860" y="4333379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8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6" name="CuadroTexto 125">
            <a:extLst>
              <a:ext uri="{FF2B5EF4-FFF2-40B4-BE49-F238E27FC236}">
                <a16:creationId xmlns:a16="http://schemas.microsoft.com/office/drawing/2014/main" id="{400CB39D-27EE-8F12-56B9-489920E23896}"/>
              </a:ext>
            </a:extLst>
          </p:cNvPr>
          <p:cNvSpPr txBox="1"/>
          <p:nvPr/>
        </p:nvSpPr>
        <p:spPr>
          <a:xfrm>
            <a:off x="10173875" y="3135706"/>
            <a:ext cx="715260" cy="3157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52" dirty="0"/>
              <a:t> </a:t>
            </a:r>
            <a:r>
              <a:rPr lang="es-ES" sz="1452" b="1" dirty="0">
                <a:latin typeface="Cambria Math" panose="02040503050406030204" pitchFamily="18" charset="0"/>
                <a:ea typeface="Cambria Math" panose="02040503050406030204" pitchFamily="18" charset="0"/>
              </a:rPr>
              <a:t>X </a:t>
            </a:r>
            <a:r>
              <a:rPr lang="es-ES" sz="1452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j</a:t>
            </a:r>
            <a:r>
              <a:rPr lang="es-ES" sz="1452" dirty="0"/>
              <a:t>  ≠ 0</a:t>
            </a:r>
            <a:endParaRPr lang="en-GB" sz="1452" dirty="0"/>
          </a:p>
        </p:txBody>
      </p:sp>
      <p:sp>
        <p:nvSpPr>
          <p:cNvPr id="127" name="Elipse 126">
            <a:extLst>
              <a:ext uri="{FF2B5EF4-FFF2-40B4-BE49-F238E27FC236}">
                <a16:creationId xmlns:a16="http://schemas.microsoft.com/office/drawing/2014/main" id="{76BB50FC-CD3E-40BA-EF86-97E202C817F7}"/>
              </a:ext>
            </a:extLst>
          </p:cNvPr>
          <p:cNvSpPr/>
          <p:nvPr/>
        </p:nvSpPr>
        <p:spPr>
          <a:xfrm>
            <a:off x="9151386" y="3525454"/>
            <a:ext cx="361105" cy="34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-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8" name="Elipse 127">
            <a:extLst>
              <a:ext uri="{FF2B5EF4-FFF2-40B4-BE49-F238E27FC236}">
                <a16:creationId xmlns:a16="http://schemas.microsoft.com/office/drawing/2014/main" id="{01E9B84C-3EE6-5E9C-ACBB-60F1F2E587DA}"/>
              </a:ext>
            </a:extLst>
          </p:cNvPr>
          <p:cNvSpPr/>
          <p:nvPr/>
        </p:nvSpPr>
        <p:spPr>
          <a:xfrm>
            <a:off x="10200982" y="3534096"/>
            <a:ext cx="361105" cy="34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+</a:t>
            </a:r>
            <a:endParaRPr lang="en-GB" dirty="0">
              <a:solidFill>
                <a:schemeClr val="tx1"/>
              </a:solidFill>
            </a:endParaRPr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7F70CAFB-BD7F-721E-A3DD-07A0EE7AA38A}"/>
              </a:ext>
            </a:extLst>
          </p:cNvPr>
          <p:cNvGrpSpPr/>
          <p:nvPr/>
        </p:nvGrpSpPr>
        <p:grpSpPr>
          <a:xfrm>
            <a:off x="7243598" y="5096065"/>
            <a:ext cx="1417802" cy="389948"/>
            <a:chOff x="4756118" y="3361956"/>
            <a:chExt cx="1495889" cy="378778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ABAFBACE-0BA7-EEF2-992C-B7942CF10052}"/>
                </a:ext>
              </a:extLst>
            </p:cNvPr>
            <p:cNvSpPr/>
            <p:nvPr/>
          </p:nvSpPr>
          <p:spPr>
            <a:xfrm>
              <a:off x="4756118" y="3361956"/>
              <a:ext cx="398051" cy="375475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98" dirty="0">
                  <a:solidFill>
                    <a:schemeClr val="tx1"/>
                  </a:solidFill>
                </a:rPr>
                <a:t>f</a:t>
              </a:r>
              <a:r>
                <a:rPr lang="es-ES" sz="998" baseline="-25000" dirty="0">
                  <a:solidFill>
                    <a:schemeClr val="tx1"/>
                  </a:solidFill>
                </a:rPr>
                <a:t>2</a:t>
              </a:r>
              <a:endParaRPr lang="en-GB" sz="2177" dirty="0">
                <a:solidFill>
                  <a:schemeClr val="tx1"/>
                </a:solidFill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F2C2B395-B54F-5ABD-0B27-4BE6CF123D1A}"/>
                </a:ext>
              </a:extLst>
            </p:cNvPr>
            <p:cNvSpPr txBox="1"/>
            <p:nvPr/>
          </p:nvSpPr>
          <p:spPr>
            <a:xfrm>
              <a:off x="5143643" y="3361956"/>
              <a:ext cx="1108364" cy="3787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33" dirty="0"/>
                <a:t>= </a:t>
              </a:r>
              <a:r>
                <a:rPr lang="es-ES" sz="1633" b="1" dirty="0">
                  <a:solidFill>
                    <a:srgbClr val="00B0F0"/>
                  </a:solidFill>
                </a:rPr>
                <a:t>1</a:t>
              </a:r>
              <a:endParaRPr lang="en-GB" sz="1633" b="1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E3DB687-66F3-C845-137B-2F4CA0B057B2}"/>
              </a:ext>
            </a:extLst>
          </p:cNvPr>
          <p:cNvGrpSpPr/>
          <p:nvPr/>
        </p:nvGrpSpPr>
        <p:grpSpPr>
          <a:xfrm>
            <a:off x="4968736" y="5091018"/>
            <a:ext cx="1423597" cy="390761"/>
            <a:chOff x="7037833" y="3355813"/>
            <a:chExt cx="1506414" cy="384920"/>
          </a:xfrm>
        </p:grpSpPr>
        <p:sp>
          <p:nvSpPr>
            <p:cNvPr id="31" name="Elipse 30">
              <a:extLst>
                <a:ext uri="{FF2B5EF4-FFF2-40B4-BE49-F238E27FC236}">
                  <a16:creationId xmlns:a16="http://schemas.microsoft.com/office/drawing/2014/main" id="{E5DF29B2-523B-A4AC-9A27-9C0DD7105F7F}"/>
                </a:ext>
              </a:extLst>
            </p:cNvPr>
            <p:cNvSpPr/>
            <p:nvPr/>
          </p:nvSpPr>
          <p:spPr>
            <a:xfrm>
              <a:off x="7037833" y="3355813"/>
              <a:ext cx="398051" cy="375475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53" dirty="0">
                  <a:solidFill>
                    <a:schemeClr val="tx1"/>
                  </a:solidFill>
                </a:rPr>
                <a:t>f</a:t>
              </a:r>
              <a:r>
                <a:rPr lang="es-ES" sz="953" baseline="-250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0447269-C931-0644-8AF1-380F9A89233A}"/>
                </a:ext>
              </a:extLst>
            </p:cNvPr>
            <p:cNvSpPr txBox="1"/>
            <p:nvPr/>
          </p:nvSpPr>
          <p:spPr>
            <a:xfrm>
              <a:off x="7435885" y="3361955"/>
              <a:ext cx="1108362" cy="3787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33" dirty="0"/>
                <a:t>= </a:t>
              </a:r>
              <a:r>
                <a:rPr lang="es-ES" sz="1633" b="1" dirty="0">
                  <a:solidFill>
                    <a:srgbClr val="002060"/>
                  </a:solidFill>
                </a:rPr>
                <a:t>0</a:t>
              </a:r>
              <a:endParaRPr lang="en-GB" sz="1633" b="1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75054C69-53D6-5FB7-A5F6-EBE263A509CA}"/>
              </a:ext>
            </a:extLst>
          </p:cNvPr>
          <p:cNvGrpSpPr/>
          <p:nvPr/>
        </p:nvGrpSpPr>
        <p:grpSpPr>
          <a:xfrm>
            <a:off x="9532769" y="5089212"/>
            <a:ext cx="1429893" cy="389981"/>
            <a:chOff x="9949204" y="3355812"/>
            <a:chExt cx="1506414" cy="378778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4B9CEACB-E3C8-3C30-6F86-685AA4589B54}"/>
                </a:ext>
              </a:extLst>
            </p:cNvPr>
            <p:cNvSpPr/>
            <p:nvPr/>
          </p:nvSpPr>
          <p:spPr>
            <a:xfrm>
              <a:off x="9949204" y="3355812"/>
              <a:ext cx="398051" cy="37547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98" dirty="0">
                  <a:solidFill>
                    <a:schemeClr val="tx1"/>
                  </a:solidFill>
                </a:rPr>
                <a:t>f</a:t>
              </a:r>
              <a:r>
                <a:rPr lang="es-ES" sz="998" baseline="-25000" dirty="0">
                  <a:solidFill>
                    <a:schemeClr val="tx1"/>
                  </a:solidFill>
                </a:rPr>
                <a:t>3</a:t>
              </a:r>
              <a:endParaRPr lang="en-GB" sz="998" dirty="0">
                <a:solidFill>
                  <a:schemeClr val="tx1"/>
                </a:solidFill>
              </a:endParaRP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4131D7CD-C3F4-A422-0466-F8333EE69863}"/>
                </a:ext>
              </a:extLst>
            </p:cNvPr>
            <p:cNvSpPr txBox="1"/>
            <p:nvPr/>
          </p:nvSpPr>
          <p:spPr>
            <a:xfrm>
              <a:off x="10347256" y="3355812"/>
              <a:ext cx="1108362" cy="3787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33" dirty="0"/>
                <a:t>= </a:t>
              </a:r>
              <a:r>
                <a:rPr lang="es-ES" sz="1633" b="1" dirty="0">
                  <a:solidFill>
                    <a:schemeClr val="accent5">
                      <a:lumMod val="75000"/>
                    </a:schemeClr>
                  </a:solidFill>
                </a:rPr>
                <a:t>1</a:t>
              </a:r>
              <a:endParaRPr lang="en-GB" sz="1633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58" name="Cerrar llave 57">
            <a:extLst>
              <a:ext uri="{FF2B5EF4-FFF2-40B4-BE49-F238E27FC236}">
                <a16:creationId xmlns:a16="http://schemas.microsoft.com/office/drawing/2014/main" id="{787016C5-2B27-DC98-E1FB-A1014569D1B5}"/>
              </a:ext>
            </a:extLst>
          </p:cNvPr>
          <p:cNvSpPr/>
          <p:nvPr/>
        </p:nvSpPr>
        <p:spPr>
          <a:xfrm rot="5400000">
            <a:off x="7641358" y="1913012"/>
            <a:ext cx="272242" cy="7249457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33"/>
          </a:p>
        </p:txBody>
      </p:sp>
      <p:sp>
        <p:nvSpPr>
          <p:cNvPr id="68" name="CuadroTexto 67">
            <a:extLst>
              <a:ext uri="{FF2B5EF4-FFF2-40B4-BE49-F238E27FC236}">
                <a16:creationId xmlns:a16="http://schemas.microsoft.com/office/drawing/2014/main" id="{FD02F2F0-988E-21DE-AE74-946E6A06651B}"/>
              </a:ext>
            </a:extLst>
          </p:cNvPr>
          <p:cNvSpPr txBox="1"/>
          <p:nvPr/>
        </p:nvSpPr>
        <p:spPr>
          <a:xfrm>
            <a:off x="10874395" y="3576555"/>
            <a:ext cx="406549" cy="48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540" dirty="0"/>
              <a:t>…</a:t>
            </a:r>
            <a:endParaRPr lang="en-GB" sz="2540" dirty="0"/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C9928C94-6755-2F29-39DA-DE721E2D82AD}"/>
              </a:ext>
            </a:extLst>
          </p:cNvPr>
          <p:cNvGrpSpPr/>
          <p:nvPr/>
        </p:nvGrpSpPr>
        <p:grpSpPr>
          <a:xfrm>
            <a:off x="4620683" y="4914770"/>
            <a:ext cx="6656931" cy="262582"/>
            <a:chOff x="4142767" y="2836005"/>
            <a:chExt cx="7338033" cy="289448"/>
          </a:xfrm>
        </p:grpSpPr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AD4F7318-6FE4-E43F-5268-161808901DCD}"/>
                </a:ext>
              </a:extLst>
            </p:cNvPr>
            <p:cNvCxnSpPr>
              <a:cxnSpLocks/>
            </p:cNvCxnSpPr>
            <p:nvPr/>
          </p:nvCxnSpPr>
          <p:spPr>
            <a:xfrm>
              <a:off x="4142767" y="2840769"/>
              <a:ext cx="552770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Arco 50">
              <a:extLst>
                <a:ext uri="{FF2B5EF4-FFF2-40B4-BE49-F238E27FC236}">
                  <a16:creationId xmlns:a16="http://schemas.microsoft.com/office/drawing/2014/main" id="{A11C712E-1CA2-D219-7848-38C58623D692}"/>
                </a:ext>
              </a:extLst>
            </p:cNvPr>
            <p:cNvSpPr/>
            <p:nvPr/>
          </p:nvSpPr>
          <p:spPr>
            <a:xfrm>
              <a:off x="4513118" y="2836177"/>
              <a:ext cx="212437" cy="277542"/>
            </a:xfrm>
            <a:prstGeom prst="arc">
              <a:avLst>
                <a:gd name="adj1" fmla="val 16200000"/>
                <a:gd name="adj2" fmla="val 1114619"/>
              </a:avLst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1633" dirty="0"/>
            </a:p>
          </p:txBody>
        </p:sp>
        <p:sp>
          <p:nvSpPr>
            <p:cNvPr id="54" name="Arco 53">
              <a:extLst>
                <a:ext uri="{FF2B5EF4-FFF2-40B4-BE49-F238E27FC236}">
                  <a16:creationId xmlns:a16="http://schemas.microsoft.com/office/drawing/2014/main" id="{25F3596D-7DF8-A496-D1B2-1438FF28DBAC}"/>
                </a:ext>
              </a:extLst>
            </p:cNvPr>
            <p:cNvSpPr/>
            <p:nvPr/>
          </p:nvSpPr>
          <p:spPr>
            <a:xfrm>
              <a:off x="7047065" y="2841560"/>
              <a:ext cx="212437" cy="277542"/>
            </a:xfrm>
            <a:prstGeom prst="arc">
              <a:avLst>
                <a:gd name="adj1" fmla="val 16200000"/>
                <a:gd name="adj2" fmla="val 1114619"/>
              </a:avLst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1633"/>
            </a:p>
          </p:txBody>
        </p:sp>
        <p:sp>
          <p:nvSpPr>
            <p:cNvPr id="55" name="Arco 54">
              <a:extLst>
                <a:ext uri="{FF2B5EF4-FFF2-40B4-BE49-F238E27FC236}">
                  <a16:creationId xmlns:a16="http://schemas.microsoft.com/office/drawing/2014/main" id="{5077DDA0-0096-3020-5ADA-403AFB494A17}"/>
                </a:ext>
              </a:extLst>
            </p:cNvPr>
            <p:cNvSpPr/>
            <p:nvPr/>
          </p:nvSpPr>
          <p:spPr>
            <a:xfrm>
              <a:off x="9548163" y="2840767"/>
              <a:ext cx="212437" cy="277542"/>
            </a:xfrm>
            <a:prstGeom prst="arc">
              <a:avLst>
                <a:gd name="adj1" fmla="val 16200000"/>
                <a:gd name="adj2" fmla="val 1114619"/>
              </a:avLst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1633"/>
            </a:p>
          </p:txBody>
        </p: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FB47A690-58C8-FCD3-85DA-90FA72F119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70473" y="2836005"/>
              <a:ext cx="1810327" cy="7144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Arco 63">
              <a:extLst>
                <a:ext uri="{FF2B5EF4-FFF2-40B4-BE49-F238E27FC236}">
                  <a16:creationId xmlns:a16="http://schemas.microsoft.com/office/drawing/2014/main" id="{0B6F5E44-B7BA-DCE7-8579-35B965F95D11}"/>
                </a:ext>
              </a:extLst>
            </p:cNvPr>
            <p:cNvSpPr/>
            <p:nvPr/>
          </p:nvSpPr>
          <p:spPr>
            <a:xfrm>
              <a:off x="11182205" y="2847911"/>
              <a:ext cx="212437" cy="277542"/>
            </a:xfrm>
            <a:prstGeom prst="arc">
              <a:avLst>
                <a:gd name="adj1" fmla="val 16200000"/>
                <a:gd name="adj2" fmla="val 1114619"/>
              </a:avLst>
            </a:prstGeom>
            <a:ln>
              <a:solidFill>
                <a:schemeClr val="tx1"/>
              </a:solidFill>
              <a:prstDash val="sysDot"/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1633"/>
            </a:p>
          </p:txBody>
        </p:sp>
        <p:sp>
          <p:nvSpPr>
            <p:cNvPr id="78" name="Arco 77">
              <a:extLst>
                <a:ext uri="{FF2B5EF4-FFF2-40B4-BE49-F238E27FC236}">
                  <a16:creationId xmlns:a16="http://schemas.microsoft.com/office/drawing/2014/main" id="{92038B7A-E8B8-BAC5-888C-B41F7D7797BE}"/>
                </a:ext>
              </a:extLst>
            </p:cNvPr>
            <p:cNvSpPr/>
            <p:nvPr/>
          </p:nvSpPr>
          <p:spPr>
            <a:xfrm>
              <a:off x="10948841" y="2847911"/>
              <a:ext cx="212437" cy="277542"/>
            </a:xfrm>
            <a:prstGeom prst="arc">
              <a:avLst>
                <a:gd name="adj1" fmla="val 16200000"/>
                <a:gd name="adj2" fmla="val 1114619"/>
              </a:avLst>
            </a:prstGeom>
            <a:ln>
              <a:solidFill>
                <a:schemeClr val="tx1"/>
              </a:solidFill>
              <a:prstDash val="sysDot"/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1633"/>
            </a:p>
          </p:txBody>
        </p:sp>
      </p:grpSp>
      <p:sp>
        <p:nvSpPr>
          <p:cNvPr id="30" name="CuadroTexto 29">
            <a:extLst>
              <a:ext uri="{FF2B5EF4-FFF2-40B4-BE49-F238E27FC236}">
                <a16:creationId xmlns:a16="http://schemas.microsoft.com/office/drawing/2014/main" id="{6C692149-E840-B107-9C82-FE90E1955A6F}"/>
              </a:ext>
            </a:extLst>
          </p:cNvPr>
          <p:cNvSpPr txBox="1"/>
          <p:nvPr/>
        </p:nvSpPr>
        <p:spPr>
          <a:xfrm>
            <a:off x="10864919" y="4934651"/>
            <a:ext cx="537290" cy="48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540" dirty="0"/>
              <a:t>…</a:t>
            </a:r>
            <a:endParaRPr lang="en-GB" sz="2540" dirty="0"/>
          </a:p>
        </p:txBody>
      </p:sp>
      <p:grpSp>
        <p:nvGrpSpPr>
          <p:cNvPr id="138" name="Grupo 137">
            <a:extLst>
              <a:ext uri="{FF2B5EF4-FFF2-40B4-BE49-F238E27FC236}">
                <a16:creationId xmlns:a16="http://schemas.microsoft.com/office/drawing/2014/main" id="{7AA3DB1E-5BE9-337B-B5CE-66DA4EB4EDEB}"/>
              </a:ext>
            </a:extLst>
          </p:cNvPr>
          <p:cNvGrpSpPr/>
          <p:nvPr/>
        </p:nvGrpSpPr>
        <p:grpSpPr>
          <a:xfrm>
            <a:off x="4152750" y="5724443"/>
            <a:ext cx="7249459" cy="569002"/>
            <a:chOff x="4379816" y="5587047"/>
            <a:chExt cx="7563810" cy="6272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CuadroTexto 58">
                  <a:extLst>
                    <a:ext uri="{FF2B5EF4-FFF2-40B4-BE49-F238E27FC236}">
                      <a16:creationId xmlns:a16="http://schemas.microsoft.com/office/drawing/2014/main" id="{1CCADD88-50E8-46D4-755B-64D6FDC46519}"/>
                    </a:ext>
                  </a:extLst>
                </p:cNvPr>
                <p:cNvSpPr txBox="1"/>
                <p:nvPr/>
              </p:nvSpPr>
              <p:spPr>
                <a:xfrm>
                  <a:off x="4379816" y="5587047"/>
                  <a:ext cx="7563810" cy="627220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1633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633" b="1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s-ES" sz="1633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s-ES" sz="1633" b="1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s-ES" sz="1633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s-ES" sz="1633" b="1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s-ES" sz="1633" i="1">
                                <a:latin typeface="Cambria Math" panose="02040503050406030204" pitchFamily="18" charset="0"/>
                              </a:rPr>
                              <m:t> +</m:t>
                            </m:r>
                            <m:r>
                              <a:rPr lang="es-ES" sz="1633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num>
                          <m:den>
                            <m:r>
                              <a:rPr lang="es-ES" sz="1633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den>
                        </m:f>
                        <m:r>
                          <a:rPr lang="es-ES" sz="1633" i="1">
                            <a:latin typeface="Cambria Math" panose="02040503050406030204" pitchFamily="18" charset="0"/>
                          </a:rPr>
                          <m:t>=0.66=</m:t>
                        </m:r>
                        <m:r>
                          <a:rPr lang="es-ES" sz="1633" b="1" i="1">
                            <a:latin typeface="Cambria Math" panose="02040503050406030204" pitchFamily="18" charset="0"/>
                          </a:rPr>
                          <m:t>𝑷</m:t>
                        </m:r>
                      </m:oMath>
                    </m:oMathPara>
                  </a14:m>
                  <a:endParaRPr lang="en-GB" sz="1633" b="1" dirty="0"/>
                </a:p>
              </p:txBody>
            </p:sp>
          </mc:Choice>
          <mc:Fallback xmlns="">
            <p:sp>
              <p:nvSpPr>
                <p:cNvPr id="59" name="CuadroTexto 58">
                  <a:extLst>
                    <a:ext uri="{FF2B5EF4-FFF2-40B4-BE49-F238E27FC236}">
                      <a16:creationId xmlns:a16="http://schemas.microsoft.com/office/drawing/2014/main" id="{1CCADD88-50E8-46D4-755B-64D6FDC465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816" y="5587047"/>
                  <a:ext cx="7563810" cy="627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CuadroTexto 128">
              <a:extLst>
                <a:ext uri="{FF2B5EF4-FFF2-40B4-BE49-F238E27FC236}">
                  <a16:creationId xmlns:a16="http://schemas.microsoft.com/office/drawing/2014/main" id="{CA907E17-FC13-A5F3-A850-061F0B96D8A3}"/>
                </a:ext>
              </a:extLst>
            </p:cNvPr>
            <p:cNvSpPr txBox="1"/>
            <p:nvPr/>
          </p:nvSpPr>
          <p:spPr>
            <a:xfrm>
              <a:off x="9661959" y="5745263"/>
              <a:ext cx="2176774" cy="3787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33" dirty="0"/>
                <a:t>(</a:t>
              </a:r>
              <a:r>
                <a:rPr lang="es-ES" sz="1633" dirty="0" err="1"/>
                <a:t>Average</a:t>
              </a:r>
              <a:r>
                <a:rPr lang="es-ES" sz="1633" dirty="0"/>
                <a:t> </a:t>
              </a:r>
              <a:r>
                <a:rPr lang="es-ES" sz="1633" dirty="0" err="1"/>
                <a:t>probability</a:t>
              </a:r>
              <a:r>
                <a:rPr lang="es-ES" sz="1633" dirty="0"/>
                <a:t>)</a:t>
              </a:r>
              <a:endParaRPr lang="en-GB" sz="1633" dirty="0"/>
            </a:p>
          </p:txBody>
        </p:sp>
      </p:grpSp>
      <p:sp>
        <p:nvSpPr>
          <p:cNvPr id="70" name="CuadroTexto 69">
            <a:extLst>
              <a:ext uri="{FF2B5EF4-FFF2-40B4-BE49-F238E27FC236}">
                <a16:creationId xmlns:a16="http://schemas.microsoft.com/office/drawing/2014/main" id="{52BFF46D-040A-69DB-897B-8FA2B2A8151C}"/>
              </a:ext>
            </a:extLst>
          </p:cNvPr>
          <p:cNvSpPr txBox="1"/>
          <p:nvPr/>
        </p:nvSpPr>
        <p:spPr>
          <a:xfrm>
            <a:off x="1096112" y="5122048"/>
            <a:ext cx="1543497" cy="3436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33" i="1" u="sng" dirty="0"/>
              <a:t>3. </a:t>
            </a:r>
            <a:r>
              <a:rPr lang="es-ES" sz="1633" i="1" u="sng" dirty="0" err="1"/>
              <a:t>Aggregation</a:t>
            </a:r>
            <a:endParaRPr lang="en-GB" sz="1633" i="1" u="sng" dirty="0"/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D83ED376-904B-9C75-CEBC-B0FC6EDF8EAF}"/>
              </a:ext>
            </a:extLst>
          </p:cNvPr>
          <p:cNvSpPr txBox="1"/>
          <p:nvPr/>
        </p:nvSpPr>
        <p:spPr>
          <a:xfrm>
            <a:off x="1096112" y="623783"/>
            <a:ext cx="1738804" cy="3436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33" i="1" u="sng" dirty="0"/>
              <a:t>1. </a:t>
            </a:r>
            <a:r>
              <a:rPr lang="es-ES" sz="1633" i="1" u="sng" dirty="0" err="1"/>
              <a:t>Bootstrapping</a:t>
            </a:r>
            <a:endParaRPr lang="en-GB" sz="1633" i="1" u="sng" dirty="0"/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E8AAFCF7-0E74-CBD0-3781-61DA856B6FA7}"/>
              </a:ext>
            </a:extLst>
          </p:cNvPr>
          <p:cNvCxnSpPr>
            <a:cxnSpLocks/>
          </p:cNvCxnSpPr>
          <p:nvPr/>
        </p:nvCxnSpPr>
        <p:spPr>
          <a:xfrm flipH="1">
            <a:off x="7076141" y="3055166"/>
            <a:ext cx="401111" cy="476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45BECD1B-27D7-C16E-9E2B-A3638A217264}"/>
              </a:ext>
            </a:extLst>
          </p:cNvPr>
          <p:cNvCxnSpPr>
            <a:cxnSpLocks/>
          </p:cNvCxnSpPr>
          <p:nvPr/>
        </p:nvCxnSpPr>
        <p:spPr>
          <a:xfrm>
            <a:off x="7707490" y="3055166"/>
            <a:ext cx="401111" cy="476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Elipse 41">
            <a:extLst>
              <a:ext uri="{FF2B5EF4-FFF2-40B4-BE49-F238E27FC236}">
                <a16:creationId xmlns:a16="http://schemas.microsoft.com/office/drawing/2014/main" id="{66B33945-E0E1-8375-D9D8-EDB05F9D2E35}"/>
              </a:ext>
            </a:extLst>
          </p:cNvPr>
          <p:cNvSpPr/>
          <p:nvPr/>
        </p:nvSpPr>
        <p:spPr>
          <a:xfrm>
            <a:off x="7411819" y="2753283"/>
            <a:ext cx="361105" cy="34062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77" dirty="0">
              <a:solidFill>
                <a:schemeClr val="tx1"/>
              </a:solidFill>
            </a:endParaRPr>
          </a:p>
        </p:txBody>
      </p: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7D2FAA1A-22A5-F86E-A989-8C9AAAACBC9A}"/>
              </a:ext>
            </a:extLst>
          </p:cNvPr>
          <p:cNvCxnSpPr>
            <a:cxnSpLocks/>
          </p:cNvCxnSpPr>
          <p:nvPr/>
        </p:nvCxnSpPr>
        <p:spPr>
          <a:xfrm flipH="1">
            <a:off x="7790601" y="3832760"/>
            <a:ext cx="223830" cy="4896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1920D14F-ADD8-47A2-4EF9-BA2BE17E558E}"/>
              </a:ext>
            </a:extLst>
          </p:cNvPr>
          <p:cNvCxnSpPr>
            <a:cxnSpLocks/>
          </p:cNvCxnSpPr>
          <p:nvPr/>
        </p:nvCxnSpPr>
        <p:spPr>
          <a:xfrm>
            <a:off x="8251850" y="3825943"/>
            <a:ext cx="260725" cy="496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26980B78-ADDF-C0DA-8E09-772086A03DDD}"/>
              </a:ext>
            </a:extLst>
          </p:cNvPr>
          <p:cNvCxnSpPr>
            <a:cxnSpLocks/>
          </p:cNvCxnSpPr>
          <p:nvPr/>
        </p:nvCxnSpPr>
        <p:spPr>
          <a:xfrm>
            <a:off x="8146100" y="3853945"/>
            <a:ext cx="0" cy="4820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31C5849B-7494-FC74-8622-CA79D4D39781}"/>
              </a:ext>
            </a:extLst>
          </p:cNvPr>
          <p:cNvCxnSpPr>
            <a:cxnSpLocks/>
            <a:endCxn id="84" idx="0"/>
          </p:cNvCxnSpPr>
          <p:nvPr/>
        </p:nvCxnSpPr>
        <p:spPr>
          <a:xfrm flipH="1">
            <a:off x="6716375" y="3824119"/>
            <a:ext cx="248459" cy="5032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A2275E62-D909-B5A1-6BF6-213704119C7B}"/>
              </a:ext>
            </a:extLst>
          </p:cNvPr>
          <p:cNvCxnSpPr>
            <a:cxnSpLocks/>
            <a:endCxn id="86" idx="0"/>
          </p:cNvCxnSpPr>
          <p:nvPr/>
        </p:nvCxnSpPr>
        <p:spPr>
          <a:xfrm>
            <a:off x="7202253" y="3817302"/>
            <a:ext cx="227897" cy="506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4C64CA44-BC33-12A7-5B48-2C1E96235AC9}"/>
              </a:ext>
            </a:extLst>
          </p:cNvPr>
          <p:cNvCxnSpPr>
            <a:cxnSpLocks/>
          </p:cNvCxnSpPr>
          <p:nvPr/>
        </p:nvCxnSpPr>
        <p:spPr>
          <a:xfrm>
            <a:off x="7074900" y="3845304"/>
            <a:ext cx="0" cy="4820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Elipse 80">
            <a:extLst>
              <a:ext uri="{FF2B5EF4-FFF2-40B4-BE49-F238E27FC236}">
                <a16:creationId xmlns:a16="http://schemas.microsoft.com/office/drawing/2014/main" id="{40B587E7-4CEE-E9BE-C49F-B6052D962236}"/>
              </a:ext>
            </a:extLst>
          </p:cNvPr>
          <p:cNvSpPr/>
          <p:nvPr/>
        </p:nvSpPr>
        <p:spPr>
          <a:xfrm>
            <a:off x="8027472" y="4322389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4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Elipse 81">
            <a:extLst>
              <a:ext uri="{FF2B5EF4-FFF2-40B4-BE49-F238E27FC236}">
                <a16:creationId xmlns:a16="http://schemas.microsoft.com/office/drawing/2014/main" id="{E6E3D34D-0BC5-9755-4121-49F5656ADC46}"/>
              </a:ext>
            </a:extLst>
          </p:cNvPr>
          <p:cNvSpPr/>
          <p:nvPr/>
        </p:nvSpPr>
        <p:spPr>
          <a:xfrm>
            <a:off x="7667706" y="4314559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2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6CE180E9-CF6C-7999-E4D1-09DC676FDD1E}"/>
              </a:ext>
            </a:extLst>
          </p:cNvPr>
          <p:cNvSpPr/>
          <p:nvPr/>
        </p:nvSpPr>
        <p:spPr>
          <a:xfrm>
            <a:off x="8406826" y="4322389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7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Elipse 83">
            <a:extLst>
              <a:ext uri="{FF2B5EF4-FFF2-40B4-BE49-F238E27FC236}">
                <a16:creationId xmlns:a16="http://schemas.microsoft.com/office/drawing/2014/main" id="{4CC7D35B-C52D-98FD-C7BC-4A7AE4C8D89A}"/>
              </a:ext>
            </a:extLst>
          </p:cNvPr>
          <p:cNvSpPr/>
          <p:nvPr/>
        </p:nvSpPr>
        <p:spPr>
          <a:xfrm>
            <a:off x="6586013" y="4327357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1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Elipse 84">
            <a:extLst>
              <a:ext uri="{FF2B5EF4-FFF2-40B4-BE49-F238E27FC236}">
                <a16:creationId xmlns:a16="http://schemas.microsoft.com/office/drawing/2014/main" id="{48707AF9-A214-1D31-8A47-30A397AACBD8}"/>
              </a:ext>
            </a:extLst>
          </p:cNvPr>
          <p:cNvSpPr/>
          <p:nvPr/>
        </p:nvSpPr>
        <p:spPr>
          <a:xfrm>
            <a:off x="6945779" y="4319690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3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D0128BA6-B3FE-B2AA-9CC1-5A4B6E03FE32}"/>
              </a:ext>
            </a:extLst>
          </p:cNvPr>
          <p:cNvSpPr/>
          <p:nvPr/>
        </p:nvSpPr>
        <p:spPr>
          <a:xfrm>
            <a:off x="7299787" y="4323849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8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9" name="CuadroTexto 88">
            <a:extLst>
              <a:ext uri="{FF2B5EF4-FFF2-40B4-BE49-F238E27FC236}">
                <a16:creationId xmlns:a16="http://schemas.microsoft.com/office/drawing/2014/main" id="{3F5399D1-60FE-7655-5918-4CCF7A95CD72}"/>
              </a:ext>
            </a:extLst>
          </p:cNvPr>
          <p:cNvSpPr txBox="1"/>
          <p:nvPr/>
        </p:nvSpPr>
        <p:spPr>
          <a:xfrm>
            <a:off x="6651055" y="3135706"/>
            <a:ext cx="638316" cy="3157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52" b="1" dirty="0">
                <a:latin typeface="Cambria Math" panose="02040503050406030204" pitchFamily="18" charset="0"/>
                <a:ea typeface="Cambria Math" panose="02040503050406030204" pitchFamily="18" charset="0"/>
              </a:rPr>
              <a:t>X </a:t>
            </a:r>
            <a:r>
              <a:rPr lang="es-ES" sz="1452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j</a:t>
            </a:r>
            <a:r>
              <a:rPr lang="es-ES" sz="1452" dirty="0"/>
              <a:t> &gt; 0</a:t>
            </a:r>
            <a:endParaRPr lang="en-GB" sz="1452" dirty="0"/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30AA76ED-D02E-3435-4E6C-D639EF8A3402}"/>
              </a:ext>
            </a:extLst>
          </p:cNvPr>
          <p:cNvSpPr txBox="1"/>
          <p:nvPr/>
        </p:nvSpPr>
        <p:spPr>
          <a:xfrm>
            <a:off x="7925470" y="3135706"/>
            <a:ext cx="638316" cy="3157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52" b="1" dirty="0">
                <a:latin typeface="Cambria Math" panose="02040503050406030204" pitchFamily="18" charset="0"/>
                <a:ea typeface="Cambria Math" panose="02040503050406030204" pitchFamily="18" charset="0"/>
              </a:rPr>
              <a:t>X </a:t>
            </a:r>
            <a:r>
              <a:rPr lang="es-ES" sz="1452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j</a:t>
            </a:r>
            <a:r>
              <a:rPr lang="es-ES" sz="1452" dirty="0"/>
              <a:t> ≤ 0</a:t>
            </a:r>
            <a:endParaRPr lang="en-GB" sz="1452" dirty="0"/>
          </a:p>
        </p:txBody>
      </p:sp>
      <p:sp>
        <p:nvSpPr>
          <p:cNvPr id="75" name="Elipse 74">
            <a:extLst>
              <a:ext uri="{FF2B5EF4-FFF2-40B4-BE49-F238E27FC236}">
                <a16:creationId xmlns:a16="http://schemas.microsoft.com/office/drawing/2014/main" id="{F82F9FEF-5D04-1544-AE3D-4F2D2275F22D}"/>
              </a:ext>
            </a:extLst>
          </p:cNvPr>
          <p:cNvSpPr/>
          <p:nvPr/>
        </p:nvSpPr>
        <p:spPr>
          <a:xfrm>
            <a:off x="6895313" y="3515924"/>
            <a:ext cx="361105" cy="34062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-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6" name="Elipse 65">
            <a:extLst>
              <a:ext uri="{FF2B5EF4-FFF2-40B4-BE49-F238E27FC236}">
                <a16:creationId xmlns:a16="http://schemas.microsoft.com/office/drawing/2014/main" id="{5F25BBBA-2158-3EC8-9C0F-1B8405DFF844}"/>
              </a:ext>
            </a:extLst>
          </p:cNvPr>
          <p:cNvSpPr/>
          <p:nvPr/>
        </p:nvSpPr>
        <p:spPr>
          <a:xfrm>
            <a:off x="7944909" y="3524566"/>
            <a:ext cx="361105" cy="34062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+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30" name="CuadroTexto 129">
            <a:extLst>
              <a:ext uri="{FF2B5EF4-FFF2-40B4-BE49-F238E27FC236}">
                <a16:creationId xmlns:a16="http://schemas.microsoft.com/office/drawing/2014/main" id="{0B3730F0-96A7-113A-7218-19CB7EAF9F71}"/>
              </a:ext>
            </a:extLst>
          </p:cNvPr>
          <p:cNvSpPr txBox="1"/>
          <p:nvPr/>
        </p:nvSpPr>
        <p:spPr>
          <a:xfrm>
            <a:off x="6752045" y="2365084"/>
            <a:ext cx="1633173" cy="343620"/>
          </a:xfrm>
          <a:prstGeom prst="rect">
            <a:avLst/>
          </a:prstGeom>
          <a:solidFill>
            <a:srgbClr val="CAEEF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1633" dirty="0" err="1"/>
              <a:t>Decision</a:t>
            </a:r>
            <a:r>
              <a:rPr lang="es-ES" sz="1633" dirty="0"/>
              <a:t> </a:t>
            </a:r>
            <a:r>
              <a:rPr lang="es-ES" sz="1633" dirty="0" err="1"/>
              <a:t>tree</a:t>
            </a:r>
            <a:r>
              <a:rPr lang="es-ES" sz="1633" dirty="0"/>
              <a:t> 2</a:t>
            </a:r>
            <a:endParaRPr lang="en-GB" sz="1633" dirty="0"/>
          </a:p>
        </p:txBody>
      </p: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4CE766E4-DC31-EE0F-64EA-9BF41F2E2584}"/>
              </a:ext>
            </a:extLst>
          </p:cNvPr>
          <p:cNvSpPr txBox="1"/>
          <p:nvPr/>
        </p:nvSpPr>
        <p:spPr>
          <a:xfrm>
            <a:off x="8900133" y="3135706"/>
            <a:ext cx="638316" cy="3157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52" b="1" dirty="0">
                <a:latin typeface="Cambria Math" panose="02040503050406030204" pitchFamily="18" charset="0"/>
                <a:ea typeface="Cambria Math" panose="02040503050406030204" pitchFamily="18" charset="0"/>
              </a:rPr>
              <a:t>X </a:t>
            </a:r>
            <a:r>
              <a:rPr lang="es-ES" sz="1452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j</a:t>
            </a:r>
            <a:r>
              <a:rPr lang="es-ES" sz="1452" dirty="0"/>
              <a:t> = 0</a:t>
            </a:r>
            <a:endParaRPr lang="en-GB" sz="1452" dirty="0"/>
          </a:p>
        </p:txBody>
      </p:sp>
      <p:cxnSp>
        <p:nvCxnSpPr>
          <p:cNvPr id="91" name="Conector recto 90">
            <a:extLst>
              <a:ext uri="{FF2B5EF4-FFF2-40B4-BE49-F238E27FC236}">
                <a16:creationId xmlns:a16="http://schemas.microsoft.com/office/drawing/2014/main" id="{CEFBA680-28EF-BAD6-F335-587555CD103A}"/>
              </a:ext>
            </a:extLst>
          </p:cNvPr>
          <p:cNvCxnSpPr>
            <a:cxnSpLocks/>
          </p:cNvCxnSpPr>
          <p:nvPr/>
        </p:nvCxnSpPr>
        <p:spPr>
          <a:xfrm flipH="1">
            <a:off x="4779961" y="3055166"/>
            <a:ext cx="401110" cy="476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D3112C15-9279-A168-65E8-F2F0904E409F}"/>
              </a:ext>
            </a:extLst>
          </p:cNvPr>
          <p:cNvCxnSpPr>
            <a:cxnSpLocks/>
          </p:cNvCxnSpPr>
          <p:nvPr/>
        </p:nvCxnSpPr>
        <p:spPr>
          <a:xfrm>
            <a:off x="5411310" y="3055166"/>
            <a:ext cx="401110" cy="476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Elipse 92">
            <a:extLst>
              <a:ext uri="{FF2B5EF4-FFF2-40B4-BE49-F238E27FC236}">
                <a16:creationId xmlns:a16="http://schemas.microsoft.com/office/drawing/2014/main" id="{B4CA9C14-7623-8EB9-9352-62B89FC35AB8}"/>
              </a:ext>
            </a:extLst>
          </p:cNvPr>
          <p:cNvSpPr/>
          <p:nvPr/>
        </p:nvSpPr>
        <p:spPr>
          <a:xfrm>
            <a:off x="5115639" y="2761514"/>
            <a:ext cx="361105" cy="34062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953" baseline="-25000" dirty="0">
              <a:solidFill>
                <a:schemeClr val="tx1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667A3C41-D8D3-5586-B501-1E3F676019C3}"/>
              </a:ext>
            </a:extLst>
          </p:cNvPr>
          <p:cNvCxnSpPr>
            <a:cxnSpLocks/>
          </p:cNvCxnSpPr>
          <p:nvPr/>
        </p:nvCxnSpPr>
        <p:spPr>
          <a:xfrm flipH="1">
            <a:off x="5494421" y="3840991"/>
            <a:ext cx="223830" cy="4896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C6669EFA-368C-5A85-1D72-4E55133DF5F9}"/>
              </a:ext>
            </a:extLst>
          </p:cNvPr>
          <p:cNvCxnSpPr>
            <a:cxnSpLocks/>
          </p:cNvCxnSpPr>
          <p:nvPr/>
        </p:nvCxnSpPr>
        <p:spPr>
          <a:xfrm>
            <a:off x="5955670" y="3834174"/>
            <a:ext cx="260725" cy="496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5A348DBA-CC2D-3D45-9DEA-956B251F9115}"/>
              </a:ext>
            </a:extLst>
          </p:cNvPr>
          <p:cNvCxnSpPr>
            <a:cxnSpLocks/>
          </p:cNvCxnSpPr>
          <p:nvPr/>
        </p:nvCxnSpPr>
        <p:spPr>
          <a:xfrm>
            <a:off x="5849920" y="3862176"/>
            <a:ext cx="0" cy="4820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6811F8CF-87EE-4B30-207B-32AE29F0466C}"/>
              </a:ext>
            </a:extLst>
          </p:cNvPr>
          <p:cNvCxnSpPr>
            <a:cxnSpLocks/>
            <a:endCxn id="103" idx="0"/>
          </p:cNvCxnSpPr>
          <p:nvPr/>
        </p:nvCxnSpPr>
        <p:spPr>
          <a:xfrm flipH="1">
            <a:off x="4420195" y="3832350"/>
            <a:ext cx="248459" cy="5032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FA75AA32-9B1B-F548-433C-ADDD1D5D3E3F}"/>
              </a:ext>
            </a:extLst>
          </p:cNvPr>
          <p:cNvCxnSpPr>
            <a:cxnSpLocks/>
            <a:endCxn id="105" idx="0"/>
          </p:cNvCxnSpPr>
          <p:nvPr/>
        </p:nvCxnSpPr>
        <p:spPr>
          <a:xfrm>
            <a:off x="4906073" y="3825533"/>
            <a:ext cx="227897" cy="506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Conector recto 98">
            <a:extLst>
              <a:ext uri="{FF2B5EF4-FFF2-40B4-BE49-F238E27FC236}">
                <a16:creationId xmlns:a16="http://schemas.microsoft.com/office/drawing/2014/main" id="{648F79A3-216C-908A-44B1-DA2A3B0AB39D}"/>
              </a:ext>
            </a:extLst>
          </p:cNvPr>
          <p:cNvCxnSpPr>
            <a:cxnSpLocks/>
          </p:cNvCxnSpPr>
          <p:nvPr/>
        </p:nvCxnSpPr>
        <p:spPr>
          <a:xfrm>
            <a:off x="4778720" y="3853535"/>
            <a:ext cx="0" cy="4820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Elipse 99">
            <a:extLst>
              <a:ext uri="{FF2B5EF4-FFF2-40B4-BE49-F238E27FC236}">
                <a16:creationId xmlns:a16="http://schemas.microsoft.com/office/drawing/2014/main" id="{9F3254BC-AA2F-D869-AA2A-0AD33F9A98F3}"/>
              </a:ext>
            </a:extLst>
          </p:cNvPr>
          <p:cNvSpPr/>
          <p:nvPr/>
        </p:nvSpPr>
        <p:spPr>
          <a:xfrm>
            <a:off x="5731292" y="4330620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6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1" name="Elipse 100">
            <a:extLst>
              <a:ext uri="{FF2B5EF4-FFF2-40B4-BE49-F238E27FC236}">
                <a16:creationId xmlns:a16="http://schemas.microsoft.com/office/drawing/2014/main" id="{EF5DECA9-7E00-C513-699E-5DD7C1152BC9}"/>
              </a:ext>
            </a:extLst>
          </p:cNvPr>
          <p:cNvSpPr/>
          <p:nvPr/>
        </p:nvSpPr>
        <p:spPr>
          <a:xfrm>
            <a:off x="5371526" y="4322790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2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2" name="Elipse 101">
            <a:extLst>
              <a:ext uri="{FF2B5EF4-FFF2-40B4-BE49-F238E27FC236}">
                <a16:creationId xmlns:a16="http://schemas.microsoft.com/office/drawing/2014/main" id="{7C18FE40-430B-9D48-7809-75B9E1684DDE}"/>
              </a:ext>
            </a:extLst>
          </p:cNvPr>
          <p:cNvSpPr/>
          <p:nvPr/>
        </p:nvSpPr>
        <p:spPr>
          <a:xfrm>
            <a:off x="6110646" y="4330620"/>
            <a:ext cx="260725" cy="258911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7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3" name="Elipse 102">
            <a:extLst>
              <a:ext uri="{FF2B5EF4-FFF2-40B4-BE49-F238E27FC236}">
                <a16:creationId xmlns:a16="http://schemas.microsoft.com/office/drawing/2014/main" id="{0A1D2883-FBA9-430E-A667-F0009398B89A}"/>
              </a:ext>
            </a:extLst>
          </p:cNvPr>
          <p:cNvSpPr/>
          <p:nvPr/>
        </p:nvSpPr>
        <p:spPr>
          <a:xfrm>
            <a:off x="4289833" y="4335588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1</a:t>
            </a:r>
          </a:p>
        </p:txBody>
      </p:sp>
      <p:sp>
        <p:nvSpPr>
          <p:cNvPr id="104" name="Elipse 103">
            <a:extLst>
              <a:ext uri="{FF2B5EF4-FFF2-40B4-BE49-F238E27FC236}">
                <a16:creationId xmlns:a16="http://schemas.microsoft.com/office/drawing/2014/main" id="{9E10CDDD-0EFF-834B-A433-7C832A1295EB}"/>
              </a:ext>
            </a:extLst>
          </p:cNvPr>
          <p:cNvSpPr/>
          <p:nvPr/>
        </p:nvSpPr>
        <p:spPr>
          <a:xfrm>
            <a:off x="4649599" y="4327921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3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5" name="Elipse 104">
            <a:extLst>
              <a:ext uri="{FF2B5EF4-FFF2-40B4-BE49-F238E27FC236}">
                <a16:creationId xmlns:a16="http://schemas.microsoft.com/office/drawing/2014/main" id="{3634630C-C274-9227-E622-BDB13EB7185F}"/>
              </a:ext>
            </a:extLst>
          </p:cNvPr>
          <p:cNvSpPr/>
          <p:nvPr/>
        </p:nvSpPr>
        <p:spPr>
          <a:xfrm>
            <a:off x="5003608" y="4332080"/>
            <a:ext cx="260725" cy="25891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98" dirty="0">
                <a:solidFill>
                  <a:schemeClr val="bg2">
                    <a:lumMod val="50000"/>
                  </a:schemeClr>
                </a:solidFill>
              </a:rPr>
              <a:t>5</a:t>
            </a:r>
            <a:endParaRPr lang="en-GB" sz="998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8" name="Elipse 107">
            <a:extLst>
              <a:ext uri="{FF2B5EF4-FFF2-40B4-BE49-F238E27FC236}">
                <a16:creationId xmlns:a16="http://schemas.microsoft.com/office/drawing/2014/main" id="{F1194625-D33D-33CD-F899-851A824884BD}"/>
              </a:ext>
            </a:extLst>
          </p:cNvPr>
          <p:cNvSpPr/>
          <p:nvPr/>
        </p:nvSpPr>
        <p:spPr>
          <a:xfrm>
            <a:off x="4599133" y="3524155"/>
            <a:ext cx="361105" cy="34062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-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9" name="Elipse 108">
            <a:extLst>
              <a:ext uri="{FF2B5EF4-FFF2-40B4-BE49-F238E27FC236}">
                <a16:creationId xmlns:a16="http://schemas.microsoft.com/office/drawing/2014/main" id="{036C4861-F8E4-D519-8471-8B53143DD82E}"/>
              </a:ext>
            </a:extLst>
          </p:cNvPr>
          <p:cNvSpPr/>
          <p:nvPr/>
        </p:nvSpPr>
        <p:spPr>
          <a:xfrm>
            <a:off x="5648729" y="3532797"/>
            <a:ext cx="361105" cy="34062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+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C95FEC9-F2F3-11F4-FFA1-A0CACCC21AF4}"/>
              </a:ext>
            </a:extLst>
          </p:cNvPr>
          <p:cNvSpPr txBox="1"/>
          <p:nvPr/>
        </p:nvSpPr>
        <p:spPr>
          <a:xfrm>
            <a:off x="4162911" y="3135706"/>
            <a:ext cx="790601" cy="3157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52" b="1" dirty="0">
                <a:latin typeface="Cambria Math" panose="02040503050406030204" pitchFamily="18" charset="0"/>
                <a:ea typeface="Cambria Math" panose="02040503050406030204" pitchFamily="18" charset="0"/>
              </a:rPr>
              <a:t>X </a:t>
            </a:r>
            <a:r>
              <a:rPr lang="es-ES" sz="1452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j</a:t>
            </a:r>
            <a:r>
              <a:rPr lang="es-ES" sz="1452" dirty="0"/>
              <a:t> ≥ 0.2</a:t>
            </a:r>
            <a:endParaRPr lang="en-GB" sz="1452" dirty="0"/>
          </a:p>
        </p:txBody>
      </p:sp>
      <p:sp>
        <p:nvSpPr>
          <p:cNvPr id="132" name="CuadroTexto 131">
            <a:extLst>
              <a:ext uri="{FF2B5EF4-FFF2-40B4-BE49-F238E27FC236}">
                <a16:creationId xmlns:a16="http://schemas.microsoft.com/office/drawing/2014/main" id="{85213AC5-2D7D-E4EA-ED78-4DD3F6CA77A2}"/>
              </a:ext>
            </a:extLst>
          </p:cNvPr>
          <p:cNvSpPr txBox="1"/>
          <p:nvPr/>
        </p:nvSpPr>
        <p:spPr>
          <a:xfrm>
            <a:off x="5635339" y="3135706"/>
            <a:ext cx="790601" cy="3157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52" b="1" dirty="0">
                <a:latin typeface="Cambria Math" panose="02040503050406030204" pitchFamily="18" charset="0"/>
                <a:ea typeface="Cambria Math" panose="02040503050406030204" pitchFamily="18" charset="0"/>
              </a:rPr>
              <a:t>X </a:t>
            </a:r>
            <a:r>
              <a:rPr lang="es-ES" sz="1452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j</a:t>
            </a:r>
            <a:r>
              <a:rPr lang="es-ES" sz="1452" dirty="0"/>
              <a:t> &lt; 0.2</a:t>
            </a:r>
            <a:endParaRPr lang="en-GB" sz="1452" dirty="0"/>
          </a:p>
        </p:txBody>
      </p:sp>
      <p:sp>
        <p:nvSpPr>
          <p:cNvPr id="134" name="CuadroTexto 133">
            <a:extLst>
              <a:ext uri="{FF2B5EF4-FFF2-40B4-BE49-F238E27FC236}">
                <a16:creationId xmlns:a16="http://schemas.microsoft.com/office/drawing/2014/main" id="{975D61DE-AEF4-6190-C03B-6F681ACF6307}"/>
              </a:ext>
            </a:extLst>
          </p:cNvPr>
          <p:cNvSpPr txBox="1"/>
          <p:nvPr/>
        </p:nvSpPr>
        <p:spPr>
          <a:xfrm>
            <a:off x="4480599" y="2370247"/>
            <a:ext cx="1633172" cy="343620"/>
          </a:xfrm>
          <a:prstGeom prst="rect">
            <a:avLst/>
          </a:prstGeom>
          <a:solidFill>
            <a:srgbClr val="A6CAE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1633" dirty="0" err="1"/>
              <a:t>Decision</a:t>
            </a:r>
            <a:r>
              <a:rPr lang="es-ES" sz="1633" dirty="0"/>
              <a:t> </a:t>
            </a:r>
            <a:r>
              <a:rPr lang="es-ES" sz="1633" dirty="0" err="1"/>
              <a:t>tree</a:t>
            </a:r>
            <a:r>
              <a:rPr lang="es-ES" sz="1633" dirty="0"/>
              <a:t> 1</a:t>
            </a:r>
            <a:endParaRPr lang="en-GB" sz="1633" dirty="0"/>
          </a:p>
        </p:txBody>
      </p:sp>
      <p:sp>
        <p:nvSpPr>
          <p:cNvPr id="135" name="CuadroTexto 134">
            <a:extLst>
              <a:ext uri="{FF2B5EF4-FFF2-40B4-BE49-F238E27FC236}">
                <a16:creationId xmlns:a16="http://schemas.microsoft.com/office/drawing/2014/main" id="{AB7690DD-1CBB-A725-21C4-058A8CA87532}"/>
              </a:ext>
            </a:extLst>
          </p:cNvPr>
          <p:cNvSpPr txBox="1"/>
          <p:nvPr/>
        </p:nvSpPr>
        <p:spPr>
          <a:xfrm>
            <a:off x="8968210" y="2370247"/>
            <a:ext cx="1633172" cy="3436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1633" dirty="0" err="1"/>
              <a:t>Decision</a:t>
            </a:r>
            <a:r>
              <a:rPr lang="es-ES" sz="1633" dirty="0"/>
              <a:t> </a:t>
            </a:r>
            <a:r>
              <a:rPr lang="es-ES" sz="1633" dirty="0" err="1"/>
              <a:t>tree</a:t>
            </a:r>
            <a:r>
              <a:rPr lang="es-ES" sz="1633" dirty="0"/>
              <a:t> 3</a:t>
            </a:r>
            <a:endParaRPr lang="en-GB" sz="1633" dirty="0"/>
          </a:p>
        </p:txBody>
      </p:sp>
      <p:sp>
        <p:nvSpPr>
          <p:cNvPr id="137" name="CuadroTexto 136">
            <a:extLst>
              <a:ext uri="{FF2B5EF4-FFF2-40B4-BE49-F238E27FC236}">
                <a16:creationId xmlns:a16="http://schemas.microsoft.com/office/drawing/2014/main" id="{37C5914B-673D-C4CF-6384-B7747481AB98}"/>
              </a:ext>
            </a:extLst>
          </p:cNvPr>
          <p:cNvSpPr txBox="1"/>
          <p:nvPr/>
        </p:nvSpPr>
        <p:spPr>
          <a:xfrm>
            <a:off x="10735684" y="3541877"/>
            <a:ext cx="765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K</a:t>
            </a:r>
            <a:r>
              <a:rPr lang="es-ES" sz="1400" dirty="0"/>
              <a:t> </a:t>
            </a:r>
            <a:r>
              <a:rPr lang="es-ES" sz="1400" dirty="0" err="1"/>
              <a:t>trees</a:t>
            </a:r>
            <a:endParaRPr lang="en-GB" sz="1400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E1EB9F41-69E8-873E-6C60-7C8BE3913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837476"/>
              </p:ext>
            </p:extLst>
          </p:nvPr>
        </p:nvGraphicFramePr>
        <p:xfrm>
          <a:off x="4008357" y="27938"/>
          <a:ext cx="7393854" cy="1926345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1232309">
                  <a:extLst>
                    <a:ext uri="{9D8B030D-6E8A-4147-A177-3AD203B41FA5}">
                      <a16:colId xmlns:a16="http://schemas.microsoft.com/office/drawing/2014/main" val="291692086"/>
                    </a:ext>
                  </a:extLst>
                </a:gridCol>
                <a:gridCol w="1232309">
                  <a:extLst>
                    <a:ext uri="{9D8B030D-6E8A-4147-A177-3AD203B41FA5}">
                      <a16:colId xmlns:a16="http://schemas.microsoft.com/office/drawing/2014/main" val="107300031"/>
                    </a:ext>
                  </a:extLst>
                </a:gridCol>
                <a:gridCol w="1232309">
                  <a:extLst>
                    <a:ext uri="{9D8B030D-6E8A-4147-A177-3AD203B41FA5}">
                      <a16:colId xmlns:a16="http://schemas.microsoft.com/office/drawing/2014/main" val="3902680072"/>
                    </a:ext>
                  </a:extLst>
                </a:gridCol>
                <a:gridCol w="1232309">
                  <a:extLst>
                    <a:ext uri="{9D8B030D-6E8A-4147-A177-3AD203B41FA5}">
                      <a16:colId xmlns:a16="http://schemas.microsoft.com/office/drawing/2014/main" val="1537104247"/>
                    </a:ext>
                  </a:extLst>
                </a:gridCol>
                <a:gridCol w="1232309">
                  <a:extLst>
                    <a:ext uri="{9D8B030D-6E8A-4147-A177-3AD203B41FA5}">
                      <a16:colId xmlns:a16="http://schemas.microsoft.com/office/drawing/2014/main" val="3274801056"/>
                    </a:ext>
                  </a:extLst>
                </a:gridCol>
                <a:gridCol w="1232309">
                  <a:extLst>
                    <a:ext uri="{9D8B030D-6E8A-4147-A177-3AD203B41FA5}">
                      <a16:colId xmlns:a16="http://schemas.microsoft.com/office/drawing/2014/main" val="640631469"/>
                    </a:ext>
                  </a:extLst>
                </a:gridCol>
              </a:tblGrid>
              <a:tr h="580669">
                <a:tc>
                  <a:txBody>
                    <a:bodyPr/>
                    <a:lstStyle/>
                    <a:p>
                      <a:pPr algn="ctr"/>
                      <a:endParaRPr lang="en-GB" sz="1600" dirty="0"/>
                    </a:p>
                  </a:txBody>
                  <a:tcPr marL="82953" marR="82953" marT="41476" marB="4147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 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j </a:t>
                      </a:r>
                      <a:r>
                        <a:rPr lang="es-ES" sz="160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= 1</a:t>
                      </a:r>
                      <a:endParaRPr lang="en-GB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 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j</a:t>
                      </a:r>
                      <a:r>
                        <a:rPr lang="es-ES" sz="1600" i="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</a:t>
                      </a:r>
                      <a:r>
                        <a:rPr lang="es-ES" sz="160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= 2</a:t>
                      </a:r>
                      <a:endParaRPr lang="en-GB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 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j </a:t>
                      </a:r>
                      <a:r>
                        <a:rPr lang="es-ES" sz="160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= 3</a:t>
                      </a:r>
                      <a:endParaRPr lang="en-GB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 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j</a:t>
                      </a:r>
                      <a:r>
                        <a:rPr lang="es-ES" sz="160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= 4</a:t>
                      </a:r>
                      <a:endParaRPr lang="en-GB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 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j </a:t>
                      </a:r>
                      <a:r>
                        <a:rPr lang="es-ES" sz="1600" i="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= 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p</a:t>
                      </a:r>
                      <a:endParaRPr lang="en-GB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970882795"/>
                  </a:ext>
                </a:extLst>
              </a:tr>
              <a:tr h="3364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</a:t>
                      </a:r>
                      <a:r>
                        <a:rPr lang="es-ES" sz="160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=1</a:t>
                      </a:r>
                      <a:endParaRPr lang="en-GB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6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1.23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A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0.77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CAEEFB"/>
                      </a:fgClr>
                      <a:bgClr>
                        <a:srgbClr val="A6CAEC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0.88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AE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0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…</a:t>
                      </a:r>
                    </a:p>
                  </a:txBody>
                  <a:tcPr marL="82953" marR="82953" marT="41476" marB="41476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597313570"/>
                  </a:ext>
                </a:extLst>
              </a:tr>
              <a:tr h="3364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</a:t>
                      </a:r>
                      <a:r>
                        <a:rPr lang="es-ES" sz="160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=2</a:t>
                      </a:r>
                      <a:endParaRPr lang="en-GB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E5A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0.12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A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-0.52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CAEEFB"/>
                      </a:fgClr>
                      <a:bgClr>
                        <a:srgbClr val="A6CAEC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1.00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CAEEFB"/>
                      </a:fgClr>
                      <a:bgClr>
                        <a:schemeClr val="accent5">
                          <a:lumMod val="20000"/>
                          <a:lumOff val="80000"/>
                        </a:schemeClr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1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…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270800572"/>
                  </a:ext>
                </a:extLst>
              </a:tr>
              <a:tr h="3364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</a:t>
                      </a:r>
                      <a:r>
                        <a:rPr lang="es-ES" sz="1600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=3</a:t>
                      </a:r>
                      <a:endParaRPr lang="en-GB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6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0.31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A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1.11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CAEEFB"/>
                      </a:fgClr>
                      <a:bgClr>
                        <a:srgbClr val="A6CAEC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0.59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CAEEFB"/>
                      </a:fgClr>
                      <a:bgClr>
                        <a:schemeClr val="accent5">
                          <a:lumMod val="20000"/>
                          <a:lumOff val="80000"/>
                        </a:schemeClr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0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…</a:t>
                      </a:r>
                      <a:endParaRPr lang="en-GB" sz="1600" dirty="0"/>
                    </a:p>
                  </a:txBody>
                  <a:tcPr marL="82953" marR="82953" marT="41476" marB="41476">
                    <a:lnL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622875697"/>
                  </a:ext>
                </a:extLst>
              </a:tr>
              <a:tr h="3364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r>
                        <a:rPr lang="es-ES" sz="1600" i="1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 = n</a:t>
                      </a:r>
                      <a:endParaRPr lang="en-GB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82953" marR="82953" marT="41476" marB="41476">
                    <a:lnL w="12700" cap="flat" cmpd="sng" algn="ctr">
                      <a:solidFill>
                        <a:srgbClr val="E7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en-GB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2953" marR="82953" marT="41476" marB="41476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rgbClr val="215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…</a:t>
                      </a:r>
                      <a:endParaRPr lang="en-GB" sz="1600" dirty="0"/>
                    </a:p>
                  </a:txBody>
                  <a:tcPr marL="82953" marR="82953" marT="41476" marB="41476">
                    <a:lnL>
                      <a:noFill/>
                    </a:lnL>
                    <a:lnT w="28575" cap="flat" cmpd="sng" algn="ctr">
                      <a:solidFill>
                        <a:srgbClr val="215F9A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...</a:t>
                      </a:r>
                      <a:endParaRPr lang="en-GB" sz="1600" dirty="0"/>
                    </a:p>
                  </a:txBody>
                  <a:tcPr marL="82953" marR="82953" marT="41476" marB="41476">
                    <a:lnT w="28575" cap="flat" cmpd="sng" algn="ctr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…</a:t>
                      </a:r>
                      <a:endParaRPr lang="en-GB" sz="1600" dirty="0"/>
                    </a:p>
                  </a:txBody>
                  <a:tcPr marL="82953" marR="82953" marT="41476" marB="41476">
                    <a:lnT w="28575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 dirty="0"/>
                        <a:t>…</a:t>
                      </a:r>
                      <a:endParaRPr lang="en-GB" sz="1600" b="1" dirty="0"/>
                    </a:p>
                  </a:txBody>
                  <a:tcPr marL="82953" marR="82953" marT="41476" marB="41476"/>
                </a:tc>
                <a:extLst>
                  <a:ext uri="{0D108BD9-81ED-4DB2-BD59-A6C34878D82A}">
                    <a16:rowId xmlns:a16="http://schemas.microsoft.com/office/drawing/2014/main" val="3961091715"/>
                  </a:ext>
                </a:extLst>
              </a:tr>
            </a:tbl>
          </a:graphicData>
        </a:graphic>
      </p:graphicFrame>
      <p:grpSp>
        <p:nvGrpSpPr>
          <p:cNvPr id="145" name="Grupo 144">
            <a:extLst>
              <a:ext uri="{FF2B5EF4-FFF2-40B4-BE49-F238E27FC236}">
                <a16:creationId xmlns:a16="http://schemas.microsoft.com/office/drawing/2014/main" id="{1A7EBB2D-D02F-C553-2948-CFCD730177CB}"/>
              </a:ext>
            </a:extLst>
          </p:cNvPr>
          <p:cNvGrpSpPr/>
          <p:nvPr/>
        </p:nvGrpSpPr>
        <p:grpSpPr>
          <a:xfrm>
            <a:off x="3964594" y="40031"/>
            <a:ext cx="1319635" cy="500594"/>
            <a:chOff x="3749309" y="327234"/>
            <a:chExt cx="1454653" cy="551813"/>
          </a:xfrm>
        </p:grpSpPr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6895316-A4B3-1068-F23C-8BC42287582A}"/>
                </a:ext>
              </a:extLst>
            </p:cNvPr>
            <p:cNvSpPr txBox="1"/>
            <p:nvPr/>
          </p:nvSpPr>
          <p:spPr>
            <a:xfrm>
              <a:off x="3749309" y="592508"/>
              <a:ext cx="935103" cy="2865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089" b="1" dirty="0" err="1">
                  <a:solidFill>
                    <a:schemeClr val="bg1"/>
                  </a:solidFill>
                </a:rPr>
                <a:t>Molecules</a:t>
              </a:r>
              <a:endParaRPr lang="en-GB" sz="1089" b="1" dirty="0">
                <a:solidFill>
                  <a:schemeClr val="bg1"/>
                </a:solidFill>
              </a:endParaRPr>
            </a:p>
          </p:txBody>
        </p:sp>
        <p:sp>
          <p:nvSpPr>
            <p:cNvPr id="136" name="CuadroTexto 135">
              <a:extLst>
                <a:ext uri="{FF2B5EF4-FFF2-40B4-BE49-F238E27FC236}">
                  <a16:creationId xmlns:a16="http://schemas.microsoft.com/office/drawing/2014/main" id="{2B7693C4-39C1-14F9-27CB-137CF7A38BD6}"/>
                </a:ext>
              </a:extLst>
            </p:cNvPr>
            <p:cNvSpPr txBox="1"/>
            <p:nvPr/>
          </p:nvSpPr>
          <p:spPr>
            <a:xfrm>
              <a:off x="4381947" y="327234"/>
              <a:ext cx="822015" cy="2865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089" b="1" dirty="0" err="1">
                  <a:solidFill>
                    <a:schemeClr val="bg1"/>
                  </a:solidFill>
                </a:rPr>
                <a:t>Features</a:t>
              </a:r>
              <a:endParaRPr lang="en-GB" sz="1089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42" name="Grupo 141">
            <a:extLst>
              <a:ext uri="{FF2B5EF4-FFF2-40B4-BE49-F238E27FC236}">
                <a16:creationId xmlns:a16="http://schemas.microsoft.com/office/drawing/2014/main" id="{47728959-55F9-3DDB-9079-45C47F8645E6}"/>
              </a:ext>
            </a:extLst>
          </p:cNvPr>
          <p:cNvGrpSpPr/>
          <p:nvPr/>
        </p:nvGrpSpPr>
        <p:grpSpPr>
          <a:xfrm>
            <a:off x="4104852" y="4740464"/>
            <a:ext cx="475005" cy="375434"/>
            <a:chOff x="8327714" y="4483934"/>
            <a:chExt cx="523605" cy="413846"/>
          </a:xfrm>
        </p:grpSpPr>
        <p:sp>
          <p:nvSpPr>
            <p:cNvPr id="143" name="Elipse 142">
              <a:extLst>
                <a:ext uri="{FF2B5EF4-FFF2-40B4-BE49-F238E27FC236}">
                  <a16:creationId xmlns:a16="http://schemas.microsoft.com/office/drawing/2014/main" id="{62784079-6B89-09EE-8B97-8B9FB95DC275}"/>
                </a:ext>
              </a:extLst>
            </p:cNvPr>
            <p:cNvSpPr/>
            <p:nvPr/>
          </p:nvSpPr>
          <p:spPr>
            <a:xfrm>
              <a:off x="8364469" y="4483934"/>
              <a:ext cx="423932" cy="413846"/>
            </a:xfrm>
            <a:prstGeom prst="ellipse">
              <a:avLst/>
            </a:prstGeom>
            <a:solidFill>
              <a:srgbClr val="FFC000"/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26" dirty="0">
                <a:solidFill>
                  <a:schemeClr val="tx1"/>
                </a:solidFill>
              </a:endParaRPr>
            </a:p>
          </p:txBody>
        </p:sp>
        <p:sp>
          <p:nvSpPr>
            <p:cNvPr id="144" name="CuadroTexto 143">
              <a:extLst>
                <a:ext uri="{FF2B5EF4-FFF2-40B4-BE49-F238E27FC236}">
                  <a16:creationId xmlns:a16="http://schemas.microsoft.com/office/drawing/2014/main" id="{C071F7BB-D7AA-C61C-5DDF-C48C06328E81}"/>
                </a:ext>
              </a:extLst>
            </p:cNvPr>
            <p:cNvSpPr txBox="1"/>
            <p:nvPr/>
          </p:nvSpPr>
          <p:spPr>
            <a:xfrm>
              <a:off x="8327714" y="4514414"/>
              <a:ext cx="523605" cy="317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270" b="1" dirty="0" err="1">
                  <a:latin typeface="Cambria Math" panose="02040503050406030204" pitchFamily="18" charset="0"/>
                  <a:ea typeface="Cambria Math" panose="02040503050406030204" pitchFamily="18" charset="0"/>
                </a:rPr>
                <a:t>X</a:t>
              </a:r>
              <a:r>
                <a:rPr lang="es-ES" sz="1270" baseline="-25000" dirty="0" err="1">
                  <a:latin typeface="Cambria Math" panose="02040503050406030204" pitchFamily="18" charset="0"/>
                  <a:ea typeface="Cambria Math" panose="02040503050406030204" pitchFamily="18" charset="0"/>
                </a:rPr>
                <a:t>new</a:t>
              </a:r>
              <a:endParaRPr lang="en-GB" sz="1270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92A9B17-6DEA-E390-2BE9-6A44C1AEA01F}"/>
              </a:ext>
            </a:extLst>
          </p:cNvPr>
          <p:cNvGrpSpPr/>
          <p:nvPr/>
        </p:nvGrpSpPr>
        <p:grpSpPr>
          <a:xfrm>
            <a:off x="4184565" y="6282196"/>
            <a:ext cx="7176718" cy="464237"/>
            <a:chOff x="4276276" y="6249764"/>
            <a:chExt cx="7176718" cy="464237"/>
          </a:xfrm>
        </p:grpSpPr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F787DB3B-2BDB-2CA7-0527-B550B89DDE78}"/>
                </a:ext>
              </a:extLst>
            </p:cNvPr>
            <p:cNvSpPr txBox="1"/>
            <p:nvPr/>
          </p:nvSpPr>
          <p:spPr>
            <a:xfrm>
              <a:off x="4276276" y="6249764"/>
              <a:ext cx="7176718" cy="4307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" sz="1633" dirty="0"/>
                <a:t>If </a:t>
              </a:r>
              <a:r>
                <a:rPr lang="es-ES" sz="1633" dirty="0" err="1"/>
                <a:t>aggregated</a:t>
              </a:r>
              <a:r>
                <a:rPr lang="es-ES" sz="1633" dirty="0"/>
                <a:t> </a:t>
              </a:r>
              <a:r>
                <a:rPr lang="es-ES" sz="1633" b="1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P</a:t>
              </a:r>
              <a:r>
                <a:rPr lang="es-ES" sz="1633" dirty="0"/>
                <a:t> &gt; </a:t>
              </a:r>
              <a:r>
                <a:rPr lang="es-ES" sz="1633" dirty="0" err="1"/>
                <a:t>threshold</a:t>
              </a:r>
              <a:r>
                <a:rPr lang="es-ES" sz="1633" dirty="0"/>
                <a:t>* </a:t>
              </a:r>
              <a:r>
                <a:rPr lang="es-ES" sz="1633" dirty="0" err="1"/>
                <a:t>then</a:t>
              </a:r>
              <a:r>
                <a:rPr lang="es-ES" sz="1633" dirty="0"/>
                <a:t>            </a:t>
              </a:r>
              <a:r>
                <a:rPr lang="es-ES" sz="1633" dirty="0" err="1"/>
                <a:t>is</a:t>
              </a:r>
              <a:r>
                <a:rPr lang="es-ES" sz="1633" dirty="0"/>
                <a:t> </a:t>
              </a:r>
              <a:r>
                <a:rPr lang="es-ES" sz="1633" dirty="0" err="1"/>
                <a:t>predicted</a:t>
              </a:r>
              <a:r>
                <a:rPr lang="es-ES" sz="1633" dirty="0"/>
                <a:t> </a:t>
              </a:r>
              <a:r>
                <a:rPr lang="es-ES" sz="1633" dirty="0" err="1"/>
                <a:t>to</a:t>
              </a:r>
              <a:r>
                <a:rPr lang="es-ES" sz="1633" dirty="0"/>
                <a:t> be </a:t>
              </a:r>
              <a:r>
                <a:rPr lang="es-ES" sz="1633" dirty="0" err="1"/>
                <a:t>metabolized</a:t>
              </a:r>
              <a:r>
                <a:rPr lang="es-ES" sz="1633" dirty="0"/>
                <a:t> </a:t>
              </a:r>
              <a:r>
                <a:rPr lang="es-ES" sz="1633" dirty="0" err="1"/>
                <a:t>by</a:t>
              </a:r>
              <a:r>
                <a:rPr lang="es-ES" sz="1633" dirty="0"/>
                <a:t> CYP</a:t>
              </a:r>
              <a:r>
                <a:rPr lang="es-ES" sz="1633" baseline="-25000" dirty="0"/>
                <a:t>XYZ</a:t>
              </a:r>
              <a:endParaRPr lang="en-GB" sz="1633" baseline="-25000" dirty="0"/>
            </a:p>
          </p:txBody>
        </p:sp>
        <p:grpSp>
          <p:nvGrpSpPr>
            <p:cNvPr id="146" name="Grupo 145">
              <a:extLst>
                <a:ext uri="{FF2B5EF4-FFF2-40B4-BE49-F238E27FC236}">
                  <a16:creationId xmlns:a16="http://schemas.microsoft.com/office/drawing/2014/main" id="{FEA710FB-8983-221B-EDFF-379BBEA50CAE}"/>
                </a:ext>
              </a:extLst>
            </p:cNvPr>
            <p:cNvGrpSpPr/>
            <p:nvPr/>
          </p:nvGrpSpPr>
          <p:grpSpPr>
            <a:xfrm>
              <a:off x="7293863" y="6338567"/>
              <a:ext cx="475005" cy="375434"/>
              <a:chOff x="8327714" y="4483934"/>
              <a:chExt cx="523605" cy="413846"/>
            </a:xfrm>
          </p:grpSpPr>
          <p:sp>
            <p:nvSpPr>
              <p:cNvPr id="147" name="Elipse 146">
                <a:extLst>
                  <a:ext uri="{FF2B5EF4-FFF2-40B4-BE49-F238E27FC236}">
                    <a16:creationId xmlns:a16="http://schemas.microsoft.com/office/drawing/2014/main" id="{4D55DC89-0320-0079-1A7C-8FA0B4C09D41}"/>
                  </a:ext>
                </a:extLst>
              </p:cNvPr>
              <p:cNvSpPr/>
              <p:nvPr/>
            </p:nvSpPr>
            <p:spPr>
              <a:xfrm>
                <a:off x="8364469" y="4483934"/>
                <a:ext cx="423932" cy="413846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726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CuadroTexto 147">
                <a:extLst>
                  <a:ext uri="{FF2B5EF4-FFF2-40B4-BE49-F238E27FC236}">
                    <a16:creationId xmlns:a16="http://schemas.microsoft.com/office/drawing/2014/main" id="{BC2C57CC-7BD3-65A8-DA7A-5743F4E4E688}"/>
                  </a:ext>
                </a:extLst>
              </p:cNvPr>
              <p:cNvSpPr txBox="1"/>
              <p:nvPr/>
            </p:nvSpPr>
            <p:spPr>
              <a:xfrm>
                <a:off x="8327714" y="4514414"/>
                <a:ext cx="523605" cy="3172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270" b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s-ES" sz="1270" baseline="-25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new</a:t>
                </a:r>
                <a:endParaRPr lang="en-GB" sz="127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p:grpSp>
      </p:grp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1421F32-ABB0-604D-EF36-CE15D9DFC8AA}"/>
              </a:ext>
            </a:extLst>
          </p:cNvPr>
          <p:cNvSpPr txBox="1"/>
          <p:nvPr/>
        </p:nvSpPr>
        <p:spPr>
          <a:xfrm>
            <a:off x="1096112" y="2604593"/>
            <a:ext cx="2801493" cy="34362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s-ES" sz="1633" i="1" u="sng" dirty="0"/>
              <a:t>2. </a:t>
            </a:r>
            <a:r>
              <a:rPr lang="es-ES" sz="1633" i="1" u="sng" dirty="0" err="1"/>
              <a:t>Multiple</a:t>
            </a:r>
            <a:r>
              <a:rPr lang="es-ES" sz="1633" i="1" u="sng" dirty="0"/>
              <a:t> </a:t>
            </a:r>
            <a:r>
              <a:rPr lang="es-ES" sz="1633" i="1" u="sng" dirty="0" err="1"/>
              <a:t>tree</a:t>
            </a:r>
            <a:r>
              <a:rPr lang="es-ES" sz="1633" i="1" u="sng" dirty="0"/>
              <a:t> </a:t>
            </a:r>
            <a:r>
              <a:rPr lang="es-ES" sz="1633" i="1" u="sng" dirty="0" err="1"/>
              <a:t>construction</a:t>
            </a:r>
            <a:endParaRPr lang="en-GB" sz="1633" i="1" u="sng" dirty="0"/>
          </a:p>
        </p:txBody>
      </p:sp>
      <p:cxnSp>
        <p:nvCxnSpPr>
          <p:cNvPr id="5" name="Conector recto 21">
            <a:extLst>
              <a:ext uri="{FF2B5EF4-FFF2-40B4-BE49-F238E27FC236}">
                <a16:creationId xmlns:a16="http://schemas.microsoft.com/office/drawing/2014/main" id="{48B76290-2B4F-3601-8C48-D61D766B8CD3}"/>
              </a:ext>
            </a:extLst>
          </p:cNvPr>
          <p:cNvCxnSpPr>
            <a:cxnSpLocks/>
          </p:cNvCxnSpPr>
          <p:nvPr/>
        </p:nvCxnSpPr>
        <p:spPr>
          <a:xfrm>
            <a:off x="-53171" y="2094868"/>
            <a:ext cx="12192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ector recto 21">
            <a:extLst>
              <a:ext uri="{FF2B5EF4-FFF2-40B4-BE49-F238E27FC236}">
                <a16:creationId xmlns:a16="http://schemas.microsoft.com/office/drawing/2014/main" id="{FA4C0D99-2CA2-5392-930C-89FA32503DAA}"/>
              </a:ext>
            </a:extLst>
          </p:cNvPr>
          <p:cNvCxnSpPr>
            <a:cxnSpLocks/>
          </p:cNvCxnSpPr>
          <p:nvPr/>
        </p:nvCxnSpPr>
        <p:spPr>
          <a:xfrm>
            <a:off x="-18289" y="4656070"/>
            <a:ext cx="12192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 Box 1">
            <a:extLst>
              <a:ext uri="{FF2B5EF4-FFF2-40B4-BE49-F238E27FC236}">
                <a16:creationId xmlns:a16="http://schemas.microsoft.com/office/drawing/2014/main" id="{736A741D-AA40-0B27-E915-FD042868CBDA}"/>
              </a:ext>
            </a:extLst>
          </p:cNvPr>
          <p:cNvSpPr txBox="1"/>
          <p:nvPr/>
        </p:nvSpPr>
        <p:spPr>
          <a:xfrm>
            <a:off x="466002" y="-10186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ln>
                  <a:noFill/>
                </a:ln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Box 1">
            <a:extLst>
              <a:ext uri="{FF2B5EF4-FFF2-40B4-BE49-F238E27FC236}">
                <a16:creationId xmlns:a16="http://schemas.microsoft.com/office/drawing/2014/main" id="{80E35638-3CFF-482B-90A7-211E9AA221A3}"/>
              </a:ext>
            </a:extLst>
          </p:cNvPr>
          <p:cNvSpPr txBox="1"/>
          <p:nvPr/>
        </p:nvSpPr>
        <p:spPr>
          <a:xfrm>
            <a:off x="466002" y="2114524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Box 1">
            <a:extLst>
              <a:ext uri="{FF2B5EF4-FFF2-40B4-BE49-F238E27FC236}">
                <a16:creationId xmlns:a16="http://schemas.microsoft.com/office/drawing/2014/main" id="{DAEC87D6-D836-E3D2-154D-90445F0D4273}"/>
              </a:ext>
            </a:extLst>
          </p:cNvPr>
          <p:cNvSpPr txBox="1"/>
          <p:nvPr/>
        </p:nvSpPr>
        <p:spPr>
          <a:xfrm>
            <a:off x="466002" y="4683597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ln>
                  <a:noFill/>
                </a:ln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uadroTexto 22">
            <a:extLst>
              <a:ext uri="{FF2B5EF4-FFF2-40B4-BE49-F238E27FC236}">
                <a16:creationId xmlns:a16="http://schemas.microsoft.com/office/drawing/2014/main" id="{7E068C76-67E1-E7A3-42C2-141709A09779}"/>
              </a:ext>
            </a:extLst>
          </p:cNvPr>
          <p:cNvSpPr txBox="1"/>
          <p:nvPr/>
        </p:nvSpPr>
        <p:spPr>
          <a:xfrm>
            <a:off x="1096112" y="2221837"/>
            <a:ext cx="2801493" cy="3157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452" b="1" dirty="0">
                <a:latin typeface="Cambria Math" panose="02040503050406030204" pitchFamily="18" charset="0"/>
                <a:ea typeface="Cambria Math" panose="02040503050406030204" pitchFamily="18" charset="0"/>
              </a:rPr>
              <a:t>K </a:t>
            </a:r>
            <a:r>
              <a:rPr lang="es-ES" sz="1452" b="1" dirty="0" err="1"/>
              <a:t>trees</a:t>
            </a:r>
            <a:r>
              <a:rPr lang="es-ES" sz="1452" b="1" dirty="0"/>
              <a:t> </a:t>
            </a:r>
            <a:r>
              <a:rPr lang="es-ES" sz="1452" b="1" dirty="0" err="1"/>
              <a:t>grown</a:t>
            </a:r>
            <a:r>
              <a:rPr lang="es-ES" sz="1452" b="1" dirty="0"/>
              <a:t> in </a:t>
            </a:r>
            <a:r>
              <a:rPr lang="es-ES" sz="1452" b="1" dirty="0" err="1"/>
              <a:t>parallel</a:t>
            </a:r>
            <a:endParaRPr lang="es-ES" sz="1452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AB7580-3333-43BA-4A98-7414363CA680}"/>
              </a:ext>
            </a:extLst>
          </p:cNvPr>
          <p:cNvSpPr txBox="1"/>
          <p:nvPr/>
        </p:nvSpPr>
        <p:spPr>
          <a:xfrm>
            <a:off x="1096113" y="2952456"/>
            <a:ext cx="2807088" cy="1200329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just"/>
          </a:lstStyle>
          <a:p>
            <a:r>
              <a:rPr lang="en-GB" dirty="0"/>
              <a:t>Each tree uses a different bootstrapped sample to partition molecules via decision nodes.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C94112-3E59-0F25-5715-FC36170594DC}"/>
              </a:ext>
            </a:extLst>
          </p:cNvPr>
          <p:cNvSpPr txBox="1"/>
          <p:nvPr/>
        </p:nvSpPr>
        <p:spPr>
          <a:xfrm>
            <a:off x="1096112" y="967403"/>
            <a:ext cx="2801493" cy="923330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dirty="0"/>
              <a:t>Random </a:t>
            </a:r>
            <a:r>
              <a:rPr lang="es-ES" dirty="0" err="1"/>
              <a:t>molecule</a:t>
            </a:r>
            <a:r>
              <a:rPr lang="es-ES" dirty="0"/>
              <a:t> and </a:t>
            </a:r>
            <a:r>
              <a:rPr lang="es-ES" dirty="0" err="1"/>
              <a:t>feature</a:t>
            </a:r>
            <a:r>
              <a:rPr lang="es-ES" dirty="0"/>
              <a:t> </a:t>
            </a:r>
            <a:r>
              <a:rPr lang="es-ES" dirty="0" err="1"/>
              <a:t>selection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tree</a:t>
            </a:r>
            <a:r>
              <a:rPr lang="es-ES" dirty="0"/>
              <a:t> </a:t>
            </a:r>
            <a:r>
              <a:rPr lang="es-ES" dirty="0" err="1"/>
              <a:t>construction</a:t>
            </a:r>
            <a:r>
              <a:rPr lang="es-ES" dirty="0"/>
              <a:t>.</a:t>
            </a:r>
            <a:endParaRPr lang="en-GB" dirty="0"/>
          </a:p>
        </p:txBody>
      </p:sp>
      <p:sp>
        <p:nvSpPr>
          <p:cNvPr id="35" name="CuadroTexto 22">
            <a:extLst>
              <a:ext uri="{FF2B5EF4-FFF2-40B4-BE49-F238E27FC236}">
                <a16:creationId xmlns:a16="http://schemas.microsoft.com/office/drawing/2014/main" id="{E778A3F6-3AAF-D085-3CE9-1A7F3C14B1B8}"/>
              </a:ext>
            </a:extLst>
          </p:cNvPr>
          <p:cNvSpPr txBox="1"/>
          <p:nvPr/>
        </p:nvSpPr>
        <p:spPr>
          <a:xfrm>
            <a:off x="1096113" y="4756289"/>
            <a:ext cx="2801492" cy="3157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452" b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es-ES" sz="1452" b="1" baseline="-25000" dirty="0" err="1">
                <a:latin typeface="Aptos" panose="020B0004020202020204" pitchFamily="34" charset="0"/>
                <a:ea typeface="Cambria Math" panose="02040503050406030204" pitchFamily="18" charset="0"/>
              </a:rPr>
              <a:t>new</a:t>
            </a:r>
            <a:r>
              <a:rPr lang="es-ES" sz="1452" b="1" dirty="0">
                <a:latin typeface="Aptos" panose="020B0004020202020204" pitchFamily="34" charset="0"/>
                <a:ea typeface="Cambria Math" panose="02040503050406030204" pitchFamily="18" charset="0"/>
              </a:rPr>
              <a:t> </a:t>
            </a:r>
            <a:r>
              <a:rPr lang="es-ES" sz="1452" b="1" dirty="0" err="1">
                <a:latin typeface="Aptos" panose="020B0004020202020204" pitchFamily="34" charset="0"/>
                <a:ea typeface="Cambria Math" panose="02040503050406030204" pitchFamily="18" charset="0"/>
              </a:rPr>
              <a:t>predicted</a:t>
            </a:r>
            <a:r>
              <a:rPr lang="es-ES" sz="1452" b="1" dirty="0">
                <a:latin typeface="Aptos" panose="020B0004020202020204" pitchFamily="34" charset="0"/>
                <a:ea typeface="Cambria Math" panose="02040503050406030204" pitchFamily="18" charset="0"/>
              </a:rPr>
              <a:t> </a:t>
            </a:r>
            <a:r>
              <a:rPr lang="es-ES" sz="1452" b="1" dirty="0" err="1">
                <a:latin typeface="Aptos" panose="020B0004020202020204" pitchFamily="34" charset="0"/>
                <a:ea typeface="Cambria Math" panose="02040503050406030204" pitchFamily="18" charset="0"/>
              </a:rPr>
              <a:t>independently</a:t>
            </a:r>
            <a:endParaRPr lang="es-ES" sz="1452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3F635C-559C-3D55-E045-B0749BDF9CA9}"/>
                  </a:ext>
                </a:extLst>
              </p:cNvPr>
              <p:cNvSpPr txBox="1"/>
              <p:nvPr/>
            </p:nvSpPr>
            <p:spPr>
              <a:xfrm>
                <a:off x="1096112" y="5462487"/>
                <a:ext cx="2801493" cy="1200329"/>
              </a:xfrm>
              <a:prstGeom prst="rect">
                <a:avLst/>
              </a:prstGeom>
              <a:noFill/>
              <a:ln w="28575"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just"/>
              </a:lstStyle>
              <a:p>
                <a:r>
                  <a:rPr lang="en-GB" dirty="0"/>
                  <a:t>An unseen molecule is passed through all trees, and their predictions are averaged to obtain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3F635C-559C-3D55-E045-B0749BDF9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112" y="5462487"/>
                <a:ext cx="2801493" cy="1200329"/>
              </a:xfrm>
              <a:prstGeom prst="rect">
                <a:avLst/>
              </a:prstGeom>
              <a:blipFill>
                <a:blip r:embed="rId3"/>
                <a:stretch>
                  <a:fillRect l="-1509" t="-990" r="-1078" b="-5941"/>
                </a:stretch>
              </a:blipFill>
              <a:ln w="28575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Oval 44">
            <a:extLst>
              <a:ext uri="{FF2B5EF4-FFF2-40B4-BE49-F238E27FC236}">
                <a16:creationId xmlns:a16="http://schemas.microsoft.com/office/drawing/2014/main" id="{D33E3285-E08E-57C5-C1D0-A83EA6423B64}"/>
              </a:ext>
            </a:extLst>
          </p:cNvPr>
          <p:cNvSpPr/>
          <p:nvPr/>
        </p:nvSpPr>
        <p:spPr>
          <a:xfrm>
            <a:off x="4782240" y="723105"/>
            <a:ext cx="133350" cy="120646"/>
          </a:xfrm>
          <a:prstGeom prst="ellipse">
            <a:avLst/>
          </a:prstGeom>
          <a:solidFill>
            <a:srgbClr val="CAEEFB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59653B4-CB43-7735-FAB0-189C3308E481}"/>
              </a:ext>
            </a:extLst>
          </p:cNvPr>
          <p:cNvSpPr/>
          <p:nvPr/>
        </p:nvSpPr>
        <p:spPr>
          <a:xfrm>
            <a:off x="4772723" y="1059971"/>
            <a:ext cx="133350" cy="120646"/>
          </a:xfrm>
          <a:prstGeom prst="ellipse">
            <a:avLst/>
          </a:prstGeom>
          <a:solidFill>
            <a:srgbClr val="CAEEFB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6C64ED1-2B2A-A574-7B88-629DDA484788}"/>
              </a:ext>
            </a:extLst>
          </p:cNvPr>
          <p:cNvSpPr/>
          <p:nvPr/>
        </p:nvSpPr>
        <p:spPr>
          <a:xfrm>
            <a:off x="4778720" y="1391592"/>
            <a:ext cx="133350" cy="120646"/>
          </a:xfrm>
          <a:prstGeom prst="ellipse">
            <a:avLst/>
          </a:prstGeom>
          <a:solidFill>
            <a:srgbClr val="CAEEFB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C5AA6C0-A92B-15E3-D2B5-A246388FF681}"/>
              </a:ext>
            </a:extLst>
          </p:cNvPr>
          <p:cNvSpPr/>
          <p:nvPr/>
        </p:nvSpPr>
        <p:spPr>
          <a:xfrm>
            <a:off x="4582924" y="723105"/>
            <a:ext cx="133350" cy="120646"/>
          </a:xfrm>
          <a:prstGeom prst="ellipse">
            <a:avLst/>
          </a:prstGeom>
          <a:solidFill>
            <a:srgbClr val="A6CAEC"/>
          </a:solidFill>
          <a:ln>
            <a:solidFill>
              <a:srgbClr val="215F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54573C4D-113D-34A5-862C-F195DA3080F6}"/>
              </a:ext>
            </a:extLst>
          </p:cNvPr>
          <p:cNvSpPr/>
          <p:nvPr/>
        </p:nvSpPr>
        <p:spPr>
          <a:xfrm>
            <a:off x="4582924" y="1059971"/>
            <a:ext cx="133350" cy="120646"/>
          </a:xfrm>
          <a:prstGeom prst="ellipse">
            <a:avLst/>
          </a:prstGeom>
          <a:solidFill>
            <a:srgbClr val="A6CAEC"/>
          </a:solidFill>
          <a:ln>
            <a:solidFill>
              <a:srgbClr val="215F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0BFEED48-54A7-9586-1F4B-F91EEAAF7C14}"/>
              </a:ext>
            </a:extLst>
          </p:cNvPr>
          <p:cNvSpPr/>
          <p:nvPr/>
        </p:nvSpPr>
        <p:spPr>
          <a:xfrm>
            <a:off x="4582924" y="1391592"/>
            <a:ext cx="133350" cy="120646"/>
          </a:xfrm>
          <a:prstGeom prst="ellipse">
            <a:avLst/>
          </a:prstGeom>
          <a:solidFill>
            <a:srgbClr val="A6CAEC"/>
          </a:solidFill>
          <a:ln>
            <a:solidFill>
              <a:srgbClr val="215F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6809388A-24FE-9FDA-9999-9DDE8E8850FE}"/>
              </a:ext>
            </a:extLst>
          </p:cNvPr>
          <p:cNvSpPr/>
          <p:nvPr/>
        </p:nvSpPr>
        <p:spPr>
          <a:xfrm>
            <a:off x="4953346" y="1059971"/>
            <a:ext cx="133350" cy="12064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70A6BB55-C77D-090F-8973-5BAB4EA7D311}"/>
              </a:ext>
            </a:extLst>
          </p:cNvPr>
          <p:cNvSpPr/>
          <p:nvPr/>
        </p:nvSpPr>
        <p:spPr>
          <a:xfrm>
            <a:off x="4960238" y="1391592"/>
            <a:ext cx="133350" cy="12064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DD7696F0-2CBF-5536-6794-01CB8A688E1C}"/>
              </a:ext>
            </a:extLst>
          </p:cNvPr>
          <p:cNvSpPr/>
          <p:nvPr/>
        </p:nvSpPr>
        <p:spPr>
          <a:xfrm>
            <a:off x="5603694" y="390670"/>
            <a:ext cx="133350" cy="120646"/>
          </a:xfrm>
          <a:prstGeom prst="ellipse">
            <a:avLst/>
          </a:prstGeom>
          <a:solidFill>
            <a:srgbClr val="A6CAEC"/>
          </a:solidFill>
          <a:ln>
            <a:solidFill>
              <a:srgbClr val="215F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ABE98E14-D89A-E8FB-F54F-D5346C8105C7}"/>
              </a:ext>
            </a:extLst>
          </p:cNvPr>
          <p:cNvSpPr/>
          <p:nvPr/>
        </p:nvSpPr>
        <p:spPr>
          <a:xfrm>
            <a:off x="7037494" y="390670"/>
            <a:ext cx="133350" cy="120646"/>
          </a:xfrm>
          <a:prstGeom prst="ellipse">
            <a:avLst/>
          </a:prstGeom>
          <a:solidFill>
            <a:srgbClr val="CAEEFB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DED86733-6EC3-1D99-C668-05DA3E3E9AEF}"/>
              </a:ext>
            </a:extLst>
          </p:cNvPr>
          <p:cNvSpPr/>
          <p:nvPr/>
        </p:nvSpPr>
        <p:spPr>
          <a:xfrm>
            <a:off x="6847695" y="390670"/>
            <a:ext cx="133350" cy="120646"/>
          </a:xfrm>
          <a:prstGeom prst="ellipse">
            <a:avLst/>
          </a:prstGeom>
          <a:solidFill>
            <a:srgbClr val="A6CAEC"/>
          </a:solidFill>
          <a:ln>
            <a:solidFill>
              <a:srgbClr val="215F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A8430D2F-2DE6-0D13-01EE-3865FCD9AD1A}"/>
              </a:ext>
            </a:extLst>
          </p:cNvPr>
          <p:cNvSpPr/>
          <p:nvPr/>
        </p:nvSpPr>
        <p:spPr>
          <a:xfrm>
            <a:off x="8265815" y="390670"/>
            <a:ext cx="133350" cy="120646"/>
          </a:xfrm>
          <a:prstGeom prst="ellipse">
            <a:avLst/>
          </a:prstGeom>
          <a:solidFill>
            <a:srgbClr val="CAEEFB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642BA148-9738-257F-5BB9-D5E4B061DEE0}"/>
              </a:ext>
            </a:extLst>
          </p:cNvPr>
          <p:cNvSpPr/>
          <p:nvPr/>
        </p:nvSpPr>
        <p:spPr>
          <a:xfrm>
            <a:off x="8446438" y="390670"/>
            <a:ext cx="133350" cy="12064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CC841A46-7856-5AED-5E82-CB7191F65106}"/>
              </a:ext>
            </a:extLst>
          </p:cNvPr>
          <p:cNvSpPr/>
          <p:nvPr/>
        </p:nvSpPr>
        <p:spPr>
          <a:xfrm>
            <a:off x="9686222" y="390670"/>
            <a:ext cx="133350" cy="12064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1949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502</Words>
  <Application>Microsoft Office PowerPoint</Application>
  <PresentationFormat>Widescreen</PresentationFormat>
  <Paragraphs>167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Gonzalo Robles Criado</dc:creator>
  <cp:lastModifiedBy>Gonzalo Robles Criado</cp:lastModifiedBy>
  <cp:revision>13</cp:revision>
  <dcterms:created xsi:type="dcterms:W3CDTF">2025-09-28T13:54:23Z</dcterms:created>
  <dcterms:modified xsi:type="dcterms:W3CDTF">2026-06-23T20:59:02Z</dcterms:modified>
</cp:coreProperties>
</file>