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258" r:id="rId3"/>
    <p:sldId id="259" r:id="rId4"/>
    <p:sldId id="260" r:id="rId5"/>
  </p:sldIdLst>
  <p:sldSz cx="1440021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5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  <a:srgbClr val="F4A460"/>
    <a:srgbClr val="8B4614"/>
    <a:srgbClr val="05038B"/>
    <a:srgbClr val="6495ED"/>
    <a:srgbClr val="215F9A"/>
    <a:srgbClr val="A6CAEC"/>
    <a:srgbClr val="CAEEFB"/>
    <a:srgbClr val="CBCB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864" y="148"/>
      </p:cViewPr>
      <p:guideLst>
        <p:guide orient="horz" pos="2160"/>
        <p:guide pos="45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AD191-481F-47CD-BB31-6284BAB9F5F2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913" y="1143000"/>
            <a:ext cx="64801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75E58-B779-47B9-B424-789E2006D5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5036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88913" y="1143000"/>
            <a:ext cx="648017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Z = final </a:t>
            </a:r>
            <a:r>
              <a:rPr lang="es-ES" dirty="0" err="1"/>
              <a:t>embedding</a:t>
            </a:r>
            <a:endParaRPr lang="es-ES" dirty="0"/>
          </a:p>
          <a:p>
            <a:r>
              <a:rPr lang="es-ES" dirty="0"/>
              <a:t>E(t1)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tokenization</a:t>
            </a:r>
            <a:r>
              <a:rPr lang="es-ES" dirty="0"/>
              <a:t> step,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learned</a:t>
            </a:r>
            <a:r>
              <a:rPr lang="es-ES" dirty="0"/>
              <a:t> </a:t>
            </a:r>
            <a:r>
              <a:rPr lang="es-ES" dirty="0" err="1"/>
              <a:t>tokenizer</a:t>
            </a:r>
            <a:endParaRPr lang="es-ES" dirty="0"/>
          </a:p>
          <a:p>
            <a:r>
              <a:rPr lang="es-ES" dirty="0" err="1"/>
              <a:t>fO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embedder</a:t>
            </a:r>
            <a:endParaRPr lang="es-ES" dirty="0"/>
          </a:p>
          <a:p>
            <a:r>
              <a:rPr lang="es-ES" dirty="0"/>
              <a:t>X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matrix</a:t>
            </a:r>
            <a:r>
              <a:rPr lang="es-ES" dirty="0"/>
              <a:t> </a:t>
            </a:r>
            <a:r>
              <a:rPr lang="es-ES" dirty="0" err="1"/>
              <a:t>resulting</a:t>
            </a:r>
            <a:r>
              <a:rPr lang="es-ES" dirty="0"/>
              <a:t> </a:t>
            </a:r>
            <a:r>
              <a:rPr lang="es-ES" dirty="0" err="1"/>
              <a:t>form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tokenizer</a:t>
            </a:r>
            <a:r>
              <a:rPr lang="es-ES" dirty="0"/>
              <a:t> step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introducing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ibuprofen</a:t>
            </a:r>
            <a:r>
              <a:rPr lang="es-ES" dirty="0"/>
              <a:t> SMILES</a:t>
            </a:r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1BA27C-3EF0-485A-B33F-5876D132EE7E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2076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0027" y="1122363"/>
            <a:ext cx="1080016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3602038"/>
            <a:ext cx="1080016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E70CD-0C52-4877-95B4-2234339B47C2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70CE-73B2-4AAD-9DDD-8685C793EF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5364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E70CD-0C52-4877-95B4-2234339B47C2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70CE-73B2-4AAD-9DDD-8685C793EF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4172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4" y="1709739"/>
            <a:ext cx="12420184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4" y="4589464"/>
            <a:ext cx="1242018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E70CD-0C52-4877-95B4-2234339B47C2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70CE-73B2-4AAD-9DDD-8685C793EF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274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1825625"/>
            <a:ext cx="6120091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1825625"/>
            <a:ext cx="6120091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E70CD-0C52-4877-95B4-2234339B47C2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70CE-73B2-4AAD-9DDD-8685C793EF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9769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365126"/>
            <a:ext cx="12420184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1" y="1681163"/>
            <a:ext cx="60919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1" y="2505075"/>
            <a:ext cx="6091965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8" y="1681163"/>
            <a:ext cx="612196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8" y="2505075"/>
            <a:ext cx="6121966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E70CD-0C52-4877-95B4-2234339B47C2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70CE-73B2-4AAD-9DDD-8685C793EF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595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E70CD-0C52-4877-95B4-2234339B47C2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70CE-73B2-4AAD-9DDD-8685C793EF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9549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E70CD-0C52-4877-95B4-2234339B47C2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70CE-73B2-4AAD-9DDD-8685C793EF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8215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457200"/>
            <a:ext cx="46444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987426"/>
            <a:ext cx="729010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057400"/>
            <a:ext cx="46444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E70CD-0C52-4877-95B4-2234339B47C2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70CE-73B2-4AAD-9DDD-8685C793EF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2430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457200"/>
            <a:ext cx="46444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987426"/>
            <a:ext cx="7290108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057400"/>
            <a:ext cx="46444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E70CD-0C52-4877-95B4-2234339B47C2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70CE-73B2-4AAD-9DDD-8685C793EF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7643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E70CD-0C52-4877-95B4-2234339B47C2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70CE-73B2-4AAD-9DDD-8685C793EF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2196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2" y="365125"/>
            <a:ext cx="3105046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365125"/>
            <a:ext cx="913513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E70CD-0C52-4877-95B4-2234339B47C2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70CE-73B2-4AAD-9DDD-8685C793EF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1137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365126"/>
            <a:ext cx="1242018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1825625"/>
            <a:ext cx="1242018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6356351"/>
            <a:ext cx="3240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EE70CD-0C52-4877-95B4-2234339B47C2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6356351"/>
            <a:ext cx="4860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6356351"/>
            <a:ext cx="3240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6A70CE-73B2-4AAD-9DDD-8685C793EF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5443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B2617A1-A279-75EA-817D-CB193DC569B4}"/>
              </a:ext>
            </a:extLst>
          </p:cNvPr>
          <p:cNvGrpSpPr/>
          <p:nvPr/>
        </p:nvGrpSpPr>
        <p:grpSpPr>
          <a:xfrm>
            <a:off x="2895328" y="322548"/>
            <a:ext cx="7252570" cy="6212909"/>
            <a:chOff x="1791222" y="322545"/>
            <a:chExt cx="7252570" cy="621290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C1FE2B1-A5AF-6C45-8711-A42E0690A0E5}"/>
                </a:ext>
              </a:extLst>
            </p:cNvPr>
            <p:cNvSpPr/>
            <p:nvPr/>
          </p:nvSpPr>
          <p:spPr>
            <a:xfrm>
              <a:off x="1791222" y="322545"/>
              <a:ext cx="7252570" cy="6212909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5715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7F261C4-C722-8F5F-DA21-F8B2D7040F69}"/>
                </a:ext>
              </a:extLst>
            </p:cNvPr>
            <p:cNvSpPr/>
            <p:nvPr/>
          </p:nvSpPr>
          <p:spPr>
            <a:xfrm>
              <a:off x="2411259" y="1823580"/>
              <a:ext cx="3081403" cy="292378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571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1C36C44-68E0-3016-3C36-0BCA44EB28C3}"/>
                </a:ext>
              </a:extLst>
            </p:cNvPr>
            <p:cNvSpPr txBox="1"/>
            <p:nvPr/>
          </p:nvSpPr>
          <p:spPr>
            <a:xfrm>
              <a:off x="3951961" y="494726"/>
              <a:ext cx="2793304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 err="1">
                  <a:solidFill>
                    <a:schemeClr val="accent2">
                      <a:lumMod val="50000"/>
                    </a:schemeClr>
                  </a:solidFill>
                </a:rPr>
                <a:t>Hepatocyte</a:t>
              </a:r>
              <a:endParaRPr lang="es-ES" sz="2400" b="1" dirty="0">
                <a:solidFill>
                  <a:schemeClr val="accent2">
                    <a:lumMod val="50000"/>
                  </a:schemeClr>
                </a:solidFill>
              </a:endParaRPr>
            </a:p>
            <a:p>
              <a:pPr algn="ctr"/>
              <a:r>
                <a:rPr lang="es-ES" sz="2400" dirty="0">
                  <a:solidFill>
                    <a:schemeClr val="accent2">
                      <a:lumMod val="50000"/>
                    </a:schemeClr>
                  </a:solidFill>
                </a:rPr>
                <a:t>(</a:t>
              </a:r>
              <a:r>
                <a:rPr lang="es-ES" sz="2400" dirty="0" err="1">
                  <a:solidFill>
                    <a:schemeClr val="accent2">
                      <a:lumMod val="50000"/>
                    </a:schemeClr>
                  </a:solidFill>
                </a:rPr>
                <a:t>Liver</a:t>
              </a:r>
              <a:r>
                <a:rPr lang="es-ES" sz="2400" dirty="0">
                  <a:solidFill>
                    <a:schemeClr val="accent2">
                      <a:lumMod val="50000"/>
                    </a:schemeClr>
                  </a:solidFill>
                </a:rPr>
                <a:t> </a:t>
              </a:r>
              <a:r>
                <a:rPr lang="es-ES" sz="2400" dirty="0" err="1">
                  <a:solidFill>
                    <a:schemeClr val="accent2">
                      <a:lumMod val="50000"/>
                    </a:schemeClr>
                  </a:solidFill>
                </a:rPr>
                <a:t>cell</a:t>
              </a:r>
              <a:r>
                <a:rPr lang="es-ES" sz="2400" dirty="0">
                  <a:solidFill>
                    <a:schemeClr val="accent2">
                      <a:lumMod val="50000"/>
                    </a:schemeClr>
                  </a:solidFill>
                </a:rPr>
                <a:t>)</a:t>
              </a:r>
              <a:endParaRPr lang="en-GB" sz="2400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5C2BBBA-8F46-7D90-AB27-85641718B0EE}"/>
                </a:ext>
              </a:extLst>
            </p:cNvPr>
            <p:cNvSpPr txBox="1"/>
            <p:nvPr/>
          </p:nvSpPr>
          <p:spPr>
            <a:xfrm>
              <a:off x="2555308" y="1988936"/>
              <a:ext cx="2793304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 err="1">
                  <a:solidFill>
                    <a:schemeClr val="tx2"/>
                  </a:solidFill>
                </a:rPr>
                <a:t>Lisosome</a:t>
              </a:r>
              <a:endParaRPr lang="es-ES" sz="24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47CF2C9-6A35-C295-C833-7C2B03CA51E6}"/>
              </a:ext>
            </a:extLst>
          </p:cNvPr>
          <p:cNvGrpSpPr/>
          <p:nvPr/>
        </p:nvGrpSpPr>
        <p:grpSpPr>
          <a:xfrm>
            <a:off x="3659414" y="2773654"/>
            <a:ext cx="2873800" cy="1310691"/>
            <a:chOff x="2458522" y="2890381"/>
            <a:chExt cx="2873800" cy="1310691"/>
          </a:xfrm>
        </p:grpSpPr>
        <p:sp>
          <p:nvSpPr>
            <p:cNvPr id="8" name="Pentagon 7">
              <a:extLst>
                <a:ext uri="{FF2B5EF4-FFF2-40B4-BE49-F238E27FC236}">
                  <a16:creationId xmlns:a16="http://schemas.microsoft.com/office/drawing/2014/main" id="{BC574A13-B895-BAD9-D2FB-80F95917760C}"/>
                </a:ext>
              </a:extLst>
            </p:cNvPr>
            <p:cNvSpPr/>
            <p:nvPr/>
          </p:nvSpPr>
          <p:spPr>
            <a:xfrm>
              <a:off x="2705621" y="2890381"/>
              <a:ext cx="463464" cy="461666"/>
            </a:xfrm>
            <a:prstGeom prst="pentagon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70009F5-A280-E45B-E5AB-0B5C88D81D85}"/>
                </a:ext>
              </a:extLst>
            </p:cNvPr>
            <p:cNvCxnSpPr/>
            <p:nvPr/>
          </p:nvCxnSpPr>
          <p:spPr>
            <a:xfrm>
              <a:off x="3331923" y="3156559"/>
              <a:ext cx="90187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Partial Circle 11">
              <a:extLst>
                <a:ext uri="{FF2B5EF4-FFF2-40B4-BE49-F238E27FC236}">
                  <a16:creationId xmlns:a16="http://schemas.microsoft.com/office/drawing/2014/main" id="{C5048ACF-B25F-A051-4BF7-4D7FB325ABCE}"/>
                </a:ext>
              </a:extLst>
            </p:cNvPr>
            <p:cNvSpPr/>
            <p:nvPr/>
          </p:nvSpPr>
          <p:spPr>
            <a:xfrm rot="2707551">
              <a:off x="3532260" y="3294356"/>
              <a:ext cx="529963" cy="550554"/>
            </a:xfrm>
            <a:prstGeom prst="pi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5C56CDC-58B8-970A-64FD-4943E09BBD39}"/>
                </a:ext>
              </a:extLst>
            </p:cNvPr>
            <p:cNvSpPr txBox="1"/>
            <p:nvPr/>
          </p:nvSpPr>
          <p:spPr>
            <a:xfrm>
              <a:off x="2458522" y="3352047"/>
              <a:ext cx="920663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dirty="0" err="1"/>
                <a:t>Drug</a:t>
              </a:r>
              <a:endParaRPr lang="es-ES" sz="16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4F706AF-5AA8-5A8E-20D2-9A259062D338}"/>
                </a:ext>
              </a:extLst>
            </p:cNvPr>
            <p:cNvSpPr txBox="1"/>
            <p:nvPr/>
          </p:nvSpPr>
          <p:spPr>
            <a:xfrm>
              <a:off x="3322528" y="3862518"/>
              <a:ext cx="920663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b="1" dirty="0"/>
                <a:t>CYP450</a:t>
              </a:r>
            </a:p>
          </p:txBody>
        </p:sp>
        <p:sp>
          <p:nvSpPr>
            <p:cNvPr id="15" name="Star: 7 Points 14">
              <a:extLst>
                <a:ext uri="{FF2B5EF4-FFF2-40B4-BE49-F238E27FC236}">
                  <a16:creationId xmlns:a16="http://schemas.microsoft.com/office/drawing/2014/main" id="{5AB508EC-8D71-3F45-5A0D-9E2204FCA91A}"/>
                </a:ext>
              </a:extLst>
            </p:cNvPr>
            <p:cNvSpPr/>
            <p:nvPr/>
          </p:nvSpPr>
          <p:spPr>
            <a:xfrm>
              <a:off x="4479918" y="2890381"/>
              <a:ext cx="463464" cy="538614"/>
            </a:xfrm>
            <a:prstGeom prst="star7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BDE973F-D331-D2DD-3895-363D3BD28771}"/>
                </a:ext>
              </a:extLst>
            </p:cNvPr>
            <p:cNvSpPr txBox="1"/>
            <p:nvPr/>
          </p:nvSpPr>
          <p:spPr>
            <a:xfrm>
              <a:off x="4090978" y="3485140"/>
              <a:ext cx="1241344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dirty="0" err="1"/>
                <a:t>Metabolite</a:t>
              </a:r>
              <a:endParaRPr lang="es-ES" sz="1600" dirty="0"/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3274D3-4C8D-709B-F7C5-405CCC1D5994}"/>
              </a:ext>
            </a:extLst>
          </p:cNvPr>
          <p:cNvCxnSpPr/>
          <p:nvPr/>
        </p:nvCxnSpPr>
        <p:spPr>
          <a:xfrm>
            <a:off x="6298233" y="3070901"/>
            <a:ext cx="9018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BF982EC-A022-5DCF-4C63-A69894319D37}"/>
              </a:ext>
            </a:extLst>
          </p:cNvPr>
          <p:cNvSpPr txBox="1"/>
          <p:nvPr/>
        </p:nvSpPr>
        <p:spPr>
          <a:xfrm>
            <a:off x="3659414" y="4829721"/>
            <a:ext cx="2793304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err="1"/>
              <a:t>Phase</a:t>
            </a:r>
            <a:r>
              <a:rPr lang="es-ES" sz="2000" b="1" dirty="0"/>
              <a:t> I </a:t>
            </a:r>
            <a:r>
              <a:rPr lang="es-ES" sz="2000" b="1" dirty="0" err="1"/>
              <a:t>Reaction</a:t>
            </a:r>
            <a:endParaRPr lang="es-ES" sz="2000" b="1" dirty="0"/>
          </a:p>
          <a:p>
            <a:pPr algn="ctr"/>
            <a:r>
              <a:rPr lang="es-ES" sz="2000" dirty="0"/>
              <a:t>(</a:t>
            </a:r>
            <a:r>
              <a:rPr lang="es-ES" sz="2000" dirty="0" err="1"/>
              <a:t>e.g</a:t>
            </a:r>
            <a:r>
              <a:rPr lang="es-ES" sz="2000" dirty="0"/>
              <a:t>. </a:t>
            </a:r>
            <a:r>
              <a:rPr lang="es-ES" sz="2000" dirty="0" err="1"/>
              <a:t>Oxidation</a:t>
            </a:r>
            <a:r>
              <a:rPr lang="es-ES" sz="2000" dirty="0"/>
              <a:t>)</a:t>
            </a:r>
            <a:endParaRPr lang="en-GB" sz="2000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ED49620-DA31-2674-730F-8C7CD1678527}"/>
              </a:ext>
            </a:extLst>
          </p:cNvPr>
          <p:cNvGrpSpPr/>
          <p:nvPr/>
        </p:nvGrpSpPr>
        <p:grpSpPr>
          <a:xfrm>
            <a:off x="7117147" y="2760392"/>
            <a:ext cx="3284115" cy="2838597"/>
            <a:chOff x="6096000" y="2709524"/>
            <a:chExt cx="3284115" cy="2838597"/>
          </a:xfrm>
        </p:grpSpPr>
        <p:sp>
          <p:nvSpPr>
            <p:cNvPr id="20" name="Star: 7 Points 19">
              <a:extLst>
                <a:ext uri="{FF2B5EF4-FFF2-40B4-BE49-F238E27FC236}">
                  <a16:creationId xmlns:a16="http://schemas.microsoft.com/office/drawing/2014/main" id="{8AB06384-E948-058A-4E19-9F89D3571F91}"/>
                </a:ext>
              </a:extLst>
            </p:cNvPr>
            <p:cNvSpPr/>
            <p:nvPr/>
          </p:nvSpPr>
          <p:spPr>
            <a:xfrm>
              <a:off x="6380758" y="2773653"/>
              <a:ext cx="463464" cy="538614"/>
            </a:xfrm>
            <a:prstGeom prst="star7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E55AC96-1703-958D-8283-57FF5A67A5F0}"/>
                </a:ext>
              </a:extLst>
            </p:cNvPr>
            <p:cNvCxnSpPr>
              <a:cxnSpLocks/>
            </p:cNvCxnSpPr>
            <p:nvPr/>
          </p:nvCxnSpPr>
          <p:spPr>
            <a:xfrm>
              <a:off x="6630027" y="3428999"/>
              <a:ext cx="0" cy="86742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Cloud 34">
              <a:extLst>
                <a:ext uri="{FF2B5EF4-FFF2-40B4-BE49-F238E27FC236}">
                  <a16:creationId xmlns:a16="http://schemas.microsoft.com/office/drawing/2014/main" id="{7A319016-A5E1-9837-8476-82402D6B31AA}"/>
                </a:ext>
              </a:extLst>
            </p:cNvPr>
            <p:cNvSpPr/>
            <p:nvPr/>
          </p:nvSpPr>
          <p:spPr>
            <a:xfrm>
              <a:off x="6913443" y="3573873"/>
              <a:ext cx="853937" cy="500732"/>
            </a:xfrm>
            <a:prstGeom prst="clou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Star: 7 Points 35">
              <a:extLst>
                <a:ext uri="{FF2B5EF4-FFF2-40B4-BE49-F238E27FC236}">
                  <a16:creationId xmlns:a16="http://schemas.microsoft.com/office/drawing/2014/main" id="{3C83B1B8-8D89-A55D-2856-0754B7030AB0}"/>
                </a:ext>
              </a:extLst>
            </p:cNvPr>
            <p:cNvSpPr/>
            <p:nvPr/>
          </p:nvSpPr>
          <p:spPr>
            <a:xfrm>
              <a:off x="6256748" y="4385246"/>
              <a:ext cx="463464" cy="538614"/>
            </a:xfrm>
            <a:prstGeom prst="star7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Flowchart: Decision 38">
              <a:extLst>
                <a:ext uri="{FF2B5EF4-FFF2-40B4-BE49-F238E27FC236}">
                  <a16:creationId xmlns:a16="http://schemas.microsoft.com/office/drawing/2014/main" id="{533DB632-2EF7-255D-3BC2-A6A7FC25F55F}"/>
                </a:ext>
              </a:extLst>
            </p:cNvPr>
            <p:cNvSpPr/>
            <p:nvPr/>
          </p:nvSpPr>
          <p:spPr>
            <a:xfrm>
              <a:off x="6856901" y="4632362"/>
              <a:ext cx="414457" cy="222247"/>
            </a:xfrm>
            <a:prstGeom prst="flowChartDecision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BE4CE6D-C970-FBE5-874B-35AB269619AA}"/>
                </a:ext>
              </a:extLst>
            </p:cNvPr>
            <p:cNvCxnSpPr/>
            <p:nvPr/>
          </p:nvCxnSpPr>
          <p:spPr>
            <a:xfrm flipH="1" flipV="1">
              <a:off x="6586811" y="4685039"/>
              <a:ext cx="408348" cy="82358"/>
            </a:xfrm>
            <a:prstGeom prst="line">
              <a:avLst/>
            </a:prstGeom>
            <a:ln w="38100">
              <a:solidFill>
                <a:schemeClr val="accent3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36E49B1-6555-AE8C-2E62-92FF36D3DB28}"/>
                </a:ext>
              </a:extLst>
            </p:cNvPr>
            <p:cNvSpPr txBox="1"/>
            <p:nvPr/>
          </p:nvSpPr>
          <p:spPr>
            <a:xfrm>
              <a:off x="6096000" y="4963346"/>
              <a:ext cx="1241344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dirty="0" err="1"/>
                <a:t>Conjugated</a:t>
              </a:r>
              <a:r>
                <a:rPr lang="es-ES" sz="1600" dirty="0"/>
                <a:t> </a:t>
              </a:r>
              <a:r>
                <a:rPr lang="es-ES" sz="1600" dirty="0" err="1"/>
                <a:t>Metabolite</a:t>
              </a:r>
              <a:endParaRPr lang="es-ES" sz="160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3184D66-CB54-DA3D-23B9-2DC99F55C7ED}"/>
                </a:ext>
              </a:extLst>
            </p:cNvPr>
            <p:cNvSpPr txBox="1"/>
            <p:nvPr/>
          </p:nvSpPr>
          <p:spPr>
            <a:xfrm>
              <a:off x="6586811" y="2709524"/>
              <a:ext cx="2793304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*</a:t>
              </a:r>
              <a:r>
                <a:rPr lang="es-ES" sz="2000" b="1" dirty="0" err="1"/>
                <a:t>Phase</a:t>
              </a:r>
              <a:r>
                <a:rPr lang="es-ES" sz="2000" b="1" dirty="0"/>
                <a:t> II </a:t>
              </a:r>
              <a:r>
                <a:rPr lang="es-ES" sz="2000" b="1" dirty="0" err="1"/>
                <a:t>Reaction</a:t>
              </a:r>
              <a:endParaRPr lang="es-ES" sz="2000" b="1" dirty="0"/>
            </a:p>
            <a:p>
              <a:pPr algn="ctr"/>
              <a:r>
                <a:rPr lang="es-ES" sz="2000" dirty="0"/>
                <a:t>(</a:t>
              </a:r>
              <a:r>
                <a:rPr lang="es-ES" sz="2000" dirty="0" err="1"/>
                <a:t>Conjugation</a:t>
              </a:r>
              <a:r>
                <a:rPr lang="es-ES" sz="2000" dirty="0"/>
                <a:t>)</a:t>
              </a:r>
              <a:endParaRPr lang="en-GB" sz="2000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2053484-71AC-9C16-0A34-7C67B0FBD2D1}"/>
              </a:ext>
            </a:extLst>
          </p:cNvPr>
          <p:cNvGrpSpPr/>
          <p:nvPr/>
        </p:nvGrpSpPr>
        <p:grpSpPr>
          <a:xfrm>
            <a:off x="8035719" y="4399293"/>
            <a:ext cx="2793304" cy="418969"/>
            <a:chOff x="6931612" y="4399293"/>
            <a:chExt cx="2793304" cy="418969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41642A36-1071-F942-A7EA-A3F55F98F2B5}"/>
                </a:ext>
              </a:extLst>
            </p:cNvPr>
            <p:cNvCxnSpPr>
              <a:cxnSpLocks/>
            </p:cNvCxnSpPr>
            <p:nvPr/>
          </p:nvCxnSpPr>
          <p:spPr>
            <a:xfrm>
              <a:off x="7438372" y="4818262"/>
              <a:ext cx="1858781" cy="0"/>
            </a:xfrm>
            <a:prstGeom prst="straightConnector1">
              <a:avLst/>
            </a:prstGeom>
            <a:ln w="381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D47F540-D077-5F9E-7ABB-5FA3A949686B}"/>
                </a:ext>
              </a:extLst>
            </p:cNvPr>
            <p:cNvSpPr txBox="1"/>
            <p:nvPr/>
          </p:nvSpPr>
          <p:spPr>
            <a:xfrm>
              <a:off x="6931612" y="4399293"/>
              <a:ext cx="2793304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dirty="0" err="1">
                  <a:solidFill>
                    <a:schemeClr val="bg2">
                      <a:lumMod val="25000"/>
                    </a:schemeClr>
                  </a:solidFill>
                </a:rPr>
                <a:t>Elimination</a:t>
              </a:r>
              <a:endParaRPr lang="en-GB" sz="20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sp>
        <p:nvSpPr>
          <p:cNvPr id="48" name="Flowchart: Decision 47">
            <a:extLst>
              <a:ext uri="{FF2B5EF4-FFF2-40B4-BE49-F238E27FC236}">
                <a16:creationId xmlns:a16="http://schemas.microsoft.com/office/drawing/2014/main" id="{8F238B57-1635-AE58-B3BA-BFBEFDF715CB}"/>
              </a:ext>
            </a:extLst>
          </p:cNvPr>
          <p:cNvSpPr/>
          <p:nvPr/>
        </p:nvSpPr>
        <p:spPr>
          <a:xfrm>
            <a:off x="7849373" y="3820311"/>
            <a:ext cx="414457" cy="222247"/>
          </a:xfrm>
          <a:prstGeom prst="flowChartDecisio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FAB1A65-7190-E6C3-4020-36F532B1D31E}"/>
              </a:ext>
            </a:extLst>
          </p:cNvPr>
          <p:cNvGrpSpPr/>
          <p:nvPr/>
        </p:nvGrpSpPr>
        <p:grpSpPr>
          <a:xfrm>
            <a:off x="1356817" y="2655054"/>
            <a:ext cx="2793304" cy="418969"/>
            <a:chOff x="6931612" y="4399293"/>
            <a:chExt cx="2793304" cy="418969"/>
          </a:xfrm>
        </p:grpSpPr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141D195C-E206-9950-DE44-D09C2D55963F}"/>
                </a:ext>
              </a:extLst>
            </p:cNvPr>
            <p:cNvCxnSpPr>
              <a:cxnSpLocks/>
            </p:cNvCxnSpPr>
            <p:nvPr/>
          </p:nvCxnSpPr>
          <p:spPr>
            <a:xfrm>
              <a:off x="7438372" y="4818262"/>
              <a:ext cx="1858781" cy="0"/>
            </a:xfrm>
            <a:prstGeom prst="straightConnector1">
              <a:avLst/>
            </a:prstGeom>
            <a:ln w="381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529F818-126E-C025-F448-EF260EA0662F}"/>
                </a:ext>
              </a:extLst>
            </p:cNvPr>
            <p:cNvSpPr txBox="1"/>
            <p:nvPr/>
          </p:nvSpPr>
          <p:spPr>
            <a:xfrm>
              <a:off x="6931612" y="4399293"/>
              <a:ext cx="2793304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dirty="0" err="1">
                  <a:solidFill>
                    <a:schemeClr val="bg2">
                      <a:lumMod val="25000"/>
                    </a:schemeClr>
                  </a:solidFill>
                </a:rPr>
                <a:t>Distribution</a:t>
              </a:r>
              <a:endParaRPr lang="en-GB" sz="20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8560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2" name="Grupo 1061">
            <a:extLst>
              <a:ext uri="{FF2B5EF4-FFF2-40B4-BE49-F238E27FC236}">
                <a16:creationId xmlns:a16="http://schemas.microsoft.com/office/drawing/2014/main" id="{DC3009EC-AA9C-83AA-33E4-6D8E204F63A8}"/>
              </a:ext>
            </a:extLst>
          </p:cNvPr>
          <p:cNvGrpSpPr/>
          <p:nvPr/>
        </p:nvGrpSpPr>
        <p:grpSpPr>
          <a:xfrm>
            <a:off x="3361531" y="235358"/>
            <a:ext cx="7499734" cy="1900727"/>
            <a:chOff x="2257425" y="235356"/>
            <a:chExt cx="7499734" cy="1900727"/>
          </a:xfrm>
        </p:grpSpPr>
        <p:pic>
          <p:nvPicPr>
            <p:cNvPr id="1061" name="Imagen 1060">
              <a:extLst>
                <a:ext uri="{FF2B5EF4-FFF2-40B4-BE49-F238E27FC236}">
                  <a16:creationId xmlns:a16="http://schemas.microsoft.com/office/drawing/2014/main" id="{2DB22FF4-A3DB-78B6-5D09-169E8E930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57425" y="235356"/>
              <a:ext cx="3696886" cy="1848443"/>
            </a:xfrm>
            <a:prstGeom prst="rect">
              <a:avLst/>
            </a:prstGeom>
          </p:spPr>
        </p:pic>
        <p:grpSp>
          <p:nvGrpSpPr>
            <p:cNvPr id="41" name="Grupo 40">
              <a:extLst>
                <a:ext uri="{FF2B5EF4-FFF2-40B4-BE49-F238E27FC236}">
                  <a16:creationId xmlns:a16="http://schemas.microsoft.com/office/drawing/2014/main" id="{A7B94D04-17B5-8EBC-1DCC-B5BDDD4F60AE}"/>
                </a:ext>
              </a:extLst>
            </p:cNvPr>
            <p:cNvGrpSpPr/>
            <p:nvPr/>
          </p:nvGrpSpPr>
          <p:grpSpPr>
            <a:xfrm>
              <a:off x="3495051" y="1082675"/>
              <a:ext cx="6262108" cy="1053408"/>
              <a:chOff x="3495051" y="1082675"/>
              <a:chExt cx="6262108" cy="1053408"/>
            </a:xfrm>
          </p:grpSpPr>
          <p:grpSp>
            <p:nvGrpSpPr>
              <p:cNvPr id="20" name="Grupo 19">
                <a:extLst>
                  <a:ext uri="{FF2B5EF4-FFF2-40B4-BE49-F238E27FC236}">
                    <a16:creationId xmlns:a16="http://schemas.microsoft.com/office/drawing/2014/main" id="{E167B4B8-BDB5-926A-E81C-8A21FD1461E5}"/>
                  </a:ext>
                </a:extLst>
              </p:cNvPr>
              <p:cNvGrpSpPr/>
              <p:nvPr/>
            </p:nvGrpSpPr>
            <p:grpSpPr>
              <a:xfrm>
                <a:off x="5511736" y="1082675"/>
                <a:ext cx="4245423" cy="394031"/>
                <a:chOff x="5511736" y="1061317"/>
                <a:chExt cx="4245423" cy="394031"/>
              </a:xfrm>
            </p:grpSpPr>
            <p:grpSp>
              <p:nvGrpSpPr>
                <p:cNvPr id="19" name="Grupo 18">
                  <a:extLst>
                    <a:ext uri="{FF2B5EF4-FFF2-40B4-BE49-F238E27FC236}">
                      <a16:creationId xmlns:a16="http://schemas.microsoft.com/office/drawing/2014/main" id="{1385188E-EE7F-378A-FCDF-74D42C8FBD89}"/>
                    </a:ext>
                  </a:extLst>
                </p:cNvPr>
                <p:cNvGrpSpPr/>
                <p:nvPr/>
              </p:nvGrpSpPr>
              <p:grpSpPr>
                <a:xfrm>
                  <a:off x="5511736" y="1061317"/>
                  <a:ext cx="1168528" cy="261610"/>
                  <a:chOff x="5551019" y="1024313"/>
                  <a:chExt cx="1168528" cy="261610"/>
                </a:xfrm>
              </p:grpSpPr>
              <p:cxnSp>
                <p:nvCxnSpPr>
                  <p:cNvPr id="9" name="Conector recto de flecha 8">
                    <a:extLst>
                      <a:ext uri="{FF2B5EF4-FFF2-40B4-BE49-F238E27FC236}">
                        <a16:creationId xmlns:a16="http://schemas.microsoft.com/office/drawing/2014/main" id="{D22FA9FB-7FA3-6DBF-73A6-600F81E6C93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587596" y="1249067"/>
                    <a:ext cx="1131951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" name="CuadroTexto 9">
                    <a:extLst>
                      <a:ext uri="{FF2B5EF4-FFF2-40B4-BE49-F238E27FC236}">
                        <a16:creationId xmlns:a16="http://schemas.microsoft.com/office/drawing/2014/main" id="{F575386E-C0BD-8E0A-822E-8DC083E3FDC6}"/>
                      </a:ext>
                    </a:extLst>
                  </p:cNvPr>
                  <p:cNvSpPr txBox="1"/>
                  <p:nvPr/>
                </p:nvSpPr>
                <p:spPr>
                  <a:xfrm>
                    <a:off x="5551019" y="1024313"/>
                    <a:ext cx="1131951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100" b="1" noProof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String encoding </a:t>
                    </a:r>
                  </a:p>
                </p:txBody>
              </p:sp>
            </p:grpSp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994FC89D-8F3A-E6DF-886B-9715B1D8E649}"/>
                    </a:ext>
                  </a:extLst>
                </p:cNvPr>
                <p:cNvSpPr txBox="1"/>
                <p:nvPr/>
              </p:nvSpPr>
              <p:spPr>
                <a:xfrm>
                  <a:off x="6756126" y="1116794"/>
                  <a:ext cx="300103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noProof="1">
                      <a:solidFill>
                        <a:srgbClr val="FF9A25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CC(C)C</a:t>
                  </a:r>
                  <a:r>
                    <a:rPr lang="en-US" sz="1600" b="1" noProof="1">
                      <a:solidFill>
                        <a:srgbClr val="FF0000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C1=CC=C(C=C1)</a:t>
                  </a:r>
                  <a:r>
                    <a:rPr lang="en-US" sz="1600" b="1" noProof="1">
                      <a:solidFill>
                        <a:srgbClr val="FF69B4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C(C)</a:t>
                  </a:r>
                  <a:r>
                    <a:rPr lang="en-US" sz="1600" b="1" noProof="1">
                      <a:solidFill>
                        <a:srgbClr val="8CC253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C(=O)O</a:t>
                  </a:r>
                </a:p>
              </p:txBody>
            </p:sp>
          </p:grpSp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FECC6823-9B0A-6311-5D64-53C52EF4B68A}"/>
                  </a:ext>
                </a:extLst>
              </p:cNvPr>
              <p:cNvSpPr txBox="1"/>
              <p:nvPr/>
            </p:nvSpPr>
            <p:spPr>
              <a:xfrm>
                <a:off x="3495051" y="1828306"/>
                <a:ext cx="1329941" cy="307777"/>
              </a:xfrm>
              <a:prstGeom prst="rect">
                <a:avLst/>
              </a:prstGeom>
              <a:solidFill>
                <a:srgbClr val="FCFCFC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noProof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Ibuprofen</a:t>
                </a:r>
              </a:p>
            </p:txBody>
          </p:sp>
        </p:grpSp>
      </p:grp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41DA9A9A-25EE-2FC8-822A-3632977FE3D0}"/>
              </a:ext>
            </a:extLst>
          </p:cNvPr>
          <p:cNvCxnSpPr>
            <a:cxnSpLocks/>
          </p:cNvCxnSpPr>
          <p:nvPr/>
        </p:nvCxnSpPr>
        <p:spPr>
          <a:xfrm>
            <a:off x="1085817" y="2251531"/>
            <a:ext cx="12192000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6BB3199-A4B3-71B1-628C-C121F5CE7F8E}"/>
              </a:ext>
            </a:extLst>
          </p:cNvPr>
          <p:cNvSpPr txBox="1"/>
          <p:nvPr/>
        </p:nvSpPr>
        <p:spPr>
          <a:xfrm>
            <a:off x="5238765" y="43388"/>
            <a:ext cx="3925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noProof="1"/>
              <a:t>Chemical representation → SMILES</a:t>
            </a:r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8575DC62-F9B7-30CF-228B-67E2616B34B2}"/>
              </a:ext>
            </a:extLst>
          </p:cNvPr>
          <p:cNvCxnSpPr>
            <a:cxnSpLocks/>
          </p:cNvCxnSpPr>
          <p:nvPr/>
        </p:nvCxnSpPr>
        <p:spPr>
          <a:xfrm>
            <a:off x="1091833" y="4534935"/>
            <a:ext cx="12192000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453C512-6DD5-B6F5-66B9-E75E6014876F}"/>
              </a:ext>
            </a:extLst>
          </p:cNvPr>
          <p:cNvSpPr txBox="1"/>
          <p:nvPr/>
        </p:nvSpPr>
        <p:spPr>
          <a:xfrm>
            <a:off x="5277205" y="2308490"/>
            <a:ext cx="3925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noProof="1"/>
              <a:t>SMILES → Morgan Fingerprints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5F57696A-FD26-5FFD-D1B6-9AC79ADAE2CC}"/>
              </a:ext>
            </a:extLst>
          </p:cNvPr>
          <p:cNvSpPr txBox="1"/>
          <p:nvPr/>
        </p:nvSpPr>
        <p:spPr>
          <a:xfrm>
            <a:off x="7746593" y="1444820"/>
            <a:ext cx="3114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SMILES </a:t>
            </a:r>
          </a:p>
          <a:p>
            <a:pPr algn="ctr"/>
            <a:r>
              <a:rPr lang="en-US" sz="1400" b="1" noProof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(linear textual representation)</a:t>
            </a: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6D4E31DC-68BC-C61C-612B-EBBAD7BA97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8054" y="2889126"/>
            <a:ext cx="2785700" cy="1260721"/>
          </a:xfrm>
          <a:prstGeom prst="rect">
            <a:avLst/>
          </a:prstGeom>
        </p:spPr>
      </p:pic>
      <p:sp>
        <p:nvSpPr>
          <p:cNvPr id="36" name="Elipse 35">
            <a:extLst>
              <a:ext uri="{FF2B5EF4-FFF2-40B4-BE49-F238E27FC236}">
                <a16:creationId xmlns:a16="http://schemas.microsoft.com/office/drawing/2014/main" id="{EF4DF477-0A16-CC26-E35B-C7330C3D7F63}"/>
              </a:ext>
            </a:extLst>
          </p:cNvPr>
          <p:cNvSpPr/>
          <p:nvPr/>
        </p:nvSpPr>
        <p:spPr>
          <a:xfrm>
            <a:off x="2940852" y="2752148"/>
            <a:ext cx="1154104" cy="1260722"/>
          </a:xfrm>
          <a:prstGeom prst="ellipse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F9C1D32E-085C-F5FB-357B-F2FC78D633CC}"/>
              </a:ext>
            </a:extLst>
          </p:cNvPr>
          <p:cNvSpPr txBox="1"/>
          <p:nvPr/>
        </p:nvSpPr>
        <p:spPr>
          <a:xfrm>
            <a:off x="1505325" y="2600903"/>
            <a:ext cx="13821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noProof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Select </a:t>
            </a:r>
            <a:r>
              <a:rPr lang="en-US" sz="1100" b="1" noProof="1">
                <a:solidFill>
                  <a:srgbClr val="FF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atom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82FC17F2-5F79-56AD-D857-0B1BCA0061DA}"/>
              </a:ext>
            </a:extLst>
          </p:cNvPr>
          <p:cNvSpPr txBox="1"/>
          <p:nvPr/>
        </p:nvSpPr>
        <p:spPr>
          <a:xfrm>
            <a:off x="3966597" y="2726276"/>
            <a:ext cx="113195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noProof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Check substructures in </a:t>
            </a:r>
            <a:r>
              <a:rPr lang="en-US" sz="1100" b="1" noProof="1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Radius = 3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3A9B3E78-660F-6A75-44F7-4FCC95B12EFF}"/>
              </a:ext>
            </a:extLst>
          </p:cNvPr>
          <p:cNvSpPr txBox="1"/>
          <p:nvPr/>
        </p:nvSpPr>
        <p:spPr>
          <a:xfrm>
            <a:off x="4871281" y="3290061"/>
            <a:ext cx="14200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noProof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Hashing algorithm</a:t>
            </a:r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637A5816-08BD-1C14-DF30-52C557AAF55E}"/>
              </a:ext>
            </a:extLst>
          </p:cNvPr>
          <p:cNvCxnSpPr>
            <a:cxnSpLocks/>
          </p:cNvCxnSpPr>
          <p:nvPr/>
        </p:nvCxnSpPr>
        <p:spPr>
          <a:xfrm>
            <a:off x="4994138" y="3536279"/>
            <a:ext cx="12616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39" name="CuadroTexto 1038">
            <a:extLst>
              <a:ext uri="{FF2B5EF4-FFF2-40B4-BE49-F238E27FC236}">
                <a16:creationId xmlns:a16="http://schemas.microsoft.com/office/drawing/2014/main" id="{C909B4C3-DB09-2160-3E68-DFA47E48305B}"/>
              </a:ext>
            </a:extLst>
          </p:cNvPr>
          <p:cNvSpPr txBox="1"/>
          <p:nvPr/>
        </p:nvSpPr>
        <p:spPr>
          <a:xfrm>
            <a:off x="2955441" y="4007181"/>
            <a:ext cx="13790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noProof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Iterative process for each atom</a:t>
            </a:r>
          </a:p>
        </p:txBody>
      </p:sp>
      <p:sp>
        <p:nvSpPr>
          <p:cNvPr id="1051" name="CuadroTexto 1050">
            <a:extLst>
              <a:ext uri="{FF2B5EF4-FFF2-40B4-BE49-F238E27FC236}">
                <a16:creationId xmlns:a16="http://schemas.microsoft.com/office/drawing/2014/main" id="{422AB256-2016-3AD6-E9F5-7784C184CDEB}"/>
              </a:ext>
            </a:extLst>
          </p:cNvPr>
          <p:cNvSpPr txBox="1"/>
          <p:nvPr/>
        </p:nvSpPr>
        <p:spPr>
          <a:xfrm>
            <a:off x="7646977" y="4111179"/>
            <a:ext cx="3319564" cy="261610"/>
          </a:xfrm>
          <a:prstGeom prst="rect">
            <a:avLst/>
          </a:prstGeom>
          <a:solidFill>
            <a:srgbClr val="9A9A9A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b="1" noProof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ECFP6 = […, 0, </a:t>
            </a:r>
            <a:r>
              <a:rPr lang="en-US" sz="1100" b="1" noProof="1">
                <a:solidFill>
                  <a:srgbClr val="FF66B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US" sz="1100" b="1" noProof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0, 0, </a:t>
            </a:r>
            <a:r>
              <a:rPr lang="en-US" sz="1100" b="1" noProof="1">
                <a:solidFill>
                  <a:srgbClr val="FF9A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sz="1100" b="1" noProof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0, 0, </a:t>
            </a:r>
            <a:r>
              <a:rPr lang="en-US" sz="1100" b="1" noProof="1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100" b="1" noProof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0, 0, </a:t>
            </a:r>
            <a:r>
              <a:rPr lang="en-US" sz="1100" b="1" noProof="1">
                <a:solidFill>
                  <a:srgbClr val="8CC25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100" b="1" noProof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0, 0, </a:t>
            </a:r>
            <a:r>
              <a:rPr lang="en-US" sz="1100" b="1" noProof="1">
                <a:solidFill>
                  <a:srgbClr val="00BBD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US" sz="1100" b="1" noProof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0, 0, ...]</a:t>
            </a:r>
          </a:p>
        </p:txBody>
      </p:sp>
      <p:sp>
        <p:nvSpPr>
          <p:cNvPr id="1052" name="CuadroTexto 1051">
            <a:extLst>
              <a:ext uri="{FF2B5EF4-FFF2-40B4-BE49-F238E27FC236}">
                <a16:creationId xmlns:a16="http://schemas.microsoft.com/office/drawing/2014/main" id="{08BAA5DD-8691-780C-4BEB-2858763872D6}"/>
              </a:ext>
            </a:extLst>
          </p:cNvPr>
          <p:cNvSpPr txBox="1"/>
          <p:nvPr/>
        </p:nvSpPr>
        <p:spPr>
          <a:xfrm>
            <a:off x="11622085" y="2838855"/>
            <a:ext cx="19364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noProof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Fixed length (2048)</a:t>
            </a:r>
          </a:p>
          <a:p>
            <a:r>
              <a:rPr lang="en-US" sz="1100" b="1" noProof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Interpretable </a:t>
            </a:r>
          </a:p>
          <a:p>
            <a:r>
              <a:rPr lang="en-US" sz="1100" b="1" noProof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Sparse (Mostly 0s)</a:t>
            </a:r>
          </a:p>
          <a:p>
            <a:r>
              <a:rPr lang="en-US" sz="1100" b="1" noProof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Discrete (Integers only)</a:t>
            </a:r>
          </a:p>
        </p:txBody>
      </p:sp>
      <p:sp>
        <p:nvSpPr>
          <p:cNvPr id="1054" name="CuadroTexto 1053">
            <a:extLst>
              <a:ext uri="{FF2B5EF4-FFF2-40B4-BE49-F238E27FC236}">
                <a16:creationId xmlns:a16="http://schemas.microsoft.com/office/drawing/2014/main" id="{0C7B6728-3D0B-3871-3716-D024D038983F}"/>
              </a:ext>
            </a:extLst>
          </p:cNvPr>
          <p:cNvSpPr txBox="1"/>
          <p:nvPr/>
        </p:nvSpPr>
        <p:spPr>
          <a:xfrm>
            <a:off x="6190457" y="3804850"/>
            <a:ext cx="318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1"/>
              <a:t>…</a:t>
            </a:r>
          </a:p>
        </p:txBody>
      </p:sp>
      <p:sp>
        <p:nvSpPr>
          <p:cNvPr id="1055" name="CuadroTexto 1054">
            <a:extLst>
              <a:ext uri="{FF2B5EF4-FFF2-40B4-BE49-F238E27FC236}">
                <a16:creationId xmlns:a16="http://schemas.microsoft.com/office/drawing/2014/main" id="{F020B35C-4ED7-4D4A-2245-9DE7728CCCD7}"/>
              </a:ext>
            </a:extLst>
          </p:cNvPr>
          <p:cNvSpPr txBox="1"/>
          <p:nvPr/>
        </p:nvSpPr>
        <p:spPr>
          <a:xfrm>
            <a:off x="11826507" y="3804850"/>
            <a:ext cx="318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1"/>
              <a:t>…</a:t>
            </a:r>
          </a:p>
        </p:txBody>
      </p:sp>
      <p:sp>
        <p:nvSpPr>
          <p:cNvPr id="1057" name="CuadroTexto 1056">
            <a:extLst>
              <a:ext uri="{FF2B5EF4-FFF2-40B4-BE49-F238E27FC236}">
                <a16:creationId xmlns:a16="http://schemas.microsoft.com/office/drawing/2014/main" id="{74DC6ABE-02ED-E9C0-7DEA-7056450D0938}"/>
              </a:ext>
            </a:extLst>
          </p:cNvPr>
          <p:cNvSpPr txBox="1"/>
          <p:nvPr/>
        </p:nvSpPr>
        <p:spPr>
          <a:xfrm>
            <a:off x="5255668" y="4601513"/>
            <a:ext cx="3925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noProof="1"/>
              <a:t>SMILES → Neural Embedding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6F03835C-1AE9-A30F-2565-A76FABE9F554}"/>
              </a:ext>
            </a:extLst>
          </p:cNvPr>
          <p:cNvGrpSpPr/>
          <p:nvPr/>
        </p:nvGrpSpPr>
        <p:grpSpPr>
          <a:xfrm>
            <a:off x="1623902" y="5130923"/>
            <a:ext cx="1665429" cy="1225578"/>
            <a:chOff x="392333" y="5187995"/>
            <a:chExt cx="1665429" cy="1225578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7133E526-6554-A0B4-9013-1420CE0C4D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2353" y="5238273"/>
              <a:ext cx="1565388" cy="1125022"/>
            </a:xfrm>
            <a:prstGeom prst="rect">
              <a:avLst/>
            </a:prstGeom>
          </p:spPr>
        </p:pic>
        <p:sp>
          <p:nvSpPr>
            <p:cNvPr id="4" name="Rectángulo: esquinas redondeadas 3">
              <a:extLst>
                <a:ext uri="{FF2B5EF4-FFF2-40B4-BE49-F238E27FC236}">
                  <a16:creationId xmlns:a16="http://schemas.microsoft.com/office/drawing/2014/main" id="{666C8195-F7A6-7FB8-0417-ED469BE7C332}"/>
                </a:ext>
              </a:extLst>
            </p:cNvPr>
            <p:cNvSpPr/>
            <p:nvPr/>
          </p:nvSpPr>
          <p:spPr>
            <a:xfrm>
              <a:off x="392333" y="5187995"/>
              <a:ext cx="1665429" cy="122557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1"/>
            </a:p>
          </p:txBody>
        </p: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A3593480-D2E9-9E32-3655-C4B92FBC82D1}"/>
              </a:ext>
            </a:extLst>
          </p:cNvPr>
          <p:cNvSpPr txBox="1"/>
          <p:nvPr/>
        </p:nvSpPr>
        <p:spPr>
          <a:xfrm>
            <a:off x="1825788" y="6319000"/>
            <a:ext cx="12616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noProof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Large chemical db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86F06E1-519C-2534-70F3-A9A0C4D8C9E7}"/>
              </a:ext>
            </a:extLst>
          </p:cNvPr>
          <p:cNvSpPr txBox="1"/>
          <p:nvPr/>
        </p:nvSpPr>
        <p:spPr>
          <a:xfrm>
            <a:off x="3325642" y="5402013"/>
            <a:ext cx="1261654" cy="573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100" b="1" noProof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Representation learning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D996592F-04BF-1057-63AD-12576F18153D}"/>
              </a:ext>
            </a:extLst>
          </p:cNvPr>
          <p:cNvCxnSpPr>
            <a:cxnSpLocks/>
          </p:cNvCxnSpPr>
          <p:nvPr/>
        </p:nvCxnSpPr>
        <p:spPr>
          <a:xfrm>
            <a:off x="3364108" y="5730981"/>
            <a:ext cx="12616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069" name="Grupo 1068">
            <a:extLst>
              <a:ext uri="{FF2B5EF4-FFF2-40B4-BE49-F238E27FC236}">
                <a16:creationId xmlns:a16="http://schemas.microsoft.com/office/drawing/2014/main" id="{2D803080-2D22-61C3-6B40-4FB518EBAE14}"/>
              </a:ext>
            </a:extLst>
          </p:cNvPr>
          <p:cNvGrpSpPr/>
          <p:nvPr/>
        </p:nvGrpSpPr>
        <p:grpSpPr>
          <a:xfrm flipH="1">
            <a:off x="5829840" y="5737387"/>
            <a:ext cx="1944183" cy="1391162"/>
            <a:chOff x="6105440" y="5672578"/>
            <a:chExt cx="1944183" cy="1391162"/>
          </a:xfrm>
        </p:grpSpPr>
        <p:cxnSp>
          <p:nvCxnSpPr>
            <p:cNvPr id="1033" name="Conector recto de flecha 1032">
              <a:extLst>
                <a:ext uri="{FF2B5EF4-FFF2-40B4-BE49-F238E27FC236}">
                  <a16:creationId xmlns:a16="http://schemas.microsoft.com/office/drawing/2014/main" id="{280527BD-4A85-6C64-DA4E-49C5BB2654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5440" y="5672578"/>
              <a:ext cx="19441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38" name="Arco 1037">
              <a:extLst>
                <a:ext uri="{FF2B5EF4-FFF2-40B4-BE49-F238E27FC236}">
                  <a16:creationId xmlns:a16="http://schemas.microsoft.com/office/drawing/2014/main" id="{CD130AED-A103-0004-10B3-14072A2C77E3}"/>
                </a:ext>
              </a:extLst>
            </p:cNvPr>
            <p:cNvSpPr/>
            <p:nvPr/>
          </p:nvSpPr>
          <p:spPr>
            <a:xfrm>
              <a:off x="6162672" y="5672578"/>
              <a:ext cx="1504774" cy="1391162"/>
            </a:xfrm>
            <a:prstGeom prst="arc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041" name="CuadroTexto 1040">
            <a:extLst>
              <a:ext uri="{FF2B5EF4-FFF2-40B4-BE49-F238E27FC236}">
                <a16:creationId xmlns:a16="http://schemas.microsoft.com/office/drawing/2014/main" id="{62B676EA-0B9E-FD55-BD2B-EF0FE755F8A9}"/>
              </a:ext>
            </a:extLst>
          </p:cNvPr>
          <p:cNvSpPr txBox="1"/>
          <p:nvPr/>
        </p:nvSpPr>
        <p:spPr>
          <a:xfrm>
            <a:off x="5574893" y="6366357"/>
            <a:ext cx="13299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1">
                <a:solidFill>
                  <a:srgbClr val="78206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Ibuprofen</a:t>
            </a:r>
            <a:r>
              <a:rPr lang="en-US" sz="1400" b="1" noProof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SMILES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59" name="CuadroTexto 1058">
                <a:extLst>
                  <a:ext uri="{FF2B5EF4-FFF2-40B4-BE49-F238E27FC236}">
                    <a16:creationId xmlns:a16="http://schemas.microsoft.com/office/drawing/2014/main" id="{058A701C-8BB5-4B70-1972-43EBBFB96102}"/>
                  </a:ext>
                </a:extLst>
              </p:cNvPr>
              <p:cNvSpPr txBox="1"/>
              <p:nvPr/>
            </p:nvSpPr>
            <p:spPr>
              <a:xfrm>
                <a:off x="6065571" y="5374719"/>
                <a:ext cx="16175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GB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s-E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059" name="CuadroTexto 1058">
                <a:extLst>
                  <a:ext uri="{FF2B5EF4-FFF2-40B4-BE49-F238E27FC236}">
                    <a16:creationId xmlns:a16="http://schemas.microsoft.com/office/drawing/2014/main" id="{058A701C-8BB5-4B70-1972-43EBBFB96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5571" y="5374719"/>
                <a:ext cx="1617552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70" name="Grupo 1069">
            <a:extLst>
              <a:ext uri="{FF2B5EF4-FFF2-40B4-BE49-F238E27FC236}">
                <a16:creationId xmlns:a16="http://schemas.microsoft.com/office/drawing/2014/main" id="{3460D1AC-6972-B8AC-7AE7-A01AC6555CAF}"/>
              </a:ext>
            </a:extLst>
          </p:cNvPr>
          <p:cNvGrpSpPr/>
          <p:nvPr/>
        </p:nvGrpSpPr>
        <p:grpSpPr>
          <a:xfrm>
            <a:off x="5802521" y="5884231"/>
            <a:ext cx="2524936" cy="421947"/>
            <a:chOff x="6429333" y="5916389"/>
            <a:chExt cx="2524936" cy="421946"/>
          </a:xfrm>
        </p:grpSpPr>
        <p:sp>
          <p:nvSpPr>
            <p:cNvPr id="1044" name="CuadroTexto 1043">
              <a:extLst>
                <a:ext uri="{FF2B5EF4-FFF2-40B4-BE49-F238E27FC236}">
                  <a16:creationId xmlns:a16="http://schemas.microsoft.com/office/drawing/2014/main" id="{17FEF3F5-9E50-6314-9181-F38C0A73F42B}"/>
                </a:ext>
              </a:extLst>
            </p:cNvPr>
            <p:cNvSpPr txBox="1"/>
            <p:nvPr/>
          </p:nvSpPr>
          <p:spPr>
            <a:xfrm>
              <a:off x="7103049" y="5916389"/>
              <a:ext cx="1261655" cy="261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1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GB" dirty="0"/>
                <a:t>Feature extraction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64" name="CuadroTexto 1063">
                  <a:extLst>
                    <a:ext uri="{FF2B5EF4-FFF2-40B4-BE49-F238E27FC236}">
                      <a16:creationId xmlns:a16="http://schemas.microsoft.com/office/drawing/2014/main" id="{F319FD34-1111-1226-576B-2296FD938214}"/>
                    </a:ext>
                  </a:extLst>
                </p:cNvPr>
                <p:cNvSpPr txBox="1"/>
                <p:nvPr/>
              </p:nvSpPr>
              <p:spPr>
                <a:xfrm>
                  <a:off x="6429333" y="6084420"/>
                  <a:ext cx="2524936" cy="2539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s-ES" sz="105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s-ES" sz="105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ctrlPr>
                              <a:rPr lang="en-GB" sz="105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105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05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GB" sz="105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GB" sz="105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ctrlPr>
                              <a:rPr lang="en-GB" sz="105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105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05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GB" sz="105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GB" sz="1050">
                            <a:latin typeface="Cambria Math" panose="02040503050406030204" pitchFamily="18" charset="0"/>
                          </a:rPr>
                          <m:t>, … , </m:t>
                        </m:r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ctrlPr>
                              <a:rPr lang="en-GB" sz="105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105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05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GB" sz="105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GB" sz="1050" dirty="0"/>
                </a:p>
              </p:txBody>
            </p:sp>
          </mc:Choice>
          <mc:Fallback>
            <p:sp>
              <p:nvSpPr>
                <p:cNvPr id="1064" name="CuadroTexto 1063">
                  <a:extLst>
                    <a:ext uri="{FF2B5EF4-FFF2-40B4-BE49-F238E27FC236}">
                      <a16:creationId xmlns:a16="http://schemas.microsoft.com/office/drawing/2014/main" id="{F319FD34-1111-1226-576B-2296FD938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29333" y="6084420"/>
                  <a:ext cx="2524936" cy="25391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65" name="CuadroTexto 1064">
                <a:extLst>
                  <a:ext uri="{FF2B5EF4-FFF2-40B4-BE49-F238E27FC236}">
                    <a16:creationId xmlns:a16="http://schemas.microsoft.com/office/drawing/2014/main" id="{EA134F5B-32EC-4276-E7FC-5E4929ECC5F7}"/>
                  </a:ext>
                </a:extLst>
              </p:cNvPr>
              <p:cNvSpPr txBox="1"/>
              <p:nvPr/>
            </p:nvSpPr>
            <p:spPr>
              <a:xfrm>
                <a:off x="7435350" y="5568851"/>
                <a:ext cx="30575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ES" sz="1400" i="1">
                          <a:latin typeface="Cambria Math" panose="02040503050406030204" pitchFamily="18" charset="0"/>
                        </a:rPr>
                        <m:t>=[1.12, 0.33, −1.34, …,</m:t>
                      </m:r>
                      <m:r>
                        <a:rPr lang="es-ES" sz="14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ES" sz="14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065" name="CuadroTexto 1064">
                <a:extLst>
                  <a:ext uri="{FF2B5EF4-FFF2-40B4-BE49-F238E27FC236}">
                    <a16:creationId xmlns:a16="http://schemas.microsoft.com/office/drawing/2014/main" id="{EA134F5B-32EC-4276-E7FC-5E4929ECC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5350" y="5568851"/>
                <a:ext cx="3057525" cy="307777"/>
              </a:xfrm>
              <a:prstGeom prst="rect">
                <a:avLst/>
              </a:prstGeom>
              <a:blipFill>
                <a:blip r:embed="rId8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6E8BE35-1D53-D7D6-FC94-87A873EFB8CB}"/>
                  </a:ext>
                </a:extLst>
              </p:cNvPr>
              <p:cNvSpPr txBox="1"/>
              <p:nvPr/>
            </p:nvSpPr>
            <p:spPr>
              <a:xfrm>
                <a:off x="10752053" y="6386838"/>
                <a:ext cx="214143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1100" b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</a:lstStyle>
              <a:p>
                <a:r>
                  <a:rPr lang="en-US" noProof="1"/>
                  <a:t>Learned molecular embedding space (</a:t>
                </a:r>
                <a14:m>
                  <m:oMath xmlns:m="http://schemas.openxmlformats.org/officeDocument/2006/math">
                    <m:r>
                      <a:rPr lang="es-ES" i="1" noProof="1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noProof="1"/>
                  <a:t>-dimensional)</a:t>
                </a:r>
              </a:p>
            </p:txBody>
          </p:sp>
        </mc:Choice>
        <mc:Fallback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6E8BE35-1D53-D7D6-FC94-87A873EFB8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2053" y="6386838"/>
                <a:ext cx="2141439" cy="430887"/>
              </a:xfrm>
              <a:prstGeom prst="rect">
                <a:avLst/>
              </a:prstGeom>
              <a:blipFill>
                <a:blip r:embed="rId9"/>
                <a:stretch>
                  <a:fillRect t="-1429"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78" name="Grupo 1077">
            <a:extLst>
              <a:ext uri="{FF2B5EF4-FFF2-40B4-BE49-F238E27FC236}">
                <a16:creationId xmlns:a16="http://schemas.microsoft.com/office/drawing/2014/main" id="{F864B66A-D158-9D1C-4A01-A66CB32440EF}"/>
              </a:ext>
            </a:extLst>
          </p:cNvPr>
          <p:cNvGrpSpPr/>
          <p:nvPr/>
        </p:nvGrpSpPr>
        <p:grpSpPr>
          <a:xfrm>
            <a:off x="10989996" y="5110978"/>
            <a:ext cx="1523852" cy="1247748"/>
            <a:chOff x="9896949" y="5021422"/>
            <a:chExt cx="1523852" cy="1247749"/>
          </a:xfrm>
        </p:grpSpPr>
        <p:sp>
          <p:nvSpPr>
            <p:cNvPr id="60" name="Rectángulo: esquinas redondeadas 59">
              <a:extLst>
                <a:ext uri="{FF2B5EF4-FFF2-40B4-BE49-F238E27FC236}">
                  <a16:creationId xmlns:a16="http://schemas.microsoft.com/office/drawing/2014/main" id="{534EB05A-F451-63E2-1D4C-F0A1BEC37A4E}"/>
                </a:ext>
              </a:extLst>
            </p:cNvPr>
            <p:cNvSpPr/>
            <p:nvPr/>
          </p:nvSpPr>
          <p:spPr>
            <a:xfrm>
              <a:off x="10098896" y="5061989"/>
              <a:ext cx="1261654" cy="1201693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1"/>
            </a:p>
          </p:txBody>
        </p: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E3C5FCA5-3EB2-DE35-4A48-C2A335EFEE1A}"/>
                </a:ext>
              </a:extLst>
            </p:cNvPr>
            <p:cNvCxnSpPr/>
            <p:nvPr/>
          </p:nvCxnSpPr>
          <p:spPr>
            <a:xfrm>
              <a:off x="10659984" y="5199960"/>
              <a:ext cx="0" cy="60007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245A6979-7A6E-E67C-EE16-F698EEE818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87608" y="5800807"/>
              <a:ext cx="276074" cy="29450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B31CB71B-A635-3F28-6E75-E5F79A6925C8}"/>
                </a:ext>
              </a:extLst>
            </p:cNvPr>
            <p:cNvCxnSpPr>
              <a:cxnSpLocks/>
            </p:cNvCxnSpPr>
            <p:nvPr/>
          </p:nvCxnSpPr>
          <p:spPr>
            <a:xfrm>
              <a:off x="10663682" y="5800035"/>
              <a:ext cx="54553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D49C5B09-32F9-6E03-D448-4352EEC0460C}"/>
                </a:ext>
              </a:extLst>
            </p:cNvPr>
            <p:cNvCxnSpPr>
              <a:cxnSpLocks/>
            </p:cNvCxnSpPr>
            <p:nvPr/>
          </p:nvCxnSpPr>
          <p:spPr>
            <a:xfrm>
              <a:off x="10252878" y="5800035"/>
              <a:ext cx="545534" cy="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6D59460C-3393-4D6C-2F6C-3C66C7DF0468}"/>
                </a:ext>
              </a:extLst>
            </p:cNvPr>
            <p:cNvCxnSpPr>
              <a:cxnSpLocks/>
            </p:cNvCxnSpPr>
            <p:nvPr/>
          </p:nvCxnSpPr>
          <p:spPr>
            <a:xfrm>
              <a:off x="10659984" y="5671053"/>
              <a:ext cx="1317" cy="398063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CF2DD38A-A57C-D645-0680-5C90A42506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93010" y="5580182"/>
              <a:ext cx="276074" cy="294503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Elipse 51">
              <a:extLst>
                <a:ext uri="{FF2B5EF4-FFF2-40B4-BE49-F238E27FC236}">
                  <a16:creationId xmlns:a16="http://schemas.microsoft.com/office/drawing/2014/main" id="{277DC9C2-00C1-45B0-452C-F1B342A8F0E9}"/>
                </a:ext>
              </a:extLst>
            </p:cNvPr>
            <p:cNvSpPr/>
            <p:nvPr/>
          </p:nvSpPr>
          <p:spPr>
            <a:xfrm>
              <a:off x="10400821" y="5822116"/>
              <a:ext cx="76013" cy="77817"/>
            </a:xfrm>
            <a:prstGeom prst="ellipse">
              <a:avLst/>
            </a:prstGeom>
            <a:solidFill>
              <a:srgbClr val="FF9A25"/>
            </a:solidFill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1"/>
            </a:p>
          </p:txBody>
        </p:sp>
        <p:sp>
          <p:nvSpPr>
            <p:cNvPr id="53" name="Elipse 52">
              <a:extLst>
                <a:ext uri="{FF2B5EF4-FFF2-40B4-BE49-F238E27FC236}">
                  <a16:creationId xmlns:a16="http://schemas.microsoft.com/office/drawing/2014/main" id="{BC38FBB1-45A1-DDB6-FEC0-50C2EC82D519}"/>
                </a:ext>
              </a:extLst>
            </p:cNvPr>
            <p:cNvSpPr/>
            <p:nvPr/>
          </p:nvSpPr>
          <p:spPr>
            <a:xfrm>
              <a:off x="10595217" y="5329354"/>
              <a:ext cx="76014" cy="73003"/>
            </a:xfrm>
            <a:prstGeom prst="ellipse">
              <a:avLst/>
            </a:prstGeom>
            <a:solidFill>
              <a:srgbClr val="FFEA4E"/>
            </a:solidFill>
            <a:ln w="6350">
              <a:solidFill>
                <a:srgbClr val="CCCC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1"/>
            </a:p>
          </p:txBody>
        </p:sp>
        <p:sp>
          <p:nvSpPr>
            <p:cNvPr id="54" name="Elipse 53">
              <a:extLst>
                <a:ext uri="{FF2B5EF4-FFF2-40B4-BE49-F238E27FC236}">
                  <a16:creationId xmlns:a16="http://schemas.microsoft.com/office/drawing/2014/main" id="{A26FFCD0-314B-C18A-3EAD-B117FEE82D3F}"/>
                </a:ext>
              </a:extLst>
            </p:cNvPr>
            <p:cNvSpPr/>
            <p:nvPr/>
          </p:nvSpPr>
          <p:spPr>
            <a:xfrm>
              <a:off x="10540915" y="5930665"/>
              <a:ext cx="73376" cy="73002"/>
            </a:xfrm>
            <a:prstGeom prst="ellipse">
              <a:avLst/>
            </a:prstGeom>
            <a:solidFill>
              <a:srgbClr val="8CC253"/>
            </a:solidFill>
            <a:ln w="6350">
              <a:solidFill>
                <a:srgbClr val="3B7D2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1"/>
            </a:p>
          </p:txBody>
        </p:sp>
        <p:sp>
          <p:nvSpPr>
            <p:cNvPr id="55" name="Elipse 54">
              <a:extLst>
                <a:ext uri="{FF2B5EF4-FFF2-40B4-BE49-F238E27FC236}">
                  <a16:creationId xmlns:a16="http://schemas.microsoft.com/office/drawing/2014/main" id="{BAA8330C-AE21-C3E6-CC40-D763D79721F8}"/>
                </a:ext>
              </a:extLst>
            </p:cNvPr>
            <p:cNvSpPr/>
            <p:nvPr/>
          </p:nvSpPr>
          <p:spPr>
            <a:xfrm>
              <a:off x="10985725" y="5622403"/>
              <a:ext cx="76015" cy="73004"/>
            </a:xfrm>
            <a:prstGeom prst="ellipse">
              <a:avLst/>
            </a:prstGeom>
            <a:solidFill>
              <a:srgbClr val="00BBD3"/>
            </a:solidFill>
            <a:ln w="6350">
              <a:solidFill>
                <a:srgbClr val="0B76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1"/>
            </a:p>
          </p:txBody>
        </p:sp>
        <p:sp>
          <p:nvSpPr>
            <p:cNvPr id="61" name="CuadroTexto 60">
              <a:extLst>
                <a:ext uri="{FF2B5EF4-FFF2-40B4-BE49-F238E27FC236}">
                  <a16:creationId xmlns:a16="http://schemas.microsoft.com/office/drawing/2014/main" id="{DE36A8B2-A17C-671A-1D6E-A57C188052E2}"/>
                </a:ext>
              </a:extLst>
            </p:cNvPr>
            <p:cNvSpPr txBox="1"/>
            <p:nvPr/>
          </p:nvSpPr>
          <p:spPr>
            <a:xfrm>
              <a:off x="11003814" y="5770056"/>
              <a:ext cx="41698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700"/>
              </a:lvl1pPr>
            </a:lstStyle>
            <a:p>
              <a:r>
                <a:rPr lang="en-US" noProof="1"/>
                <a:t>Dim 1</a:t>
              </a:r>
            </a:p>
          </p:txBody>
        </p:sp>
        <p:sp>
          <p:nvSpPr>
            <p:cNvPr id="62" name="CuadroTexto 61">
              <a:extLst>
                <a:ext uri="{FF2B5EF4-FFF2-40B4-BE49-F238E27FC236}">
                  <a16:creationId xmlns:a16="http://schemas.microsoft.com/office/drawing/2014/main" id="{6C713316-87F6-812A-BB8C-447D028AA1F6}"/>
                </a:ext>
              </a:extLst>
            </p:cNvPr>
            <p:cNvSpPr txBox="1"/>
            <p:nvPr/>
          </p:nvSpPr>
          <p:spPr>
            <a:xfrm>
              <a:off x="10479783" y="5021422"/>
              <a:ext cx="45666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noProof="1"/>
                <a:t>Dim 2</a:t>
              </a:r>
            </a:p>
          </p:txBody>
        </p:sp>
        <p:sp>
          <p:nvSpPr>
            <p:cNvPr id="63" name="CuadroTexto 62">
              <a:extLst>
                <a:ext uri="{FF2B5EF4-FFF2-40B4-BE49-F238E27FC236}">
                  <a16:creationId xmlns:a16="http://schemas.microsoft.com/office/drawing/2014/main" id="{761E8BFA-933E-FDF5-4D3F-DE3C722CD609}"/>
                </a:ext>
              </a:extLst>
            </p:cNvPr>
            <p:cNvSpPr txBox="1"/>
            <p:nvPr/>
          </p:nvSpPr>
          <p:spPr>
            <a:xfrm>
              <a:off x="10191782" y="6069116"/>
              <a:ext cx="41336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700"/>
              </a:lvl1pPr>
            </a:lstStyle>
            <a:p>
              <a:r>
                <a:rPr lang="en-US" noProof="1"/>
                <a:t>Dim 3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68" name="CuadroTexto 1067">
                  <a:extLst>
                    <a:ext uri="{FF2B5EF4-FFF2-40B4-BE49-F238E27FC236}">
                      <a16:creationId xmlns:a16="http://schemas.microsoft.com/office/drawing/2014/main" id="{B9C10625-41F6-2217-7AF5-F1301949B2BE}"/>
                    </a:ext>
                  </a:extLst>
                </p:cNvPr>
                <p:cNvSpPr txBox="1"/>
                <p:nvPr/>
              </p:nvSpPr>
              <p:spPr>
                <a:xfrm>
                  <a:off x="9896949" y="5061989"/>
                  <a:ext cx="883222" cy="37427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GB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1068" name="CuadroTexto 1067">
                  <a:extLst>
                    <a:ext uri="{FF2B5EF4-FFF2-40B4-BE49-F238E27FC236}">
                      <a16:creationId xmlns:a16="http://schemas.microsoft.com/office/drawing/2014/main" id="{B9C10625-41F6-2217-7AF5-F1301949B2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96949" y="5061989"/>
                  <a:ext cx="883222" cy="37427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71" name="CuadroTexto 1070">
                <a:extLst>
                  <a:ext uri="{FF2B5EF4-FFF2-40B4-BE49-F238E27FC236}">
                    <a16:creationId xmlns:a16="http://schemas.microsoft.com/office/drawing/2014/main" id="{7AA5FE89-C135-743C-F5FD-DDE00641107F}"/>
                  </a:ext>
                </a:extLst>
              </p:cNvPr>
              <p:cNvSpPr txBox="1"/>
              <p:nvPr/>
            </p:nvSpPr>
            <p:spPr>
              <a:xfrm>
                <a:off x="4556955" y="5427374"/>
                <a:ext cx="126165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noProof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Embedder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</m:oMath>
                  </m:oMathPara>
                </a14:m>
                <a:endParaRPr lang="en-US" sz="1400" b="1" noProof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071" name="CuadroTexto 1070">
                <a:extLst>
                  <a:ext uri="{FF2B5EF4-FFF2-40B4-BE49-F238E27FC236}">
                    <a16:creationId xmlns:a16="http://schemas.microsoft.com/office/drawing/2014/main" id="{7AA5FE89-C135-743C-F5FD-DDE0064110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6955" y="5427374"/>
                <a:ext cx="1261654" cy="523220"/>
              </a:xfrm>
              <a:prstGeom prst="rect">
                <a:avLst/>
              </a:prstGeom>
              <a:blipFill>
                <a:blip r:embed="rId11"/>
                <a:stretch>
                  <a:fillRect t="-1163" b="-34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73" name="CuadroTexto 1072">
                <a:extLst>
                  <a:ext uri="{FF2B5EF4-FFF2-40B4-BE49-F238E27FC236}">
                    <a16:creationId xmlns:a16="http://schemas.microsoft.com/office/drawing/2014/main" id="{897A4D00-6302-83EF-B51F-2FC39C43F804}"/>
                  </a:ext>
                </a:extLst>
              </p:cNvPr>
              <p:cNvSpPr txBox="1"/>
              <p:nvPr/>
            </p:nvSpPr>
            <p:spPr>
              <a:xfrm>
                <a:off x="8496036" y="5927453"/>
                <a:ext cx="1339913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noProof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• Fixed length (</a:t>
                </a:r>
                <a14:m>
                  <m:oMath xmlns:m="http://schemas.openxmlformats.org/officeDocument/2006/math">
                    <m:r>
                      <a:rPr lang="es-ES" sz="1100" b="1" i="1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1100" b="1" noProof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</a:p>
              <a:p>
                <a:r>
                  <a:rPr lang="en-GB" sz="1100" b="1" noProof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• Obscure</a:t>
                </a:r>
              </a:p>
              <a:p>
                <a:r>
                  <a:rPr lang="en-GB" sz="1100" b="1" noProof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• Dense</a:t>
                </a:r>
              </a:p>
              <a:p>
                <a:r>
                  <a:rPr lang="en-GB" sz="1100" b="1" noProof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• Continuous</a:t>
                </a:r>
              </a:p>
            </p:txBody>
          </p:sp>
        </mc:Choice>
        <mc:Fallback>
          <p:sp>
            <p:nvSpPr>
              <p:cNvPr id="1073" name="CuadroTexto 1072">
                <a:extLst>
                  <a:ext uri="{FF2B5EF4-FFF2-40B4-BE49-F238E27FC236}">
                    <a16:creationId xmlns:a16="http://schemas.microsoft.com/office/drawing/2014/main" id="{897A4D00-6302-83EF-B51F-2FC39C43F8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036" y="5927453"/>
                <a:ext cx="1339913" cy="769441"/>
              </a:xfrm>
              <a:prstGeom prst="rect">
                <a:avLst/>
              </a:prstGeom>
              <a:blipFill>
                <a:blip r:embed="rId12"/>
                <a:stretch>
                  <a:fillRect b="-3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75" name="CuadroTexto 1074">
                <a:extLst>
                  <a:ext uri="{FF2B5EF4-FFF2-40B4-BE49-F238E27FC236}">
                    <a16:creationId xmlns:a16="http://schemas.microsoft.com/office/drawing/2014/main" id="{5882E7B7-6110-BB3E-2988-4EA9DE2A0E5F}"/>
                  </a:ext>
                </a:extLst>
              </p:cNvPr>
              <p:cNvSpPr txBox="1"/>
              <p:nvPr/>
            </p:nvSpPr>
            <p:spPr>
              <a:xfrm>
                <a:off x="10175732" y="5395786"/>
                <a:ext cx="635962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s-ES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s-ES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s-ES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ϵ</m:t>
                          </m:r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GB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075" name="CuadroTexto 1074">
                <a:extLst>
                  <a:ext uri="{FF2B5EF4-FFF2-40B4-BE49-F238E27FC236}">
                    <a16:creationId xmlns:a16="http://schemas.microsoft.com/office/drawing/2014/main" id="{5882E7B7-6110-BB3E-2988-4EA9DE2A0E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5732" y="5395786"/>
                <a:ext cx="635962" cy="374270"/>
              </a:xfrm>
              <a:prstGeom prst="rect">
                <a:avLst/>
              </a:prstGeom>
              <a:blipFill>
                <a:blip r:embed="rId13"/>
                <a:stretch>
                  <a:fillRect r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6" name="Conector recto de flecha 1075">
            <a:extLst>
              <a:ext uri="{FF2B5EF4-FFF2-40B4-BE49-F238E27FC236}">
                <a16:creationId xmlns:a16="http://schemas.microsoft.com/office/drawing/2014/main" id="{B1301A2F-53FB-B1D4-4902-44CE14A54D87}"/>
              </a:ext>
            </a:extLst>
          </p:cNvPr>
          <p:cNvCxnSpPr>
            <a:cxnSpLocks/>
          </p:cNvCxnSpPr>
          <p:nvPr/>
        </p:nvCxnSpPr>
        <p:spPr>
          <a:xfrm>
            <a:off x="10113625" y="5737389"/>
            <a:ext cx="908988" cy="66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79" name="Elipse 1078">
            <a:extLst>
              <a:ext uri="{FF2B5EF4-FFF2-40B4-BE49-F238E27FC236}">
                <a16:creationId xmlns:a16="http://schemas.microsoft.com/office/drawing/2014/main" id="{9CDD35AF-0284-96B3-3A9E-9F985A4DECB5}"/>
              </a:ext>
            </a:extLst>
          </p:cNvPr>
          <p:cNvSpPr/>
          <p:nvPr/>
        </p:nvSpPr>
        <p:spPr>
          <a:xfrm>
            <a:off x="11888790" y="5983719"/>
            <a:ext cx="76015" cy="73005"/>
          </a:xfrm>
          <a:prstGeom prst="ellipse">
            <a:avLst/>
          </a:prstGeom>
          <a:solidFill>
            <a:srgbClr val="78206E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>
              <a:solidFill>
                <a:srgbClr val="78206E"/>
              </a:solidFill>
            </a:endParaRPr>
          </a:p>
        </p:txBody>
      </p:sp>
      <p:sp>
        <p:nvSpPr>
          <p:cNvPr id="1082" name="CuadroTexto 1081">
            <a:extLst>
              <a:ext uri="{FF2B5EF4-FFF2-40B4-BE49-F238E27FC236}">
                <a16:creationId xmlns:a16="http://schemas.microsoft.com/office/drawing/2014/main" id="{8D918043-6CE0-2B47-30E8-9FDE4F38BE59}"/>
              </a:ext>
            </a:extLst>
          </p:cNvPr>
          <p:cNvSpPr txBox="1"/>
          <p:nvPr/>
        </p:nvSpPr>
        <p:spPr>
          <a:xfrm>
            <a:off x="11851506" y="6004778"/>
            <a:ext cx="65692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noProof="1">
                <a:solidFill>
                  <a:srgbClr val="78206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Ibuprofen</a:t>
            </a:r>
            <a:endParaRPr lang="en-GB" sz="800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1370DFA1-252A-F32B-FB64-E2D0B34626F5}"/>
              </a:ext>
            </a:extLst>
          </p:cNvPr>
          <p:cNvGrpSpPr/>
          <p:nvPr/>
        </p:nvGrpSpPr>
        <p:grpSpPr>
          <a:xfrm>
            <a:off x="6500020" y="2787805"/>
            <a:ext cx="5405281" cy="1275683"/>
            <a:chOff x="5395913" y="2787802"/>
            <a:chExt cx="5405280" cy="1275683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6D7ADA22-65AA-0476-31B9-05EC131460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l="20653" t="17246" r="20193" b="21185"/>
            <a:stretch>
              <a:fillRect/>
            </a:stretch>
          </p:blipFill>
          <p:spPr>
            <a:xfrm>
              <a:off x="5417737" y="2787802"/>
              <a:ext cx="1071242" cy="1008986"/>
            </a:xfrm>
            <a:prstGeom prst="rect">
              <a:avLst/>
            </a:prstGeom>
          </p:spPr>
        </p:pic>
        <p:pic>
          <p:nvPicPr>
            <p:cNvPr id="1049" name="Imagen 1048">
              <a:extLst>
                <a:ext uri="{FF2B5EF4-FFF2-40B4-BE49-F238E27FC236}">
                  <a16:creationId xmlns:a16="http://schemas.microsoft.com/office/drawing/2014/main" id="{30171FFD-6E96-EC4B-C747-A41BBF61F4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12543" t="8311" r="6445" b="10092"/>
            <a:stretch>
              <a:fillRect/>
            </a:stretch>
          </p:blipFill>
          <p:spPr>
            <a:xfrm>
              <a:off x="9426773" y="2886795"/>
              <a:ext cx="1000995" cy="853441"/>
            </a:xfrm>
            <a:prstGeom prst="rect">
              <a:avLst/>
            </a:prstGeom>
          </p:spPr>
        </p:pic>
        <p:pic>
          <p:nvPicPr>
            <p:cNvPr id="1047" name="Imagen 1046">
              <a:extLst>
                <a:ext uri="{FF2B5EF4-FFF2-40B4-BE49-F238E27FC236}">
                  <a16:creationId xmlns:a16="http://schemas.microsoft.com/office/drawing/2014/main" id="{8CEF6736-A743-0551-D7BF-84D678EED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 r="23290" b="18453"/>
            <a:stretch>
              <a:fillRect/>
            </a:stretch>
          </p:blipFill>
          <p:spPr>
            <a:xfrm>
              <a:off x="8398031" y="2877753"/>
              <a:ext cx="979566" cy="897372"/>
            </a:xfrm>
            <a:prstGeom prst="rect">
              <a:avLst/>
            </a:prstGeom>
          </p:spPr>
        </p:pic>
        <p:pic>
          <p:nvPicPr>
            <p:cNvPr id="1045" name="Imagen 1044">
              <a:extLst>
                <a:ext uri="{FF2B5EF4-FFF2-40B4-BE49-F238E27FC236}">
                  <a16:creationId xmlns:a16="http://schemas.microsoft.com/office/drawing/2014/main" id="{EB889269-FF30-2244-8F87-31E5200D8F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 l="16765" t="16908" r="15413" b="13125"/>
            <a:stretch>
              <a:fillRect/>
            </a:stretch>
          </p:blipFill>
          <p:spPr>
            <a:xfrm>
              <a:off x="7529826" y="2919882"/>
              <a:ext cx="868205" cy="756079"/>
            </a:xfrm>
            <a:prstGeom prst="rect">
              <a:avLst/>
            </a:prstGeom>
          </p:spPr>
        </p:pic>
        <p:pic>
          <p:nvPicPr>
            <p:cNvPr id="1037" name="Imagen 1036">
              <a:extLst>
                <a:ext uri="{FF2B5EF4-FFF2-40B4-BE49-F238E27FC236}">
                  <a16:creationId xmlns:a16="http://schemas.microsoft.com/office/drawing/2014/main" id="{D7213B68-699B-F83E-49D5-3499F6AF31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514800" y="2852188"/>
              <a:ext cx="963383" cy="834933"/>
            </a:xfrm>
            <a:prstGeom prst="rect">
              <a:avLst/>
            </a:prstGeom>
          </p:spPr>
        </p:pic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E3530447-450B-73E4-A0B3-9E6792B0B693}"/>
                </a:ext>
              </a:extLst>
            </p:cNvPr>
            <p:cNvSpPr/>
            <p:nvPr/>
          </p:nvSpPr>
          <p:spPr>
            <a:xfrm>
              <a:off x="7085063" y="3757035"/>
              <a:ext cx="337830" cy="306450"/>
            </a:xfrm>
            <a:prstGeom prst="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noProof="1"/>
                <a:t>0</a:t>
              </a:r>
            </a:p>
          </p:txBody>
        </p:sp>
        <p:sp>
          <p:nvSpPr>
            <p:cNvPr id="58" name="Rectángulo 57">
              <a:extLst>
                <a:ext uri="{FF2B5EF4-FFF2-40B4-BE49-F238E27FC236}">
                  <a16:creationId xmlns:a16="http://schemas.microsoft.com/office/drawing/2014/main" id="{D6A46203-80E3-A713-536F-7F7649F924EE}"/>
                </a:ext>
              </a:extLst>
            </p:cNvPr>
            <p:cNvSpPr/>
            <p:nvPr/>
          </p:nvSpPr>
          <p:spPr>
            <a:xfrm>
              <a:off x="7422893" y="3757035"/>
              <a:ext cx="337830" cy="306450"/>
            </a:xfrm>
            <a:prstGeom prst="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noProof="1"/>
                <a:t>0</a:t>
              </a:r>
            </a:p>
          </p:txBody>
        </p:sp>
        <p:sp>
          <p:nvSpPr>
            <p:cNvPr id="1029" name="Rectángulo 1028">
              <a:extLst>
                <a:ext uri="{FF2B5EF4-FFF2-40B4-BE49-F238E27FC236}">
                  <a16:creationId xmlns:a16="http://schemas.microsoft.com/office/drawing/2014/main" id="{EFE7F150-310D-5F3D-26A6-43FAEBCBFD96}"/>
                </a:ext>
              </a:extLst>
            </p:cNvPr>
            <p:cNvSpPr/>
            <p:nvPr/>
          </p:nvSpPr>
          <p:spPr>
            <a:xfrm>
              <a:off x="8098553" y="3757035"/>
              <a:ext cx="337830" cy="306450"/>
            </a:xfrm>
            <a:prstGeom prst="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noProof="1"/>
                <a:t>0</a:t>
              </a:r>
            </a:p>
          </p:txBody>
        </p:sp>
        <p:sp>
          <p:nvSpPr>
            <p:cNvPr id="1030" name="Rectángulo 1029">
              <a:extLst>
                <a:ext uri="{FF2B5EF4-FFF2-40B4-BE49-F238E27FC236}">
                  <a16:creationId xmlns:a16="http://schemas.microsoft.com/office/drawing/2014/main" id="{C2B690CC-90DF-899E-A66B-CAE6ACFDE4AA}"/>
                </a:ext>
              </a:extLst>
            </p:cNvPr>
            <p:cNvSpPr/>
            <p:nvPr/>
          </p:nvSpPr>
          <p:spPr>
            <a:xfrm>
              <a:off x="8436383" y="3757035"/>
              <a:ext cx="337830" cy="306450"/>
            </a:xfrm>
            <a:prstGeom prst="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noProof="1"/>
                <a:t>0</a:t>
              </a:r>
            </a:p>
          </p:txBody>
        </p:sp>
        <p:sp>
          <p:nvSpPr>
            <p:cNvPr id="1032" name="Rectángulo 1031">
              <a:extLst>
                <a:ext uri="{FF2B5EF4-FFF2-40B4-BE49-F238E27FC236}">
                  <a16:creationId xmlns:a16="http://schemas.microsoft.com/office/drawing/2014/main" id="{1A6470AC-E948-7F3E-0300-2F511AF6A0C2}"/>
                </a:ext>
              </a:extLst>
            </p:cNvPr>
            <p:cNvSpPr/>
            <p:nvPr/>
          </p:nvSpPr>
          <p:spPr>
            <a:xfrm>
              <a:off x="9112043" y="3757035"/>
              <a:ext cx="337830" cy="306450"/>
            </a:xfrm>
            <a:prstGeom prst="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noProof="1"/>
                <a:t>0</a:t>
              </a:r>
            </a:p>
          </p:txBody>
        </p:sp>
        <p:sp>
          <p:nvSpPr>
            <p:cNvPr id="1024" name="Rectángulo 1023">
              <a:extLst>
                <a:ext uri="{FF2B5EF4-FFF2-40B4-BE49-F238E27FC236}">
                  <a16:creationId xmlns:a16="http://schemas.microsoft.com/office/drawing/2014/main" id="{59E1345C-7BDA-E379-3647-F1A6B91E89C9}"/>
                </a:ext>
              </a:extLst>
            </p:cNvPr>
            <p:cNvSpPr/>
            <p:nvPr/>
          </p:nvSpPr>
          <p:spPr>
            <a:xfrm>
              <a:off x="9449873" y="3757035"/>
              <a:ext cx="337830" cy="306450"/>
            </a:xfrm>
            <a:prstGeom prst="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noProof="1"/>
                <a:t>0</a:t>
              </a:r>
            </a:p>
          </p:txBody>
        </p:sp>
        <p:sp>
          <p:nvSpPr>
            <p:cNvPr id="1027" name="Rectángulo 1026">
              <a:extLst>
                <a:ext uri="{FF2B5EF4-FFF2-40B4-BE49-F238E27FC236}">
                  <a16:creationId xmlns:a16="http://schemas.microsoft.com/office/drawing/2014/main" id="{6FD4FD63-4104-EC83-694B-A8688C02603D}"/>
                </a:ext>
              </a:extLst>
            </p:cNvPr>
            <p:cNvSpPr/>
            <p:nvPr/>
          </p:nvSpPr>
          <p:spPr>
            <a:xfrm>
              <a:off x="10125533" y="3757035"/>
              <a:ext cx="337830" cy="306450"/>
            </a:xfrm>
            <a:prstGeom prst="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noProof="1"/>
                <a:t>0</a:t>
              </a:r>
            </a:p>
          </p:txBody>
        </p:sp>
        <p:sp>
          <p:nvSpPr>
            <p:cNvPr id="1028" name="Rectángulo 1027">
              <a:extLst>
                <a:ext uri="{FF2B5EF4-FFF2-40B4-BE49-F238E27FC236}">
                  <a16:creationId xmlns:a16="http://schemas.microsoft.com/office/drawing/2014/main" id="{882496BE-3D6B-9FCE-FC35-5D90FED32610}"/>
                </a:ext>
              </a:extLst>
            </p:cNvPr>
            <p:cNvSpPr/>
            <p:nvPr/>
          </p:nvSpPr>
          <p:spPr>
            <a:xfrm>
              <a:off x="10463363" y="3757035"/>
              <a:ext cx="337830" cy="306450"/>
            </a:xfrm>
            <a:prstGeom prst="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noProof="1"/>
                <a:t>0</a:t>
              </a:r>
            </a:p>
          </p:txBody>
        </p:sp>
        <p:sp>
          <p:nvSpPr>
            <p:cNvPr id="45" name="Rectángulo 44">
              <a:extLst>
                <a:ext uri="{FF2B5EF4-FFF2-40B4-BE49-F238E27FC236}">
                  <a16:creationId xmlns:a16="http://schemas.microsoft.com/office/drawing/2014/main" id="{69ACFBF6-58C3-D303-855A-6EA257996C77}"/>
                </a:ext>
              </a:extLst>
            </p:cNvPr>
            <p:cNvSpPr/>
            <p:nvPr/>
          </p:nvSpPr>
          <p:spPr>
            <a:xfrm>
              <a:off x="5395913" y="3757035"/>
              <a:ext cx="337830" cy="306450"/>
            </a:xfrm>
            <a:prstGeom prst="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noProof="1"/>
                <a:t>0</a:t>
              </a:r>
            </a:p>
          </p:txBody>
        </p:sp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E8DCCE86-445E-1077-ED0A-DA6F3155CC68}"/>
                </a:ext>
              </a:extLst>
            </p:cNvPr>
            <p:cNvSpPr/>
            <p:nvPr/>
          </p:nvSpPr>
          <p:spPr>
            <a:xfrm>
              <a:off x="6071573" y="3757035"/>
              <a:ext cx="337830" cy="306450"/>
            </a:xfrm>
            <a:prstGeom prst="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noProof="1"/>
                <a:t>0</a:t>
              </a:r>
            </a:p>
          </p:txBody>
        </p:sp>
        <p:sp>
          <p:nvSpPr>
            <p:cNvPr id="59" name="Rectángulo 58">
              <a:extLst>
                <a:ext uri="{FF2B5EF4-FFF2-40B4-BE49-F238E27FC236}">
                  <a16:creationId xmlns:a16="http://schemas.microsoft.com/office/drawing/2014/main" id="{DEC51D03-9A87-7A1C-3349-74CBF0F31317}"/>
                </a:ext>
              </a:extLst>
            </p:cNvPr>
            <p:cNvSpPr/>
            <p:nvPr/>
          </p:nvSpPr>
          <p:spPr>
            <a:xfrm>
              <a:off x="7760723" y="3757035"/>
              <a:ext cx="337830" cy="306450"/>
            </a:xfrm>
            <a:prstGeom prst="rect">
              <a:avLst/>
            </a:prstGeom>
            <a:solidFill>
              <a:srgbClr val="FFEA4E"/>
            </a:solidFill>
            <a:ln>
              <a:solidFill>
                <a:srgbClr val="CCCC00"/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noProof="1"/>
                <a:t>1</a:t>
              </a:r>
            </a:p>
          </p:txBody>
        </p:sp>
        <p:sp>
          <p:nvSpPr>
            <p:cNvPr id="1025" name="Rectángulo 1024">
              <a:extLst>
                <a:ext uri="{FF2B5EF4-FFF2-40B4-BE49-F238E27FC236}">
                  <a16:creationId xmlns:a16="http://schemas.microsoft.com/office/drawing/2014/main" id="{C55BF753-165B-1D7D-B6D6-0108AC4D937B}"/>
                </a:ext>
              </a:extLst>
            </p:cNvPr>
            <p:cNvSpPr/>
            <p:nvPr/>
          </p:nvSpPr>
          <p:spPr>
            <a:xfrm>
              <a:off x="9787703" y="3757035"/>
              <a:ext cx="337830" cy="306450"/>
            </a:xfrm>
            <a:prstGeom prst="rect">
              <a:avLst/>
            </a:prstGeom>
            <a:solidFill>
              <a:srgbClr val="00BBD3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noProof="1"/>
                <a:t>0</a:t>
              </a:r>
            </a:p>
          </p:txBody>
        </p:sp>
        <p:sp>
          <p:nvSpPr>
            <p:cNvPr id="1053" name="Rectángulo 1052">
              <a:extLst>
                <a:ext uri="{FF2B5EF4-FFF2-40B4-BE49-F238E27FC236}">
                  <a16:creationId xmlns:a16="http://schemas.microsoft.com/office/drawing/2014/main" id="{E3A926DF-9DA7-BF9B-8BFC-31C903000E8B}"/>
                </a:ext>
              </a:extLst>
            </p:cNvPr>
            <p:cNvSpPr/>
            <p:nvPr/>
          </p:nvSpPr>
          <p:spPr>
            <a:xfrm>
              <a:off x="6411153" y="3757035"/>
              <a:ext cx="337830" cy="306450"/>
            </a:xfrm>
            <a:prstGeom prst="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noProof="1"/>
                <a:t>0</a:t>
              </a:r>
            </a:p>
          </p:txBody>
        </p:sp>
        <p:sp>
          <p:nvSpPr>
            <p:cNvPr id="56" name="Rectángulo 55">
              <a:extLst>
                <a:ext uri="{FF2B5EF4-FFF2-40B4-BE49-F238E27FC236}">
                  <a16:creationId xmlns:a16="http://schemas.microsoft.com/office/drawing/2014/main" id="{C666F80B-684C-F638-A8A5-528CB77EC7C7}"/>
                </a:ext>
              </a:extLst>
            </p:cNvPr>
            <p:cNvSpPr/>
            <p:nvPr/>
          </p:nvSpPr>
          <p:spPr>
            <a:xfrm>
              <a:off x="6747233" y="3757035"/>
              <a:ext cx="337830" cy="306450"/>
            </a:xfrm>
            <a:prstGeom prst="rect">
              <a:avLst/>
            </a:prstGeom>
            <a:solidFill>
              <a:srgbClr val="FF9A25"/>
            </a:solidFill>
            <a:ln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noProof="1"/>
                <a:t>4</a:t>
              </a:r>
            </a:p>
          </p:txBody>
        </p:sp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08C14244-D2BC-2158-5A7F-C938E83054C7}"/>
                </a:ext>
              </a:extLst>
            </p:cNvPr>
            <p:cNvSpPr/>
            <p:nvPr/>
          </p:nvSpPr>
          <p:spPr>
            <a:xfrm>
              <a:off x="5733743" y="3757035"/>
              <a:ext cx="337830" cy="306450"/>
            </a:xfrm>
            <a:prstGeom prst="rect">
              <a:avLst/>
            </a:prstGeom>
            <a:solidFill>
              <a:srgbClr val="FF66B3"/>
            </a:solidFill>
            <a:ln>
              <a:solidFill>
                <a:schemeClr val="accent5"/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noProof="1"/>
                <a:t>0</a:t>
              </a:r>
            </a:p>
          </p:txBody>
        </p:sp>
        <p:sp>
          <p:nvSpPr>
            <p:cNvPr id="1031" name="Rectángulo 1030">
              <a:extLst>
                <a:ext uri="{FF2B5EF4-FFF2-40B4-BE49-F238E27FC236}">
                  <a16:creationId xmlns:a16="http://schemas.microsoft.com/office/drawing/2014/main" id="{04677E3B-A939-6146-5F66-E718CBA9026C}"/>
                </a:ext>
              </a:extLst>
            </p:cNvPr>
            <p:cNvSpPr/>
            <p:nvPr/>
          </p:nvSpPr>
          <p:spPr>
            <a:xfrm>
              <a:off x="8774213" y="3757035"/>
              <a:ext cx="337830" cy="306450"/>
            </a:xfrm>
            <a:prstGeom prst="rect">
              <a:avLst/>
            </a:prstGeom>
            <a:solidFill>
              <a:srgbClr val="8CC253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noProof="1"/>
                <a:t>1</a:t>
              </a:r>
            </a:p>
          </p:txBody>
        </p:sp>
      </p:grpSp>
      <p:sp>
        <p:nvSpPr>
          <p:cNvPr id="2" name="Text Box 1">
            <a:extLst>
              <a:ext uri="{FF2B5EF4-FFF2-40B4-BE49-F238E27FC236}">
                <a16:creationId xmlns:a16="http://schemas.microsoft.com/office/drawing/2014/main" id="{AB779B5B-CEF6-1AA0-9261-EDCDCCE371B9}"/>
              </a:ext>
            </a:extLst>
          </p:cNvPr>
          <p:cNvSpPr txBox="1"/>
          <p:nvPr/>
        </p:nvSpPr>
        <p:spPr>
          <a:xfrm>
            <a:off x="1053435" y="133588"/>
            <a:ext cx="630110" cy="461179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ES" sz="2000" b="1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GB" sz="1100" b="1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1">
            <a:extLst>
              <a:ext uri="{FF2B5EF4-FFF2-40B4-BE49-F238E27FC236}">
                <a16:creationId xmlns:a16="http://schemas.microsoft.com/office/drawing/2014/main" id="{C0376401-464F-A6FC-FAC1-ED020B54C875}"/>
              </a:ext>
            </a:extLst>
          </p:cNvPr>
          <p:cNvSpPr txBox="1"/>
          <p:nvPr/>
        </p:nvSpPr>
        <p:spPr>
          <a:xfrm>
            <a:off x="1062998" y="2274602"/>
            <a:ext cx="630110" cy="461179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ES" sz="2000" b="1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GB" sz="1100" b="1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Box 1">
            <a:extLst>
              <a:ext uri="{FF2B5EF4-FFF2-40B4-BE49-F238E27FC236}">
                <a16:creationId xmlns:a16="http://schemas.microsoft.com/office/drawing/2014/main" id="{4D1353D1-625C-2244-F83D-787641C8F19B}"/>
              </a:ext>
            </a:extLst>
          </p:cNvPr>
          <p:cNvSpPr txBox="1"/>
          <p:nvPr/>
        </p:nvSpPr>
        <p:spPr>
          <a:xfrm>
            <a:off x="1058533" y="4554835"/>
            <a:ext cx="630110" cy="461179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ES" sz="2000" b="1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GB" sz="1100" b="1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240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ángulo 78">
            <a:extLst>
              <a:ext uri="{FF2B5EF4-FFF2-40B4-BE49-F238E27FC236}">
                <a16:creationId xmlns:a16="http://schemas.microsoft.com/office/drawing/2014/main" id="{19EB77B5-4112-0BB5-DB16-CDD05627B468}"/>
              </a:ext>
            </a:extLst>
          </p:cNvPr>
          <p:cNvSpPr/>
          <p:nvPr/>
        </p:nvSpPr>
        <p:spPr>
          <a:xfrm>
            <a:off x="5112466" y="2114527"/>
            <a:ext cx="7393851" cy="25506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33" u="sng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EEFB8A7-1321-2145-76F9-3A201DB6C12C}"/>
              </a:ext>
            </a:extLst>
          </p:cNvPr>
          <p:cNvSpPr txBox="1"/>
          <p:nvPr/>
        </p:nvSpPr>
        <p:spPr>
          <a:xfrm>
            <a:off x="2200221" y="44873"/>
            <a:ext cx="2801493" cy="5392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452" b="1" dirty="0"/>
              <a:t>Training set </a:t>
            </a:r>
          </a:p>
          <a:p>
            <a:pPr algn="ctr"/>
            <a:r>
              <a:rPr lang="es-ES" sz="1452" dirty="0"/>
              <a:t>(</a:t>
            </a:r>
            <a:r>
              <a:rPr lang="es-ES" sz="1452" i="1" dirty="0"/>
              <a:t>n</a:t>
            </a:r>
            <a:r>
              <a:rPr lang="es-ES" sz="1452" dirty="0"/>
              <a:t> </a:t>
            </a:r>
            <a:r>
              <a:rPr lang="es-ES" sz="1452" dirty="0" err="1"/>
              <a:t>molecules</a:t>
            </a:r>
            <a:r>
              <a:rPr lang="es-ES" sz="1452" dirty="0"/>
              <a:t>, </a:t>
            </a:r>
            <a:r>
              <a:rPr lang="es-ES" sz="1452" i="1" dirty="0"/>
              <a:t>p</a:t>
            </a:r>
            <a:r>
              <a:rPr lang="es-ES" sz="1452" dirty="0"/>
              <a:t> </a:t>
            </a:r>
            <a:r>
              <a:rPr lang="es-ES" sz="1452" dirty="0" err="1"/>
              <a:t>features</a:t>
            </a:r>
            <a:r>
              <a:rPr lang="es-ES" sz="1452" dirty="0"/>
              <a:t>)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0616D13B-D95D-1AAB-1E8D-F9694DAFF520}"/>
              </a:ext>
            </a:extLst>
          </p:cNvPr>
          <p:cNvCxnSpPr>
            <a:cxnSpLocks/>
          </p:cNvCxnSpPr>
          <p:nvPr/>
        </p:nvCxnSpPr>
        <p:spPr>
          <a:xfrm flipH="1">
            <a:off x="10436320" y="3055166"/>
            <a:ext cx="401110" cy="4768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Conector recto 110">
            <a:extLst>
              <a:ext uri="{FF2B5EF4-FFF2-40B4-BE49-F238E27FC236}">
                <a16:creationId xmlns:a16="http://schemas.microsoft.com/office/drawing/2014/main" id="{5A962447-A58C-7365-BED9-256F61BC51A7}"/>
              </a:ext>
            </a:extLst>
          </p:cNvPr>
          <p:cNvCxnSpPr>
            <a:cxnSpLocks/>
          </p:cNvCxnSpPr>
          <p:nvPr/>
        </p:nvCxnSpPr>
        <p:spPr>
          <a:xfrm>
            <a:off x="11067668" y="3055166"/>
            <a:ext cx="401110" cy="4768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2" name="Elipse 111">
            <a:extLst>
              <a:ext uri="{FF2B5EF4-FFF2-40B4-BE49-F238E27FC236}">
                <a16:creationId xmlns:a16="http://schemas.microsoft.com/office/drawing/2014/main" id="{47EFBEA4-8A28-3086-3C6A-2995CEE7ED98}"/>
              </a:ext>
            </a:extLst>
          </p:cNvPr>
          <p:cNvSpPr/>
          <p:nvPr/>
        </p:nvSpPr>
        <p:spPr>
          <a:xfrm>
            <a:off x="10771999" y="2762812"/>
            <a:ext cx="361106" cy="34062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98" dirty="0">
              <a:solidFill>
                <a:schemeClr val="tx1"/>
              </a:solidFill>
            </a:endParaRPr>
          </a:p>
        </p:txBody>
      </p:sp>
      <p:cxnSp>
        <p:nvCxnSpPr>
          <p:cNvPr id="113" name="Conector recto 112">
            <a:extLst>
              <a:ext uri="{FF2B5EF4-FFF2-40B4-BE49-F238E27FC236}">
                <a16:creationId xmlns:a16="http://schemas.microsoft.com/office/drawing/2014/main" id="{F68DA517-64FD-DC04-5787-37A221238A63}"/>
              </a:ext>
            </a:extLst>
          </p:cNvPr>
          <p:cNvCxnSpPr>
            <a:cxnSpLocks/>
          </p:cNvCxnSpPr>
          <p:nvPr/>
        </p:nvCxnSpPr>
        <p:spPr>
          <a:xfrm flipH="1">
            <a:off x="11150781" y="3842290"/>
            <a:ext cx="223829" cy="4896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" name="Conector recto 113">
            <a:extLst>
              <a:ext uri="{FF2B5EF4-FFF2-40B4-BE49-F238E27FC236}">
                <a16:creationId xmlns:a16="http://schemas.microsoft.com/office/drawing/2014/main" id="{C080B047-EFC5-1564-86DE-5FD6F68C4FCC}"/>
              </a:ext>
            </a:extLst>
          </p:cNvPr>
          <p:cNvCxnSpPr>
            <a:cxnSpLocks/>
          </p:cNvCxnSpPr>
          <p:nvPr/>
        </p:nvCxnSpPr>
        <p:spPr>
          <a:xfrm>
            <a:off x="11612030" y="3835475"/>
            <a:ext cx="260725" cy="4964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Conector recto 114">
            <a:extLst>
              <a:ext uri="{FF2B5EF4-FFF2-40B4-BE49-F238E27FC236}">
                <a16:creationId xmlns:a16="http://schemas.microsoft.com/office/drawing/2014/main" id="{D8DC97CA-4AB2-11C3-7767-6B4625DF78E9}"/>
              </a:ext>
            </a:extLst>
          </p:cNvPr>
          <p:cNvCxnSpPr>
            <a:cxnSpLocks/>
          </p:cNvCxnSpPr>
          <p:nvPr/>
        </p:nvCxnSpPr>
        <p:spPr>
          <a:xfrm>
            <a:off x="11506279" y="3863478"/>
            <a:ext cx="0" cy="48205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6" name="Conector recto 115">
            <a:extLst>
              <a:ext uri="{FF2B5EF4-FFF2-40B4-BE49-F238E27FC236}">
                <a16:creationId xmlns:a16="http://schemas.microsoft.com/office/drawing/2014/main" id="{6E3B856A-B736-4380-5DA4-327F793DFEFF}"/>
              </a:ext>
            </a:extLst>
          </p:cNvPr>
          <p:cNvCxnSpPr>
            <a:cxnSpLocks/>
            <a:endCxn id="122" idx="0"/>
          </p:cNvCxnSpPr>
          <p:nvPr/>
        </p:nvCxnSpPr>
        <p:spPr>
          <a:xfrm flipH="1">
            <a:off x="10076556" y="3833649"/>
            <a:ext cx="248458" cy="5032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Conector recto 116">
            <a:extLst>
              <a:ext uri="{FF2B5EF4-FFF2-40B4-BE49-F238E27FC236}">
                <a16:creationId xmlns:a16="http://schemas.microsoft.com/office/drawing/2014/main" id="{4734D326-E84F-5D7A-FE66-4639A57DE940}"/>
              </a:ext>
            </a:extLst>
          </p:cNvPr>
          <p:cNvCxnSpPr>
            <a:cxnSpLocks/>
            <a:endCxn id="124" idx="0"/>
          </p:cNvCxnSpPr>
          <p:nvPr/>
        </p:nvCxnSpPr>
        <p:spPr>
          <a:xfrm>
            <a:off x="10562434" y="3826831"/>
            <a:ext cx="227897" cy="5065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Conector recto 117">
            <a:extLst>
              <a:ext uri="{FF2B5EF4-FFF2-40B4-BE49-F238E27FC236}">
                <a16:creationId xmlns:a16="http://schemas.microsoft.com/office/drawing/2014/main" id="{057C69D5-59C9-6764-0BE9-996167637E13}"/>
              </a:ext>
            </a:extLst>
          </p:cNvPr>
          <p:cNvCxnSpPr>
            <a:cxnSpLocks/>
          </p:cNvCxnSpPr>
          <p:nvPr/>
        </p:nvCxnSpPr>
        <p:spPr>
          <a:xfrm>
            <a:off x="10435078" y="3854836"/>
            <a:ext cx="0" cy="48205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9" name="Elipse 118">
            <a:extLst>
              <a:ext uri="{FF2B5EF4-FFF2-40B4-BE49-F238E27FC236}">
                <a16:creationId xmlns:a16="http://schemas.microsoft.com/office/drawing/2014/main" id="{EFC5C90F-58FB-D2F9-0BDB-F1790EC8AFFC}"/>
              </a:ext>
            </a:extLst>
          </p:cNvPr>
          <p:cNvSpPr/>
          <p:nvPr/>
        </p:nvSpPr>
        <p:spPr>
          <a:xfrm>
            <a:off x="11387653" y="4331921"/>
            <a:ext cx="260725" cy="258911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98" dirty="0">
                <a:solidFill>
                  <a:schemeClr val="bg2">
                    <a:lumMod val="50000"/>
                  </a:schemeClr>
                </a:solidFill>
              </a:rPr>
              <a:t>4</a:t>
            </a:r>
            <a:endParaRPr lang="en-GB" sz="998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0" name="Elipse 119">
            <a:extLst>
              <a:ext uri="{FF2B5EF4-FFF2-40B4-BE49-F238E27FC236}">
                <a16:creationId xmlns:a16="http://schemas.microsoft.com/office/drawing/2014/main" id="{1473B87A-C76C-8A75-6237-F653DDBA4E4B}"/>
              </a:ext>
            </a:extLst>
          </p:cNvPr>
          <p:cNvSpPr/>
          <p:nvPr/>
        </p:nvSpPr>
        <p:spPr>
          <a:xfrm>
            <a:off x="11027887" y="4324091"/>
            <a:ext cx="260725" cy="258911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98" dirty="0">
                <a:solidFill>
                  <a:schemeClr val="bg2">
                    <a:lumMod val="50000"/>
                  </a:schemeClr>
                </a:solidFill>
              </a:rPr>
              <a:t>2</a:t>
            </a:r>
            <a:endParaRPr lang="en-GB" sz="998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1" name="Elipse 120">
            <a:extLst>
              <a:ext uri="{FF2B5EF4-FFF2-40B4-BE49-F238E27FC236}">
                <a16:creationId xmlns:a16="http://schemas.microsoft.com/office/drawing/2014/main" id="{0655D880-6E1A-19E6-EBA1-A0ABBEC3AEE3}"/>
              </a:ext>
            </a:extLst>
          </p:cNvPr>
          <p:cNvSpPr/>
          <p:nvPr/>
        </p:nvSpPr>
        <p:spPr>
          <a:xfrm>
            <a:off x="11767007" y="4331921"/>
            <a:ext cx="260725" cy="258911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98" dirty="0">
                <a:solidFill>
                  <a:schemeClr val="bg2">
                    <a:lumMod val="50000"/>
                  </a:schemeClr>
                </a:solidFill>
              </a:rPr>
              <a:t>9</a:t>
            </a:r>
            <a:endParaRPr lang="en-GB" sz="998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2" name="Elipse 121">
            <a:extLst>
              <a:ext uri="{FF2B5EF4-FFF2-40B4-BE49-F238E27FC236}">
                <a16:creationId xmlns:a16="http://schemas.microsoft.com/office/drawing/2014/main" id="{3AAADD62-3F97-5321-A10C-CCF6703C95E0}"/>
              </a:ext>
            </a:extLst>
          </p:cNvPr>
          <p:cNvSpPr/>
          <p:nvPr/>
        </p:nvSpPr>
        <p:spPr>
          <a:xfrm>
            <a:off x="9946194" y="4336890"/>
            <a:ext cx="260725" cy="25891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98" dirty="0">
                <a:solidFill>
                  <a:schemeClr val="bg2">
                    <a:lumMod val="50000"/>
                  </a:schemeClr>
                </a:solidFill>
              </a:rPr>
              <a:t>3</a:t>
            </a:r>
            <a:endParaRPr lang="en-GB" sz="998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3" name="Elipse 122">
            <a:extLst>
              <a:ext uri="{FF2B5EF4-FFF2-40B4-BE49-F238E27FC236}">
                <a16:creationId xmlns:a16="http://schemas.microsoft.com/office/drawing/2014/main" id="{5D2CC35D-97EE-C7D3-B5D4-4996928BB395}"/>
              </a:ext>
            </a:extLst>
          </p:cNvPr>
          <p:cNvSpPr/>
          <p:nvPr/>
        </p:nvSpPr>
        <p:spPr>
          <a:xfrm>
            <a:off x="10305960" y="4329222"/>
            <a:ext cx="260725" cy="25891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98" dirty="0">
                <a:solidFill>
                  <a:schemeClr val="bg2">
                    <a:lumMod val="50000"/>
                  </a:schemeClr>
                </a:solidFill>
              </a:rPr>
              <a:t>5</a:t>
            </a:r>
            <a:endParaRPr lang="en-GB" sz="998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4" name="Elipse 123">
            <a:extLst>
              <a:ext uri="{FF2B5EF4-FFF2-40B4-BE49-F238E27FC236}">
                <a16:creationId xmlns:a16="http://schemas.microsoft.com/office/drawing/2014/main" id="{257E9D1B-8E58-9EFC-5195-A08CF32C3C66}"/>
              </a:ext>
            </a:extLst>
          </p:cNvPr>
          <p:cNvSpPr/>
          <p:nvPr/>
        </p:nvSpPr>
        <p:spPr>
          <a:xfrm>
            <a:off x="10659968" y="4333382"/>
            <a:ext cx="260725" cy="25891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98" dirty="0">
                <a:solidFill>
                  <a:schemeClr val="bg2">
                    <a:lumMod val="50000"/>
                  </a:schemeClr>
                </a:solidFill>
              </a:rPr>
              <a:t>8</a:t>
            </a:r>
            <a:endParaRPr lang="en-GB" sz="998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6" name="CuadroTexto 125">
            <a:extLst>
              <a:ext uri="{FF2B5EF4-FFF2-40B4-BE49-F238E27FC236}">
                <a16:creationId xmlns:a16="http://schemas.microsoft.com/office/drawing/2014/main" id="{400CB39D-27EE-8F12-56B9-489920E23896}"/>
              </a:ext>
            </a:extLst>
          </p:cNvPr>
          <p:cNvSpPr txBox="1"/>
          <p:nvPr/>
        </p:nvSpPr>
        <p:spPr>
          <a:xfrm>
            <a:off x="11277981" y="3135707"/>
            <a:ext cx="715260" cy="315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52" dirty="0"/>
              <a:t> </a:t>
            </a:r>
            <a:r>
              <a:rPr lang="es-ES" sz="1452" b="1" dirty="0">
                <a:latin typeface="Cambria Math" panose="02040503050406030204" pitchFamily="18" charset="0"/>
                <a:ea typeface="Cambria Math" panose="02040503050406030204" pitchFamily="18" charset="0"/>
              </a:rPr>
              <a:t>X </a:t>
            </a:r>
            <a:r>
              <a:rPr lang="es-ES" sz="1452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j</a:t>
            </a:r>
            <a:r>
              <a:rPr lang="es-ES" sz="1452" dirty="0"/>
              <a:t>  ≠ 0</a:t>
            </a:r>
            <a:endParaRPr lang="en-GB" sz="1452" dirty="0"/>
          </a:p>
        </p:txBody>
      </p:sp>
      <p:sp>
        <p:nvSpPr>
          <p:cNvPr id="127" name="Elipse 126">
            <a:extLst>
              <a:ext uri="{FF2B5EF4-FFF2-40B4-BE49-F238E27FC236}">
                <a16:creationId xmlns:a16="http://schemas.microsoft.com/office/drawing/2014/main" id="{76BB50FC-CD3E-40BA-EF86-97E202C817F7}"/>
              </a:ext>
            </a:extLst>
          </p:cNvPr>
          <p:cNvSpPr/>
          <p:nvPr/>
        </p:nvSpPr>
        <p:spPr>
          <a:xfrm>
            <a:off x="10255493" y="3525455"/>
            <a:ext cx="361106" cy="34062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-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8" name="Elipse 127">
            <a:extLst>
              <a:ext uri="{FF2B5EF4-FFF2-40B4-BE49-F238E27FC236}">
                <a16:creationId xmlns:a16="http://schemas.microsoft.com/office/drawing/2014/main" id="{01E9B84C-3EE6-5E9C-ACBB-60F1F2E587DA}"/>
              </a:ext>
            </a:extLst>
          </p:cNvPr>
          <p:cNvSpPr/>
          <p:nvPr/>
        </p:nvSpPr>
        <p:spPr>
          <a:xfrm>
            <a:off x="11305089" y="3534096"/>
            <a:ext cx="361106" cy="34062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+</a:t>
            </a:r>
            <a:endParaRPr lang="en-GB" dirty="0">
              <a:solidFill>
                <a:schemeClr val="tx1"/>
              </a:solidFill>
            </a:endParaRPr>
          </a:p>
        </p:txBody>
      </p:sp>
      <p:grpSp>
        <p:nvGrpSpPr>
          <p:cNvPr id="47" name="Grupo 46">
            <a:extLst>
              <a:ext uri="{FF2B5EF4-FFF2-40B4-BE49-F238E27FC236}">
                <a16:creationId xmlns:a16="http://schemas.microsoft.com/office/drawing/2014/main" id="{7F70CAFB-BD7F-721E-A3DD-07A0EE7AA38A}"/>
              </a:ext>
            </a:extLst>
          </p:cNvPr>
          <p:cNvGrpSpPr/>
          <p:nvPr/>
        </p:nvGrpSpPr>
        <p:grpSpPr>
          <a:xfrm>
            <a:off x="8347704" y="5096069"/>
            <a:ext cx="1417802" cy="386548"/>
            <a:chOff x="4756118" y="3361956"/>
            <a:chExt cx="1495889" cy="375475"/>
          </a:xfrm>
        </p:grpSpPr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ABAFBACE-0BA7-EEF2-992C-B7942CF10052}"/>
                </a:ext>
              </a:extLst>
            </p:cNvPr>
            <p:cNvSpPr/>
            <p:nvPr/>
          </p:nvSpPr>
          <p:spPr>
            <a:xfrm>
              <a:off x="4756118" y="3361956"/>
              <a:ext cx="398051" cy="375475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998" dirty="0">
                  <a:solidFill>
                    <a:schemeClr val="tx1"/>
                  </a:solidFill>
                </a:rPr>
                <a:t>f</a:t>
              </a:r>
              <a:r>
                <a:rPr lang="es-ES" sz="998" baseline="-25000" dirty="0">
                  <a:solidFill>
                    <a:schemeClr val="tx1"/>
                  </a:solidFill>
                </a:rPr>
                <a:t>2</a:t>
              </a:r>
              <a:endParaRPr lang="en-GB" sz="2177" dirty="0">
                <a:solidFill>
                  <a:schemeClr val="tx1"/>
                </a:solidFill>
              </a:endParaRPr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F2C2B395-B54F-5ABD-0B27-4BE6CF123D1A}"/>
                </a:ext>
              </a:extLst>
            </p:cNvPr>
            <p:cNvSpPr txBox="1"/>
            <p:nvPr/>
          </p:nvSpPr>
          <p:spPr>
            <a:xfrm>
              <a:off x="5143643" y="3361956"/>
              <a:ext cx="1108364" cy="333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33" dirty="0"/>
                <a:t>= </a:t>
              </a:r>
              <a:r>
                <a:rPr lang="es-ES" sz="1633" b="1" dirty="0">
                  <a:solidFill>
                    <a:srgbClr val="00B0F0"/>
                  </a:solidFill>
                </a:rPr>
                <a:t>1</a:t>
              </a:r>
              <a:endParaRPr lang="en-GB" sz="1633" b="1" dirty="0">
                <a:solidFill>
                  <a:srgbClr val="00B0F0"/>
                </a:solidFill>
              </a:endParaRPr>
            </a:p>
          </p:txBody>
        </p: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AE3DB687-66F3-C845-137B-2F4CA0B057B2}"/>
              </a:ext>
            </a:extLst>
          </p:cNvPr>
          <p:cNvGrpSpPr/>
          <p:nvPr/>
        </p:nvGrpSpPr>
        <p:grpSpPr>
          <a:xfrm>
            <a:off x="6072845" y="5091024"/>
            <a:ext cx="1423597" cy="381173"/>
            <a:chOff x="7037833" y="3355813"/>
            <a:chExt cx="1506414" cy="375475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E5DF29B2-523B-A4AC-9A27-9C0DD7105F7F}"/>
                </a:ext>
              </a:extLst>
            </p:cNvPr>
            <p:cNvSpPr/>
            <p:nvPr/>
          </p:nvSpPr>
          <p:spPr>
            <a:xfrm>
              <a:off x="7037833" y="3355813"/>
              <a:ext cx="398051" cy="375475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953" dirty="0">
                  <a:solidFill>
                    <a:schemeClr val="tx1"/>
                  </a:solidFill>
                </a:rPr>
                <a:t>f</a:t>
              </a:r>
              <a:r>
                <a:rPr lang="es-ES" sz="953" baseline="-250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A0447269-C931-0644-8AF1-380F9A89233A}"/>
                </a:ext>
              </a:extLst>
            </p:cNvPr>
            <p:cNvSpPr txBox="1"/>
            <p:nvPr/>
          </p:nvSpPr>
          <p:spPr>
            <a:xfrm>
              <a:off x="7435886" y="3361955"/>
              <a:ext cx="1108361" cy="338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33" dirty="0"/>
                <a:t>= </a:t>
              </a:r>
              <a:r>
                <a:rPr lang="es-ES" sz="1633" b="1" dirty="0">
                  <a:solidFill>
                    <a:srgbClr val="002060"/>
                  </a:solidFill>
                </a:rPr>
                <a:t>0</a:t>
              </a:r>
              <a:endParaRPr lang="en-GB" sz="1633" b="1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48" name="Grupo 47">
            <a:extLst>
              <a:ext uri="{FF2B5EF4-FFF2-40B4-BE49-F238E27FC236}">
                <a16:creationId xmlns:a16="http://schemas.microsoft.com/office/drawing/2014/main" id="{75054C69-53D6-5FB7-A5F6-EBE263A509CA}"/>
              </a:ext>
            </a:extLst>
          </p:cNvPr>
          <p:cNvGrpSpPr/>
          <p:nvPr/>
        </p:nvGrpSpPr>
        <p:grpSpPr>
          <a:xfrm>
            <a:off x="10636878" y="5089209"/>
            <a:ext cx="1429893" cy="386580"/>
            <a:chOff x="9949204" y="3355812"/>
            <a:chExt cx="1506414" cy="375475"/>
          </a:xfrm>
        </p:grpSpPr>
        <p:sp>
          <p:nvSpPr>
            <p:cNvPr id="34" name="Elipse 33">
              <a:extLst>
                <a:ext uri="{FF2B5EF4-FFF2-40B4-BE49-F238E27FC236}">
                  <a16:creationId xmlns:a16="http://schemas.microsoft.com/office/drawing/2014/main" id="{4B9CEACB-E3C8-3C30-6F86-685AA4589B54}"/>
                </a:ext>
              </a:extLst>
            </p:cNvPr>
            <p:cNvSpPr/>
            <p:nvPr/>
          </p:nvSpPr>
          <p:spPr>
            <a:xfrm>
              <a:off x="9949204" y="3355812"/>
              <a:ext cx="398051" cy="375475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998" dirty="0">
                  <a:solidFill>
                    <a:schemeClr val="tx1"/>
                  </a:solidFill>
                </a:rPr>
                <a:t>f</a:t>
              </a:r>
              <a:r>
                <a:rPr lang="es-ES" sz="998" baseline="-25000" dirty="0">
                  <a:solidFill>
                    <a:schemeClr val="tx1"/>
                  </a:solidFill>
                </a:rPr>
                <a:t>3</a:t>
              </a:r>
              <a:endParaRPr lang="en-GB" sz="998" dirty="0">
                <a:solidFill>
                  <a:schemeClr val="tx1"/>
                </a:solidFill>
              </a:endParaRPr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4131D7CD-C3F4-A422-0466-F8333EE69863}"/>
                </a:ext>
              </a:extLst>
            </p:cNvPr>
            <p:cNvSpPr txBox="1"/>
            <p:nvPr/>
          </p:nvSpPr>
          <p:spPr>
            <a:xfrm>
              <a:off x="10347255" y="3355812"/>
              <a:ext cx="1108363" cy="333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33" dirty="0"/>
                <a:t>= </a:t>
              </a:r>
              <a:r>
                <a:rPr lang="es-ES" sz="1633" b="1" dirty="0">
                  <a:solidFill>
                    <a:schemeClr val="accent5">
                      <a:lumMod val="75000"/>
                    </a:schemeClr>
                  </a:solidFill>
                </a:rPr>
                <a:t>1</a:t>
              </a:r>
              <a:endParaRPr lang="en-GB" sz="1633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58" name="Cerrar llave 57">
            <a:extLst>
              <a:ext uri="{FF2B5EF4-FFF2-40B4-BE49-F238E27FC236}">
                <a16:creationId xmlns:a16="http://schemas.microsoft.com/office/drawing/2014/main" id="{787016C5-2B27-DC98-E1FB-A1014569D1B5}"/>
              </a:ext>
            </a:extLst>
          </p:cNvPr>
          <p:cNvSpPr/>
          <p:nvPr/>
        </p:nvSpPr>
        <p:spPr>
          <a:xfrm rot="5400000">
            <a:off x="8745464" y="1913015"/>
            <a:ext cx="272242" cy="7249457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33"/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FD02F2F0-988E-21DE-AE74-946E6A06651B}"/>
              </a:ext>
            </a:extLst>
          </p:cNvPr>
          <p:cNvSpPr txBox="1"/>
          <p:nvPr/>
        </p:nvSpPr>
        <p:spPr>
          <a:xfrm>
            <a:off x="11978503" y="3576558"/>
            <a:ext cx="406549" cy="48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540" dirty="0"/>
              <a:t>…</a:t>
            </a:r>
            <a:endParaRPr lang="en-GB" sz="2540" dirty="0"/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C9928C94-6755-2F29-39DA-DE721E2D82AD}"/>
              </a:ext>
            </a:extLst>
          </p:cNvPr>
          <p:cNvGrpSpPr/>
          <p:nvPr/>
        </p:nvGrpSpPr>
        <p:grpSpPr>
          <a:xfrm>
            <a:off x="5724791" y="4914770"/>
            <a:ext cx="6656930" cy="262582"/>
            <a:chOff x="4142767" y="2836005"/>
            <a:chExt cx="7338033" cy="289448"/>
          </a:xfrm>
        </p:grpSpPr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AD4F7318-6FE4-E43F-5268-161808901DCD}"/>
                </a:ext>
              </a:extLst>
            </p:cNvPr>
            <p:cNvCxnSpPr>
              <a:cxnSpLocks/>
            </p:cNvCxnSpPr>
            <p:nvPr/>
          </p:nvCxnSpPr>
          <p:spPr>
            <a:xfrm>
              <a:off x="4142767" y="2840769"/>
              <a:ext cx="552770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Arco 50">
              <a:extLst>
                <a:ext uri="{FF2B5EF4-FFF2-40B4-BE49-F238E27FC236}">
                  <a16:creationId xmlns:a16="http://schemas.microsoft.com/office/drawing/2014/main" id="{A11C712E-1CA2-D219-7848-38C58623D692}"/>
                </a:ext>
              </a:extLst>
            </p:cNvPr>
            <p:cNvSpPr/>
            <p:nvPr/>
          </p:nvSpPr>
          <p:spPr>
            <a:xfrm>
              <a:off x="4513118" y="2836177"/>
              <a:ext cx="212437" cy="277542"/>
            </a:xfrm>
            <a:prstGeom prst="arc">
              <a:avLst>
                <a:gd name="adj1" fmla="val 16200000"/>
                <a:gd name="adj2" fmla="val 1114619"/>
              </a:avLst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633" dirty="0"/>
            </a:p>
          </p:txBody>
        </p:sp>
        <p:sp>
          <p:nvSpPr>
            <p:cNvPr id="54" name="Arco 53">
              <a:extLst>
                <a:ext uri="{FF2B5EF4-FFF2-40B4-BE49-F238E27FC236}">
                  <a16:creationId xmlns:a16="http://schemas.microsoft.com/office/drawing/2014/main" id="{25F3596D-7DF8-A496-D1B2-1438FF28DBAC}"/>
                </a:ext>
              </a:extLst>
            </p:cNvPr>
            <p:cNvSpPr/>
            <p:nvPr/>
          </p:nvSpPr>
          <p:spPr>
            <a:xfrm>
              <a:off x="7047065" y="2841560"/>
              <a:ext cx="212437" cy="277542"/>
            </a:xfrm>
            <a:prstGeom prst="arc">
              <a:avLst>
                <a:gd name="adj1" fmla="val 16200000"/>
                <a:gd name="adj2" fmla="val 1114619"/>
              </a:avLst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633"/>
            </a:p>
          </p:txBody>
        </p:sp>
        <p:sp>
          <p:nvSpPr>
            <p:cNvPr id="55" name="Arco 54">
              <a:extLst>
                <a:ext uri="{FF2B5EF4-FFF2-40B4-BE49-F238E27FC236}">
                  <a16:creationId xmlns:a16="http://schemas.microsoft.com/office/drawing/2014/main" id="{5077DDA0-0096-3020-5ADA-403AFB494A17}"/>
                </a:ext>
              </a:extLst>
            </p:cNvPr>
            <p:cNvSpPr/>
            <p:nvPr/>
          </p:nvSpPr>
          <p:spPr>
            <a:xfrm>
              <a:off x="9548163" y="2840767"/>
              <a:ext cx="212437" cy="277542"/>
            </a:xfrm>
            <a:prstGeom prst="arc">
              <a:avLst>
                <a:gd name="adj1" fmla="val 16200000"/>
                <a:gd name="adj2" fmla="val 1114619"/>
              </a:avLst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633"/>
            </a:p>
          </p:txBody>
        </p:sp>
        <p:cxnSp>
          <p:nvCxnSpPr>
            <p:cNvPr id="61" name="Conector recto 60">
              <a:extLst>
                <a:ext uri="{FF2B5EF4-FFF2-40B4-BE49-F238E27FC236}">
                  <a16:creationId xmlns:a16="http://schemas.microsoft.com/office/drawing/2014/main" id="{FB47A690-58C8-FCD3-85DA-90FA72F119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70473" y="2836005"/>
              <a:ext cx="1810327" cy="7144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Arco 63">
              <a:extLst>
                <a:ext uri="{FF2B5EF4-FFF2-40B4-BE49-F238E27FC236}">
                  <a16:creationId xmlns:a16="http://schemas.microsoft.com/office/drawing/2014/main" id="{0B6F5E44-B7BA-DCE7-8579-35B965F95D11}"/>
                </a:ext>
              </a:extLst>
            </p:cNvPr>
            <p:cNvSpPr/>
            <p:nvPr/>
          </p:nvSpPr>
          <p:spPr>
            <a:xfrm>
              <a:off x="11182205" y="2847911"/>
              <a:ext cx="212437" cy="277542"/>
            </a:xfrm>
            <a:prstGeom prst="arc">
              <a:avLst>
                <a:gd name="adj1" fmla="val 16200000"/>
                <a:gd name="adj2" fmla="val 1114619"/>
              </a:avLst>
            </a:prstGeom>
            <a:ln>
              <a:solidFill>
                <a:schemeClr val="tx1"/>
              </a:solidFill>
              <a:prstDash val="sysDot"/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633"/>
            </a:p>
          </p:txBody>
        </p:sp>
        <p:sp>
          <p:nvSpPr>
            <p:cNvPr id="78" name="Arco 77">
              <a:extLst>
                <a:ext uri="{FF2B5EF4-FFF2-40B4-BE49-F238E27FC236}">
                  <a16:creationId xmlns:a16="http://schemas.microsoft.com/office/drawing/2014/main" id="{92038B7A-E8B8-BAC5-888C-B41F7D7797BE}"/>
                </a:ext>
              </a:extLst>
            </p:cNvPr>
            <p:cNvSpPr/>
            <p:nvPr/>
          </p:nvSpPr>
          <p:spPr>
            <a:xfrm>
              <a:off x="10948841" y="2847911"/>
              <a:ext cx="212437" cy="277542"/>
            </a:xfrm>
            <a:prstGeom prst="arc">
              <a:avLst>
                <a:gd name="adj1" fmla="val 16200000"/>
                <a:gd name="adj2" fmla="val 1114619"/>
              </a:avLst>
            </a:prstGeom>
            <a:ln>
              <a:solidFill>
                <a:schemeClr val="tx1"/>
              </a:solidFill>
              <a:prstDash val="sysDot"/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633"/>
            </a:p>
          </p:txBody>
        </p:sp>
      </p:grp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C692149-E840-B107-9C82-FE90E1955A6F}"/>
              </a:ext>
            </a:extLst>
          </p:cNvPr>
          <p:cNvSpPr txBox="1"/>
          <p:nvPr/>
        </p:nvSpPr>
        <p:spPr>
          <a:xfrm>
            <a:off x="11969025" y="4934654"/>
            <a:ext cx="537290" cy="48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540" dirty="0"/>
              <a:t>…</a:t>
            </a:r>
            <a:endParaRPr lang="en-GB" sz="2540" dirty="0"/>
          </a:p>
        </p:txBody>
      </p:sp>
      <p:grpSp>
        <p:nvGrpSpPr>
          <p:cNvPr id="138" name="Grupo 137">
            <a:extLst>
              <a:ext uri="{FF2B5EF4-FFF2-40B4-BE49-F238E27FC236}">
                <a16:creationId xmlns:a16="http://schemas.microsoft.com/office/drawing/2014/main" id="{7AA3DB1E-5BE9-337B-B5CE-66DA4EB4EDEB}"/>
              </a:ext>
            </a:extLst>
          </p:cNvPr>
          <p:cNvGrpSpPr/>
          <p:nvPr/>
        </p:nvGrpSpPr>
        <p:grpSpPr>
          <a:xfrm>
            <a:off x="5256859" y="5724438"/>
            <a:ext cx="7249459" cy="563167"/>
            <a:chOff x="4379816" y="5587047"/>
            <a:chExt cx="7563810" cy="62078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CuadroTexto 58">
                  <a:extLst>
                    <a:ext uri="{FF2B5EF4-FFF2-40B4-BE49-F238E27FC236}">
                      <a16:creationId xmlns:a16="http://schemas.microsoft.com/office/drawing/2014/main" id="{1CCADD88-50E8-46D4-755B-64D6FDC46519}"/>
                    </a:ext>
                  </a:extLst>
                </p:cNvPr>
                <p:cNvSpPr txBox="1"/>
                <p:nvPr/>
              </p:nvSpPr>
              <p:spPr>
                <a:xfrm>
                  <a:off x="4379816" y="5587047"/>
                  <a:ext cx="7563810" cy="620789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>
                          <m:fPr>
                            <m:ctrlPr>
                              <a:rPr lang="es-ES" sz="1633" b="1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sz="1633" b="1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s-ES" sz="1633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s-ES" sz="1633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s-ES" sz="1633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s-ES" sz="1633" b="1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s-ES" sz="1633" i="1">
                                <a:latin typeface="Cambria Math" panose="02040503050406030204" pitchFamily="18" charset="0"/>
                              </a:rPr>
                              <m:t> +</m:t>
                            </m:r>
                            <m:r>
                              <a:rPr lang="es-ES" sz="1633" i="1">
                                <a:latin typeface="Cambria Math" panose="02040503050406030204" pitchFamily="18" charset="0"/>
                              </a:rPr>
                              <m:t>…</m:t>
                            </m:r>
                          </m:num>
                          <m:den>
                            <m:r>
                              <a:rPr lang="es-ES" sz="1633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den>
                        </m:f>
                        <m:r>
                          <a:rPr lang="es-ES" sz="1633" i="1">
                            <a:latin typeface="Cambria Math" panose="02040503050406030204" pitchFamily="18" charset="0"/>
                          </a:rPr>
                          <m:t>=0.66=</m:t>
                        </m:r>
                        <m:r>
                          <a:rPr lang="es-ES" sz="1633" b="1" i="1">
                            <a:latin typeface="Cambria Math" panose="02040503050406030204" pitchFamily="18" charset="0"/>
                          </a:rPr>
                          <m:t>𝑷</m:t>
                        </m:r>
                      </m:oMath>
                    </m:oMathPara>
                  </a14:m>
                  <a:endParaRPr lang="en-GB" sz="1633" b="1" dirty="0"/>
                </a:p>
              </p:txBody>
            </p:sp>
          </mc:Choice>
          <mc:Fallback>
            <p:sp>
              <p:nvSpPr>
                <p:cNvPr id="59" name="CuadroTexto 58">
                  <a:extLst>
                    <a:ext uri="{FF2B5EF4-FFF2-40B4-BE49-F238E27FC236}">
                      <a16:creationId xmlns:a16="http://schemas.microsoft.com/office/drawing/2014/main" id="{1CCADD88-50E8-46D4-755B-64D6FDC465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9816" y="5587047"/>
                  <a:ext cx="7563810" cy="62078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9" name="CuadroTexto 128">
              <a:extLst>
                <a:ext uri="{FF2B5EF4-FFF2-40B4-BE49-F238E27FC236}">
                  <a16:creationId xmlns:a16="http://schemas.microsoft.com/office/drawing/2014/main" id="{CA907E17-FC13-A5F3-A850-061F0B96D8A3}"/>
                </a:ext>
              </a:extLst>
            </p:cNvPr>
            <p:cNvSpPr txBox="1"/>
            <p:nvPr/>
          </p:nvSpPr>
          <p:spPr>
            <a:xfrm>
              <a:off x="9661959" y="5745263"/>
              <a:ext cx="2176774" cy="378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33" dirty="0"/>
                <a:t>(</a:t>
              </a:r>
              <a:r>
                <a:rPr lang="es-ES" sz="1633" dirty="0" err="1"/>
                <a:t>Average</a:t>
              </a:r>
              <a:r>
                <a:rPr lang="es-ES" sz="1633" dirty="0"/>
                <a:t> </a:t>
              </a:r>
              <a:r>
                <a:rPr lang="es-ES" sz="1633" dirty="0" err="1"/>
                <a:t>probability</a:t>
              </a:r>
              <a:r>
                <a:rPr lang="es-ES" sz="1633" dirty="0"/>
                <a:t>)</a:t>
              </a:r>
              <a:endParaRPr lang="en-GB" sz="1633" dirty="0"/>
            </a:p>
          </p:txBody>
        </p:sp>
      </p:grpSp>
      <p:sp>
        <p:nvSpPr>
          <p:cNvPr id="70" name="CuadroTexto 69">
            <a:extLst>
              <a:ext uri="{FF2B5EF4-FFF2-40B4-BE49-F238E27FC236}">
                <a16:creationId xmlns:a16="http://schemas.microsoft.com/office/drawing/2014/main" id="{52BFF46D-040A-69DB-897B-8FA2B2A8151C}"/>
              </a:ext>
            </a:extLst>
          </p:cNvPr>
          <p:cNvSpPr txBox="1"/>
          <p:nvPr/>
        </p:nvSpPr>
        <p:spPr>
          <a:xfrm>
            <a:off x="2200221" y="5122048"/>
            <a:ext cx="1543497" cy="343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33" i="1" u="sng" dirty="0"/>
              <a:t>3. </a:t>
            </a:r>
            <a:r>
              <a:rPr lang="es-ES" sz="1633" i="1" u="sng" dirty="0" err="1"/>
              <a:t>Aggregation</a:t>
            </a:r>
            <a:endParaRPr lang="en-GB" sz="1633" i="1" u="sng" dirty="0"/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D83ED376-904B-9C75-CEBC-B0FC6EDF8EAF}"/>
              </a:ext>
            </a:extLst>
          </p:cNvPr>
          <p:cNvSpPr txBox="1"/>
          <p:nvPr/>
        </p:nvSpPr>
        <p:spPr>
          <a:xfrm>
            <a:off x="2200220" y="623783"/>
            <a:ext cx="1738803" cy="343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33" i="1" u="sng" dirty="0"/>
              <a:t>1. </a:t>
            </a:r>
            <a:r>
              <a:rPr lang="es-ES" sz="1633" i="1" u="sng" dirty="0" err="1"/>
              <a:t>Bootstrapping</a:t>
            </a:r>
            <a:endParaRPr lang="en-GB" sz="1633" i="1" u="sng" dirty="0"/>
          </a:p>
        </p:txBody>
      </p: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E8AAFCF7-0E74-CBD0-3781-61DA856B6FA7}"/>
              </a:ext>
            </a:extLst>
          </p:cNvPr>
          <p:cNvCxnSpPr>
            <a:cxnSpLocks/>
          </p:cNvCxnSpPr>
          <p:nvPr/>
        </p:nvCxnSpPr>
        <p:spPr>
          <a:xfrm flipH="1">
            <a:off x="8180250" y="3055166"/>
            <a:ext cx="401111" cy="4768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45BECD1B-27D7-C16E-9E2B-A3638A217264}"/>
              </a:ext>
            </a:extLst>
          </p:cNvPr>
          <p:cNvCxnSpPr>
            <a:cxnSpLocks/>
          </p:cNvCxnSpPr>
          <p:nvPr/>
        </p:nvCxnSpPr>
        <p:spPr>
          <a:xfrm>
            <a:off x="8811599" y="3055166"/>
            <a:ext cx="401111" cy="4768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Elipse 41">
            <a:extLst>
              <a:ext uri="{FF2B5EF4-FFF2-40B4-BE49-F238E27FC236}">
                <a16:creationId xmlns:a16="http://schemas.microsoft.com/office/drawing/2014/main" id="{66B33945-E0E1-8375-D9D8-EDB05F9D2E35}"/>
              </a:ext>
            </a:extLst>
          </p:cNvPr>
          <p:cNvSpPr/>
          <p:nvPr/>
        </p:nvSpPr>
        <p:spPr>
          <a:xfrm>
            <a:off x="8515926" y="2753284"/>
            <a:ext cx="361106" cy="340624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177" dirty="0">
              <a:solidFill>
                <a:schemeClr val="tx1"/>
              </a:solidFill>
            </a:endParaRPr>
          </a:p>
        </p:txBody>
      </p: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7D2FAA1A-22A5-F86E-A989-8C9AAAACBC9A}"/>
              </a:ext>
            </a:extLst>
          </p:cNvPr>
          <p:cNvCxnSpPr>
            <a:cxnSpLocks/>
          </p:cNvCxnSpPr>
          <p:nvPr/>
        </p:nvCxnSpPr>
        <p:spPr>
          <a:xfrm flipH="1">
            <a:off x="8894708" y="3832760"/>
            <a:ext cx="223829" cy="4896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1920D14F-ADD8-47A2-4EF9-BA2BE17E558E}"/>
              </a:ext>
            </a:extLst>
          </p:cNvPr>
          <p:cNvCxnSpPr>
            <a:cxnSpLocks/>
          </p:cNvCxnSpPr>
          <p:nvPr/>
        </p:nvCxnSpPr>
        <p:spPr>
          <a:xfrm>
            <a:off x="9355959" y="3825946"/>
            <a:ext cx="260725" cy="4964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26980B78-ADDF-C0DA-8E09-772086A03DDD}"/>
              </a:ext>
            </a:extLst>
          </p:cNvPr>
          <p:cNvCxnSpPr>
            <a:cxnSpLocks/>
          </p:cNvCxnSpPr>
          <p:nvPr/>
        </p:nvCxnSpPr>
        <p:spPr>
          <a:xfrm>
            <a:off x="9250206" y="3853948"/>
            <a:ext cx="0" cy="48205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31C5849B-7494-FC74-8622-CA79D4D39781}"/>
              </a:ext>
            </a:extLst>
          </p:cNvPr>
          <p:cNvCxnSpPr>
            <a:cxnSpLocks/>
            <a:endCxn id="84" idx="0"/>
          </p:cNvCxnSpPr>
          <p:nvPr/>
        </p:nvCxnSpPr>
        <p:spPr>
          <a:xfrm flipH="1">
            <a:off x="7820483" y="3824120"/>
            <a:ext cx="248458" cy="5032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Conector recto 75">
            <a:extLst>
              <a:ext uri="{FF2B5EF4-FFF2-40B4-BE49-F238E27FC236}">
                <a16:creationId xmlns:a16="http://schemas.microsoft.com/office/drawing/2014/main" id="{A2275E62-D909-B5A1-6BF6-213704119C7B}"/>
              </a:ext>
            </a:extLst>
          </p:cNvPr>
          <p:cNvCxnSpPr>
            <a:cxnSpLocks/>
            <a:endCxn id="86" idx="0"/>
          </p:cNvCxnSpPr>
          <p:nvPr/>
        </p:nvCxnSpPr>
        <p:spPr>
          <a:xfrm>
            <a:off x="8306361" y="3817303"/>
            <a:ext cx="227897" cy="5065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4C64CA44-BC33-12A7-5B48-2C1E96235AC9}"/>
              </a:ext>
            </a:extLst>
          </p:cNvPr>
          <p:cNvCxnSpPr>
            <a:cxnSpLocks/>
          </p:cNvCxnSpPr>
          <p:nvPr/>
        </p:nvCxnSpPr>
        <p:spPr>
          <a:xfrm>
            <a:off x="8179006" y="3845307"/>
            <a:ext cx="0" cy="48205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Elipse 80">
            <a:extLst>
              <a:ext uri="{FF2B5EF4-FFF2-40B4-BE49-F238E27FC236}">
                <a16:creationId xmlns:a16="http://schemas.microsoft.com/office/drawing/2014/main" id="{40B587E7-4CEE-E9BE-C49F-B6052D962236}"/>
              </a:ext>
            </a:extLst>
          </p:cNvPr>
          <p:cNvSpPr/>
          <p:nvPr/>
        </p:nvSpPr>
        <p:spPr>
          <a:xfrm>
            <a:off x="9131580" y="4322392"/>
            <a:ext cx="260725" cy="258911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98" dirty="0">
                <a:solidFill>
                  <a:schemeClr val="bg2">
                    <a:lumMod val="50000"/>
                  </a:schemeClr>
                </a:solidFill>
              </a:rPr>
              <a:t>4</a:t>
            </a:r>
            <a:endParaRPr lang="en-GB" sz="998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2" name="Elipse 81">
            <a:extLst>
              <a:ext uri="{FF2B5EF4-FFF2-40B4-BE49-F238E27FC236}">
                <a16:creationId xmlns:a16="http://schemas.microsoft.com/office/drawing/2014/main" id="{E6E3D34D-0BC5-9755-4121-49F5656ADC46}"/>
              </a:ext>
            </a:extLst>
          </p:cNvPr>
          <p:cNvSpPr/>
          <p:nvPr/>
        </p:nvSpPr>
        <p:spPr>
          <a:xfrm>
            <a:off x="8771815" y="4314562"/>
            <a:ext cx="260725" cy="258911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98" dirty="0">
                <a:solidFill>
                  <a:schemeClr val="bg2">
                    <a:lumMod val="50000"/>
                  </a:schemeClr>
                </a:solidFill>
              </a:rPr>
              <a:t>2</a:t>
            </a:r>
            <a:endParaRPr lang="en-GB" sz="998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6CE180E9-CF6C-7999-E4D1-09DC676FDD1E}"/>
              </a:ext>
            </a:extLst>
          </p:cNvPr>
          <p:cNvSpPr/>
          <p:nvPr/>
        </p:nvSpPr>
        <p:spPr>
          <a:xfrm>
            <a:off x="9510935" y="4322392"/>
            <a:ext cx="260725" cy="258911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98" dirty="0">
                <a:solidFill>
                  <a:schemeClr val="bg2">
                    <a:lumMod val="50000"/>
                  </a:schemeClr>
                </a:solidFill>
              </a:rPr>
              <a:t>7</a:t>
            </a:r>
            <a:endParaRPr lang="en-GB" sz="998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4CC7D35B-C52D-98FD-C7BC-4A7AE4C8D89A}"/>
              </a:ext>
            </a:extLst>
          </p:cNvPr>
          <p:cNvSpPr/>
          <p:nvPr/>
        </p:nvSpPr>
        <p:spPr>
          <a:xfrm>
            <a:off x="7690122" y="4327361"/>
            <a:ext cx="260725" cy="25891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98" dirty="0">
                <a:solidFill>
                  <a:schemeClr val="bg2">
                    <a:lumMod val="50000"/>
                  </a:schemeClr>
                </a:solidFill>
              </a:rPr>
              <a:t>1</a:t>
            </a:r>
            <a:endParaRPr lang="en-GB" sz="998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5" name="Elipse 84">
            <a:extLst>
              <a:ext uri="{FF2B5EF4-FFF2-40B4-BE49-F238E27FC236}">
                <a16:creationId xmlns:a16="http://schemas.microsoft.com/office/drawing/2014/main" id="{48707AF9-A214-1D31-8A47-30A397AACBD8}"/>
              </a:ext>
            </a:extLst>
          </p:cNvPr>
          <p:cNvSpPr/>
          <p:nvPr/>
        </p:nvSpPr>
        <p:spPr>
          <a:xfrm>
            <a:off x="8049888" y="4319693"/>
            <a:ext cx="260725" cy="25891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98" dirty="0">
                <a:solidFill>
                  <a:schemeClr val="bg2">
                    <a:lumMod val="50000"/>
                  </a:schemeClr>
                </a:solidFill>
              </a:rPr>
              <a:t>3</a:t>
            </a:r>
            <a:endParaRPr lang="en-GB" sz="998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6" name="Elipse 85">
            <a:extLst>
              <a:ext uri="{FF2B5EF4-FFF2-40B4-BE49-F238E27FC236}">
                <a16:creationId xmlns:a16="http://schemas.microsoft.com/office/drawing/2014/main" id="{D0128BA6-B3FE-B2AA-9CC1-5A4B6E03FE32}"/>
              </a:ext>
            </a:extLst>
          </p:cNvPr>
          <p:cNvSpPr/>
          <p:nvPr/>
        </p:nvSpPr>
        <p:spPr>
          <a:xfrm>
            <a:off x="8403896" y="4323853"/>
            <a:ext cx="260725" cy="25891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98" dirty="0">
                <a:solidFill>
                  <a:schemeClr val="bg2">
                    <a:lumMod val="50000"/>
                  </a:schemeClr>
                </a:solidFill>
              </a:rPr>
              <a:t>8</a:t>
            </a:r>
            <a:endParaRPr lang="en-GB" sz="998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3F5399D1-60FE-7655-5918-4CCF7A95CD72}"/>
              </a:ext>
            </a:extLst>
          </p:cNvPr>
          <p:cNvSpPr txBox="1"/>
          <p:nvPr/>
        </p:nvSpPr>
        <p:spPr>
          <a:xfrm>
            <a:off x="7755162" y="3135707"/>
            <a:ext cx="638316" cy="315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52" b="1" dirty="0">
                <a:latin typeface="Cambria Math" panose="02040503050406030204" pitchFamily="18" charset="0"/>
                <a:ea typeface="Cambria Math" panose="02040503050406030204" pitchFamily="18" charset="0"/>
              </a:rPr>
              <a:t>X </a:t>
            </a:r>
            <a:r>
              <a:rPr lang="es-ES" sz="1452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j</a:t>
            </a:r>
            <a:r>
              <a:rPr lang="es-ES" sz="1452" dirty="0"/>
              <a:t> &gt; 0</a:t>
            </a:r>
            <a:endParaRPr lang="en-GB" sz="1452" dirty="0"/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30AA76ED-D02E-3435-4E6C-D639EF8A3402}"/>
              </a:ext>
            </a:extLst>
          </p:cNvPr>
          <p:cNvSpPr txBox="1"/>
          <p:nvPr/>
        </p:nvSpPr>
        <p:spPr>
          <a:xfrm>
            <a:off x="9029577" y="3135707"/>
            <a:ext cx="638316" cy="315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52" b="1" dirty="0">
                <a:latin typeface="Cambria Math" panose="02040503050406030204" pitchFamily="18" charset="0"/>
                <a:ea typeface="Cambria Math" panose="02040503050406030204" pitchFamily="18" charset="0"/>
              </a:rPr>
              <a:t>X </a:t>
            </a:r>
            <a:r>
              <a:rPr lang="es-ES" sz="1452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j</a:t>
            </a:r>
            <a:r>
              <a:rPr lang="es-ES" sz="1452" dirty="0"/>
              <a:t> ≤ 0</a:t>
            </a:r>
            <a:endParaRPr lang="en-GB" sz="1452" dirty="0"/>
          </a:p>
        </p:txBody>
      </p:sp>
      <p:sp>
        <p:nvSpPr>
          <p:cNvPr id="75" name="Elipse 74">
            <a:extLst>
              <a:ext uri="{FF2B5EF4-FFF2-40B4-BE49-F238E27FC236}">
                <a16:creationId xmlns:a16="http://schemas.microsoft.com/office/drawing/2014/main" id="{F82F9FEF-5D04-1544-AE3D-4F2D2275F22D}"/>
              </a:ext>
            </a:extLst>
          </p:cNvPr>
          <p:cNvSpPr/>
          <p:nvPr/>
        </p:nvSpPr>
        <p:spPr>
          <a:xfrm>
            <a:off x="7999420" y="3515924"/>
            <a:ext cx="361106" cy="340624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-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6" name="Elipse 65">
            <a:extLst>
              <a:ext uri="{FF2B5EF4-FFF2-40B4-BE49-F238E27FC236}">
                <a16:creationId xmlns:a16="http://schemas.microsoft.com/office/drawing/2014/main" id="{5F25BBBA-2158-3EC8-9C0F-1B8405DFF844}"/>
              </a:ext>
            </a:extLst>
          </p:cNvPr>
          <p:cNvSpPr/>
          <p:nvPr/>
        </p:nvSpPr>
        <p:spPr>
          <a:xfrm>
            <a:off x="9049016" y="3524567"/>
            <a:ext cx="361106" cy="340624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+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30" name="CuadroTexto 129">
            <a:extLst>
              <a:ext uri="{FF2B5EF4-FFF2-40B4-BE49-F238E27FC236}">
                <a16:creationId xmlns:a16="http://schemas.microsoft.com/office/drawing/2014/main" id="{0B3730F0-96A7-113A-7218-19CB7EAF9F71}"/>
              </a:ext>
            </a:extLst>
          </p:cNvPr>
          <p:cNvSpPr txBox="1"/>
          <p:nvPr/>
        </p:nvSpPr>
        <p:spPr>
          <a:xfrm>
            <a:off x="7856153" y="2365084"/>
            <a:ext cx="1633172" cy="343620"/>
          </a:xfrm>
          <a:prstGeom prst="rect">
            <a:avLst/>
          </a:prstGeom>
          <a:solidFill>
            <a:srgbClr val="CAEEFB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633" dirty="0" err="1"/>
              <a:t>Decision</a:t>
            </a:r>
            <a:r>
              <a:rPr lang="es-ES" sz="1633" dirty="0"/>
              <a:t> </a:t>
            </a:r>
            <a:r>
              <a:rPr lang="es-ES" sz="1633" dirty="0" err="1"/>
              <a:t>tree</a:t>
            </a:r>
            <a:r>
              <a:rPr lang="es-ES" sz="1633" dirty="0"/>
              <a:t> 2</a:t>
            </a:r>
            <a:endParaRPr lang="en-GB" sz="1633" dirty="0"/>
          </a:p>
        </p:txBody>
      </p: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4CE766E4-DC31-EE0F-64EA-9BF41F2E2584}"/>
              </a:ext>
            </a:extLst>
          </p:cNvPr>
          <p:cNvSpPr txBox="1"/>
          <p:nvPr/>
        </p:nvSpPr>
        <p:spPr>
          <a:xfrm>
            <a:off x="10004240" y="3135707"/>
            <a:ext cx="638316" cy="315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52" b="1" dirty="0">
                <a:latin typeface="Cambria Math" panose="02040503050406030204" pitchFamily="18" charset="0"/>
                <a:ea typeface="Cambria Math" panose="02040503050406030204" pitchFamily="18" charset="0"/>
              </a:rPr>
              <a:t>X </a:t>
            </a:r>
            <a:r>
              <a:rPr lang="es-ES" sz="1452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j</a:t>
            </a:r>
            <a:r>
              <a:rPr lang="es-ES" sz="1452" dirty="0"/>
              <a:t> = 0</a:t>
            </a:r>
            <a:endParaRPr lang="en-GB" sz="1452" dirty="0"/>
          </a:p>
        </p:txBody>
      </p:sp>
      <p:cxnSp>
        <p:nvCxnSpPr>
          <p:cNvPr id="91" name="Conector recto 90">
            <a:extLst>
              <a:ext uri="{FF2B5EF4-FFF2-40B4-BE49-F238E27FC236}">
                <a16:creationId xmlns:a16="http://schemas.microsoft.com/office/drawing/2014/main" id="{CEFBA680-28EF-BAD6-F335-587555CD103A}"/>
              </a:ext>
            </a:extLst>
          </p:cNvPr>
          <p:cNvCxnSpPr>
            <a:cxnSpLocks/>
          </p:cNvCxnSpPr>
          <p:nvPr/>
        </p:nvCxnSpPr>
        <p:spPr>
          <a:xfrm flipH="1">
            <a:off x="5884067" y="3055166"/>
            <a:ext cx="401110" cy="4768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Conector recto 91">
            <a:extLst>
              <a:ext uri="{FF2B5EF4-FFF2-40B4-BE49-F238E27FC236}">
                <a16:creationId xmlns:a16="http://schemas.microsoft.com/office/drawing/2014/main" id="{D3112C15-9279-A168-65E8-F2F0904E409F}"/>
              </a:ext>
            </a:extLst>
          </p:cNvPr>
          <p:cNvCxnSpPr>
            <a:cxnSpLocks/>
          </p:cNvCxnSpPr>
          <p:nvPr/>
        </p:nvCxnSpPr>
        <p:spPr>
          <a:xfrm>
            <a:off x="6515416" y="3055166"/>
            <a:ext cx="401110" cy="4768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3" name="Elipse 92">
            <a:extLst>
              <a:ext uri="{FF2B5EF4-FFF2-40B4-BE49-F238E27FC236}">
                <a16:creationId xmlns:a16="http://schemas.microsoft.com/office/drawing/2014/main" id="{B4CA9C14-7623-8EB9-9352-62B89FC35AB8}"/>
              </a:ext>
            </a:extLst>
          </p:cNvPr>
          <p:cNvSpPr/>
          <p:nvPr/>
        </p:nvSpPr>
        <p:spPr>
          <a:xfrm>
            <a:off x="6219746" y="2761514"/>
            <a:ext cx="361106" cy="34062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953" baseline="-25000" dirty="0">
              <a:solidFill>
                <a:schemeClr val="tx1"/>
              </a:solidFill>
            </a:endParaRPr>
          </a:p>
        </p:txBody>
      </p:sp>
      <p:cxnSp>
        <p:nvCxnSpPr>
          <p:cNvPr id="94" name="Conector recto 93">
            <a:extLst>
              <a:ext uri="{FF2B5EF4-FFF2-40B4-BE49-F238E27FC236}">
                <a16:creationId xmlns:a16="http://schemas.microsoft.com/office/drawing/2014/main" id="{667A3C41-D8D3-5586-B501-1E3F676019C3}"/>
              </a:ext>
            </a:extLst>
          </p:cNvPr>
          <p:cNvCxnSpPr>
            <a:cxnSpLocks/>
          </p:cNvCxnSpPr>
          <p:nvPr/>
        </p:nvCxnSpPr>
        <p:spPr>
          <a:xfrm flipH="1">
            <a:off x="6598529" y="3840992"/>
            <a:ext cx="223829" cy="4896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Conector recto 94">
            <a:extLst>
              <a:ext uri="{FF2B5EF4-FFF2-40B4-BE49-F238E27FC236}">
                <a16:creationId xmlns:a16="http://schemas.microsoft.com/office/drawing/2014/main" id="{C6669EFA-368C-5A85-1D72-4E55133DF5F9}"/>
              </a:ext>
            </a:extLst>
          </p:cNvPr>
          <p:cNvCxnSpPr>
            <a:cxnSpLocks/>
          </p:cNvCxnSpPr>
          <p:nvPr/>
        </p:nvCxnSpPr>
        <p:spPr>
          <a:xfrm>
            <a:off x="7059779" y="3834176"/>
            <a:ext cx="260725" cy="4964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Conector recto 95">
            <a:extLst>
              <a:ext uri="{FF2B5EF4-FFF2-40B4-BE49-F238E27FC236}">
                <a16:creationId xmlns:a16="http://schemas.microsoft.com/office/drawing/2014/main" id="{5A348DBA-CC2D-3D45-9DEA-956B251F9115}"/>
              </a:ext>
            </a:extLst>
          </p:cNvPr>
          <p:cNvCxnSpPr>
            <a:cxnSpLocks/>
          </p:cNvCxnSpPr>
          <p:nvPr/>
        </p:nvCxnSpPr>
        <p:spPr>
          <a:xfrm>
            <a:off x="6954026" y="3862179"/>
            <a:ext cx="0" cy="48205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Conector recto 96">
            <a:extLst>
              <a:ext uri="{FF2B5EF4-FFF2-40B4-BE49-F238E27FC236}">
                <a16:creationId xmlns:a16="http://schemas.microsoft.com/office/drawing/2014/main" id="{6811F8CF-87EE-4B30-207B-32AE29F0466C}"/>
              </a:ext>
            </a:extLst>
          </p:cNvPr>
          <p:cNvCxnSpPr>
            <a:cxnSpLocks/>
            <a:endCxn id="103" idx="0"/>
          </p:cNvCxnSpPr>
          <p:nvPr/>
        </p:nvCxnSpPr>
        <p:spPr>
          <a:xfrm flipH="1">
            <a:off x="5524304" y="3832350"/>
            <a:ext cx="248458" cy="5032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Conector recto 97">
            <a:extLst>
              <a:ext uri="{FF2B5EF4-FFF2-40B4-BE49-F238E27FC236}">
                <a16:creationId xmlns:a16="http://schemas.microsoft.com/office/drawing/2014/main" id="{FA75AA32-9B1B-F548-433C-ADDD1D5D3E3F}"/>
              </a:ext>
            </a:extLst>
          </p:cNvPr>
          <p:cNvCxnSpPr>
            <a:cxnSpLocks/>
            <a:endCxn id="105" idx="0"/>
          </p:cNvCxnSpPr>
          <p:nvPr/>
        </p:nvCxnSpPr>
        <p:spPr>
          <a:xfrm>
            <a:off x="6010181" y="3825533"/>
            <a:ext cx="227897" cy="5065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Conector recto 98">
            <a:extLst>
              <a:ext uri="{FF2B5EF4-FFF2-40B4-BE49-F238E27FC236}">
                <a16:creationId xmlns:a16="http://schemas.microsoft.com/office/drawing/2014/main" id="{648F79A3-216C-908A-44B1-DA2A3B0AB39D}"/>
              </a:ext>
            </a:extLst>
          </p:cNvPr>
          <p:cNvCxnSpPr>
            <a:cxnSpLocks/>
          </p:cNvCxnSpPr>
          <p:nvPr/>
        </p:nvCxnSpPr>
        <p:spPr>
          <a:xfrm>
            <a:off x="5882826" y="3853538"/>
            <a:ext cx="0" cy="48205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0" name="Elipse 99">
            <a:extLst>
              <a:ext uri="{FF2B5EF4-FFF2-40B4-BE49-F238E27FC236}">
                <a16:creationId xmlns:a16="http://schemas.microsoft.com/office/drawing/2014/main" id="{9F3254BC-AA2F-D869-AA2A-0AD33F9A98F3}"/>
              </a:ext>
            </a:extLst>
          </p:cNvPr>
          <p:cNvSpPr/>
          <p:nvPr/>
        </p:nvSpPr>
        <p:spPr>
          <a:xfrm>
            <a:off x="6835401" y="4330623"/>
            <a:ext cx="260725" cy="258911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98" dirty="0">
                <a:solidFill>
                  <a:schemeClr val="bg2">
                    <a:lumMod val="50000"/>
                  </a:schemeClr>
                </a:solidFill>
              </a:rPr>
              <a:t>6</a:t>
            </a:r>
            <a:endParaRPr lang="en-GB" sz="998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1" name="Elipse 100">
            <a:extLst>
              <a:ext uri="{FF2B5EF4-FFF2-40B4-BE49-F238E27FC236}">
                <a16:creationId xmlns:a16="http://schemas.microsoft.com/office/drawing/2014/main" id="{EF5DECA9-7E00-C513-699E-5DD7C1152BC9}"/>
              </a:ext>
            </a:extLst>
          </p:cNvPr>
          <p:cNvSpPr/>
          <p:nvPr/>
        </p:nvSpPr>
        <p:spPr>
          <a:xfrm>
            <a:off x="6475635" y="4322793"/>
            <a:ext cx="260725" cy="258911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98" dirty="0">
                <a:solidFill>
                  <a:schemeClr val="bg2">
                    <a:lumMod val="50000"/>
                  </a:schemeClr>
                </a:solidFill>
              </a:rPr>
              <a:t>2</a:t>
            </a:r>
            <a:endParaRPr lang="en-GB" sz="998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2" name="Elipse 101">
            <a:extLst>
              <a:ext uri="{FF2B5EF4-FFF2-40B4-BE49-F238E27FC236}">
                <a16:creationId xmlns:a16="http://schemas.microsoft.com/office/drawing/2014/main" id="{7C18FE40-430B-9D48-7809-75B9E1684DDE}"/>
              </a:ext>
            </a:extLst>
          </p:cNvPr>
          <p:cNvSpPr/>
          <p:nvPr/>
        </p:nvSpPr>
        <p:spPr>
          <a:xfrm>
            <a:off x="7214755" y="4330623"/>
            <a:ext cx="260725" cy="258911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98" dirty="0">
                <a:solidFill>
                  <a:schemeClr val="bg2">
                    <a:lumMod val="50000"/>
                  </a:schemeClr>
                </a:solidFill>
              </a:rPr>
              <a:t>7</a:t>
            </a:r>
            <a:endParaRPr lang="en-GB" sz="998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3" name="Elipse 102">
            <a:extLst>
              <a:ext uri="{FF2B5EF4-FFF2-40B4-BE49-F238E27FC236}">
                <a16:creationId xmlns:a16="http://schemas.microsoft.com/office/drawing/2014/main" id="{0A1D2883-FBA9-430E-A667-F0009398B89A}"/>
              </a:ext>
            </a:extLst>
          </p:cNvPr>
          <p:cNvSpPr/>
          <p:nvPr/>
        </p:nvSpPr>
        <p:spPr>
          <a:xfrm>
            <a:off x="5393942" y="4335591"/>
            <a:ext cx="260725" cy="25891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98" dirty="0">
                <a:solidFill>
                  <a:schemeClr val="bg2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104" name="Elipse 103">
            <a:extLst>
              <a:ext uri="{FF2B5EF4-FFF2-40B4-BE49-F238E27FC236}">
                <a16:creationId xmlns:a16="http://schemas.microsoft.com/office/drawing/2014/main" id="{9E10CDDD-0EFF-834B-A433-7C832A1295EB}"/>
              </a:ext>
            </a:extLst>
          </p:cNvPr>
          <p:cNvSpPr/>
          <p:nvPr/>
        </p:nvSpPr>
        <p:spPr>
          <a:xfrm>
            <a:off x="5753708" y="4327924"/>
            <a:ext cx="260725" cy="25891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98" dirty="0">
                <a:solidFill>
                  <a:schemeClr val="bg2">
                    <a:lumMod val="50000"/>
                  </a:schemeClr>
                </a:solidFill>
              </a:rPr>
              <a:t>3</a:t>
            </a:r>
            <a:endParaRPr lang="en-GB" sz="998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5" name="Elipse 104">
            <a:extLst>
              <a:ext uri="{FF2B5EF4-FFF2-40B4-BE49-F238E27FC236}">
                <a16:creationId xmlns:a16="http://schemas.microsoft.com/office/drawing/2014/main" id="{3634630C-C274-9227-E622-BDB13EB7185F}"/>
              </a:ext>
            </a:extLst>
          </p:cNvPr>
          <p:cNvSpPr/>
          <p:nvPr/>
        </p:nvSpPr>
        <p:spPr>
          <a:xfrm>
            <a:off x="6107717" y="4332083"/>
            <a:ext cx="260725" cy="25891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98" dirty="0">
                <a:solidFill>
                  <a:schemeClr val="bg2">
                    <a:lumMod val="50000"/>
                  </a:schemeClr>
                </a:solidFill>
              </a:rPr>
              <a:t>5</a:t>
            </a:r>
            <a:endParaRPr lang="en-GB" sz="998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8" name="Elipse 107">
            <a:extLst>
              <a:ext uri="{FF2B5EF4-FFF2-40B4-BE49-F238E27FC236}">
                <a16:creationId xmlns:a16="http://schemas.microsoft.com/office/drawing/2014/main" id="{F1194625-D33D-33CD-F899-851A824884BD}"/>
              </a:ext>
            </a:extLst>
          </p:cNvPr>
          <p:cNvSpPr/>
          <p:nvPr/>
        </p:nvSpPr>
        <p:spPr>
          <a:xfrm>
            <a:off x="5703240" y="3524156"/>
            <a:ext cx="361106" cy="34062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-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09" name="Elipse 108">
            <a:extLst>
              <a:ext uri="{FF2B5EF4-FFF2-40B4-BE49-F238E27FC236}">
                <a16:creationId xmlns:a16="http://schemas.microsoft.com/office/drawing/2014/main" id="{036C4861-F8E4-D519-8471-8B53143DD82E}"/>
              </a:ext>
            </a:extLst>
          </p:cNvPr>
          <p:cNvSpPr/>
          <p:nvPr/>
        </p:nvSpPr>
        <p:spPr>
          <a:xfrm>
            <a:off x="6752836" y="3532797"/>
            <a:ext cx="361106" cy="34062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+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31" name="CuadroTexto 130">
            <a:extLst>
              <a:ext uri="{FF2B5EF4-FFF2-40B4-BE49-F238E27FC236}">
                <a16:creationId xmlns:a16="http://schemas.microsoft.com/office/drawing/2014/main" id="{BC95FEC9-F2F3-11F4-FFA1-A0CACCC21AF4}"/>
              </a:ext>
            </a:extLst>
          </p:cNvPr>
          <p:cNvSpPr txBox="1"/>
          <p:nvPr/>
        </p:nvSpPr>
        <p:spPr>
          <a:xfrm>
            <a:off x="5267019" y="3135707"/>
            <a:ext cx="790601" cy="315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52" b="1" dirty="0">
                <a:latin typeface="Cambria Math" panose="02040503050406030204" pitchFamily="18" charset="0"/>
                <a:ea typeface="Cambria Math" panose="02040503050406030204" pitchFamily="18" charset="0"/>
              </a:rPr>
              <a:t>X </a:t>
            </a:r>
            <a:r>
              <a:rPr lang="es-ES" sz="1452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j</a:t>
            </a:r>
            <a:r>
              <a:rPr lang="es-ES" sz="1452" dirty="0"/>
              <a:t> ≥ 0.2</a:t>
            </a:r>
            <a:endParaRPr lang="en-GB" sz="1452" dirty="0"/>
          </a:p>
        </p:txBody>
      </p:sp>
      <p:sp>
        <p:nvSpPr>
          <p:cNvPr id="132" name="CuadroTexto 131">
            <a:extLst>
              <a:ext uri="{FF2B5EF4-FFF2-40B4-BE49-F238E27FC236}">
                <a16:creationId xmlns:a16="http://schemas.microsoft.com/office/drawing/2014/main" id="{85213AC5-2D7D-E4EA-ED78-4DD3F6CA77A2}"/>
              </a:ext>
            </a:extLst>
          </p:cNvPr>
          <p:cNvSpPr txBox="1"/>
          <p:nvPr/>
        </p:nvSpPr>
        <p:spPr>
          <a:xfrm>
            <a:off x="6739448" y="3135707"/>
            <a:ext cx="790601" cy="315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52" b="1" dirty="0">
                <a:latin typeface="Cambria Math" panose="02040503050406030204" pitchFamily="18" charset="0"/>
                <a:ea typeface="Cambria Math" panose="02040503050406030204" pitchFamily="18" charset="0"/>
              </a:rPr>
              <a:t>X </a:t>
            </a:r>
            <a:r>
              <a:rPr lang="es-ES" sz="1452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j</a:t>
            </a:r>
            <a:r>
              <a:rPr lang="es-ES" sz="1452" dirty="0"/>
              <a:t> &lt; 0.2</a:t>
            </a:r>
            <a:endParaRPr lang="en-GB" sz="1452" dirty="0"/>
          </a:p>
        </p:txBody>
      </p:sp>
      <p:sp>
        <p:nvSpPr>
          <p:cNvPr id="134" name="CuadroTexto 133">
            <a:extLst>
              <a:ext uri="{FF2B5EF4-FFF2-40B4-BE49-F238E27FC236}">
                <a16:creationId xmlns:a16="http://schemas.microsoft.com/office/drawing/2014/main" id="{975D61DE-AEF4-6190-C03B-6F681ACF6307}"/>
              </a:ext>
            </a:extLst>
          </p:cNvPr>
          <p:cNvSpPr txBox="1"/>
          <p:nvPr/>
        </p:nvSpPr>
        <p:spPr>
          <a:xfrm>
            <a:off x="5584705" y="2370247"/>
            <a:ext cx="1633172" cy="343620"/>
          </a:xfrm>
          <a:prstGeom prst="rect">
            <a:avLst/>
          </a:prstGeom>
          <a:solidFill>
            <a:srgbClr val="A6CAE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633" dirty="0" err="1"/>
              <a:t>Decision</a:t>
            </a:r>
            <a:r>
              <a:rPr lang="es-ES" sz="1633" dirty="0"/>
              <a:t> </a:t>
            </a:r>
            <a:r>
              <a:rPr lang="es-ES" sz="1633" dirty="0" err="1"/>
              <a:t>tree</a:t>
            </a:r>
            <a:r>
              <a:rPr lang="es-ES" sz="1633" dirty="0"/>
              <a:t> 1</a:t>
            </a:r>
            <a:endParaRPr lang="en-GB" sz="1633" dirty="0"/>
          </a:p>
        </p:txBody>
      </p:sp>
      <p:sp>
        <p:nvSpPr>
          <p:cNvPr id="135" name="CuadroTexto 134">
            <a:extLst>
              <a:ext uri="{FF2B5EF4-FFF2-40B4-BE49-F238E27FC236}">
                <a16:creationId xmlns:a16="http://schemas.microsoft.com/office/drawing/2014/main" id="{AB7690DD-1CBB-A725-21C4-058A8CA87532}"/>
              </a:ext>
            </a:extLst>
          </p:cNvPr>
          <p:cNvSpPr txBox="1"/>
          <p:nvPr/>
        </p:nvSpPr>
        <p:spPr>
          <a:xfrm>
            <a:off x="10072316" y="2370247"/>
            <a:ext cx="1633172" cy="3436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633" dirty="0" err="1"/>
              <a:t>Decision</a:t>
            </a:r>
            <a:r>
              <a:rPr lang="es-ES" sz="1633" dirty="0"/>
              <a:t> </a:t>
            </a:r>
            <a:r>
              <a:rPr lang="es-ES" sz="1633" dirty="0" err="1"/>
              <a:t>tree</a:t>
            </a:r>
            <a:r>
              <a:rPr lang="es-ES" sz="1633" dirty="0"/>
              <a:t> 3</a:t>
            </a:r>
            <a:endParaRPr lang="en-GB" sz="1633" dirty="0"/>
          </a:p>
        </p:txBody>
      </p:sp>
      <p:sp>
        <p:nvSpPr>
          <p:cNvPr id="137" name="CuadroTexto 136">
            <a:extLst>
              <a:ext uri="{FF2B5EF4-FFF2-40B4-BE49-F238E27FC236}">
                <a16:creationId xmlns:a16="http://schemas.microsoft.com/office/drawing/2014/main" id="{37C5914B-673D-C4CF-6384-B7747481AB98}"/>
              </a:ext>
            </a:extLst>
          </p:cNvPr>
          <p:cNvSpPr txBox="1"/>
          <p:nvPr/>
        </p:nvSpPr>
        <p:spPr>
          <a:xfrm>
            <a:off x="11839793" y="3541880"/>
            <a:ext cx="7652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s-ES" sz="1400" dirty="0"/>
              <a:t> </a:t>
            </a:r>
            <a:r>
              <a:rPr lang="es-ES" sz="1400" dirty="0" err="1"/>
              <a:t>trees</a:t>
            </a:r>
            <a:endParaRPr lang="en-GB" sz="1400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E1EB9F41-69E8-873E-6C60-7C8BE39132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837476"/>
              </p:ext>
            </p:extLst>
          </p:nvPr>
        </p:nvGraphicFramePr>
        <p:xfrm>
          <a:off x="5112463" y="27940"/>
          <a:ext cx="7393854" cy="1926345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232309">
                  <a:extLst>
                    <a:ext uri="{9D8B030D-6E8A-4147-A177-3AD203B41FA5}">
                      <a16:colId xmlns:a16="http://schemas.microsoft.com/office/drawing/2014/main" val="291692086"/>
                    </a:ext>
                  </a:extLst>
                </a:gridCol>
                <a:gridCol w="1232309">
                  <a:extLst>
                    <a:ext uri="{9D8B030D-6E8A-4147-A177-3AD203B41FA5}">
                      <a16:colId xmlns:a16="http://schemas.microsoft.com/office/drawing/2014/main" val="107300031"/>
                    </a:ext>
                  </a:extLst>
                </a:gridCol>
                <a:gridCol w="1232309">
                  <a:extLst>
                    <a:ext uri="{9D8B030D-6E8A-4147-A177-3AD203B41FA5}">
                      <a16:colId xmlns:a16="http://schemas.microsoft.com/office/drawing/2014/main" val="3902680072"/>
                    </a:ext>
                  </a:extLst>
                </a:gridCol>
                <a:gridCol w="1232309">
                  <a:extLst>
                    <a:ext uri="{9D8B030D-6E8A-4147-A177-3AD203B41FA5}">
                      <a16:colId xmlns:a16="http://schemas.microsoft.com/office/drawing/2014/main" val="1537104247"/>
                    </a:ext>
                  </a:extLst>
                </a:gridCol>
                <a:gridCol w="1232309">
                  <a:extLst>
                    <a:ext uri="{9D8B030D-6E8A-4147-A177-3AD203B41FA5}">
                      <a16:colId xmlns:a16="http://schemas.microsoft.com/office/drawing/2014/main" val="3274801056"/>
                    </a:ext>
                  </a:extLst>
                </a:gridCol>
                <a:gridCol w="1232309">
                  <a:extLst>
                    <a:ext uri="{9D8B030D-6E8A-4147-A177-3AD203B41FA5}">
                      <a16:colId xmlns:a16="http://schemas.microsoft.com/office/drawing/2014/main" val="640631469"/>
                    </a:ext>
                  </a:extLst>
                </a:gridCol>
              </a:tblGrid>
              <a:tr h="580669">
                <a:tc>
                  <a:txBody>
                    <a:bodyPr/>
                    <a:lstStyle/>
                    <a:p>
                      <a:pPr algn="ctr"/>
                      <a:endParaRPr lang="en-GB" sz="1600" dirty="0"/>
                    </a:p>
                  </a:txBody>
                  <a:tcPr marL="82953" marR="82953" marT="41476" marB="414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 </a:t>
                      </a:r>
                      <a:r>
                        <a:rPr lang="es-ES" sz="1600" i="1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j </a:t>
                      </a:r>
                      <a:r>
                        <a:rPr lang="es-ES" sz="1600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 1</a:t>
                      </a:r>
                      <a:endParaRPr lang="en-GB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82953" marR="82953" marT="41476" marB="41476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 </a:t>
                      </a:r>
                      <a:r>
                        <a:rPr lang="es-ES" sz="1600" i="1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j</a:t>
                      </a:r>
                      <a:r>
                        <a:rPr lang="es-ES" sz="1600" i="0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s-ES" sz="1600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 2</a:t>
                      </a:r>
                      <a:endParaRPr lang="en-GB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82953" marR="82953" marT="41476" marB="41476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15F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 </a:t>
                      </a:r>
                      <a:r>
                        <a:rPr lang="es-ES" sz="1600" i="1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j </a:t>
                      </a:r>
                      <a:r>
                        <a:rPr lang="es-ES" sz="1600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 3</a:t>
                      </a:r>
                      <a:endParaRPr lang="en-GB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82953" marR="82953" marT="41476" marB="41476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 </a:t>
                      </a:r>
                      <a:r>
                        <a:rPr lang="es-ES" sz="1600" i="1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j</a:t>
                      </a:r>
                      <a:r>
                        <a:rPr lang="es-ES" sz="1600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= 4</a:t>
                      </a:r>
                      <a:endParaRPr lang="en-GB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82953" marR="82953" marT="41476" marB="41476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 </a:t>
                      </a:r>
                      <a:r>
                        <a:rPr lang="es-ES" sz="1600" i="1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j </a:t>
                      </a:r>
                      <a:r>
                        <a:rPr lang="es-ES" sz="1600" i="0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 </a:t>
                      </a:r>
                      <a:r>
                        <a:rPr lang="es-ES" sz="1600" i="1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</a:t>
                      </a:r>
                      <a:endParaRPr lang="en-GB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82953" marR="82953" marT="41476" marB="41476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70882795"/>
                  </a:ext>
                </a:extLst>
              </a:tr>
              <a:tr h="3364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</a:t>
                      </a:r>
                      <a:r>
                        <a:rPr lang="es-ES" sz="1600" i="1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</a:t>
                      </a:r>
                      <a:r>
                        <a:rPr lang="es-ES" sz="1600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=1</a:t>
                      </a:r>
                      <a:endParaRPr lang="en-GB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82953" marR="82953" marT="41476" marB="41476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6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1.23</a:t>
                      </a:r>
                      <a:endParaRPr lang="en-GB" sz="1600" dirty="0"/>
                    </a:p>
                  </a:txBody>
                  <a:tcPr marL="82953" marR="82953" marT="41476" marB="41476">
                    <a:lnL w="28575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0.77</a:t>
                      </a:r>
                      <a:endParaRPr lang="en-GB" sz="1600" dirty="0"/>
                    </a:p>
                  </a:txBody>
                  <a:tcPr marL="82953" marR="82953" marT="41476" marB="41476">
                    <a:lnL w="285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15F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15F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rgbClr val="CAEEFB"/>
                      </a:fgClr>
                      <a:bgClr>
                        <a:srgbClr val="A6CAEC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0.88</a:t>
                      </a:r>
                      <a:endParaRPr lang="en-GB" sz="1600" dirty="0"/>
                    </a:p>
                  </a:txBody>
                  <a:tcPr marL="82953" marR="82953" marT="41476" marB="41476">
                    <a:lnL w="28575" cap="flat" cmpd="sng" algn="ctr">
                      <a:solidFill>
                        <a:srgbClr val="215F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EE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0</a:t>
                      </a:r>
                      <a:endParaRPr lang="en-GB" sz="1600" dirty="0"/>
                    </a:p>
                  </a:txBody>
                  <a:tcPr marL="82953" marR="82953" marT="41476" marB="41476">
                    <a:lnL w="285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…</a:t>
                      </a:r>
                    </a:p>
                  </a:txBody>
                  <a:tcPr marL="82953" marR="82953" marT="41476" marB="4147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97313570"/>
                  </a:ext>
                </a:extLst>
              </a:tr>
              <a:tr h="3364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</a:t>
                      </a:r>
                      <a:r>
                        <a:rPr lang="es-ES" sz="1600" i="1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</a:t>
                      </a:r>
                      <a:r>
                        <a:rPr lang="es-ES" sz="1600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=2</a:t>
                      </a:r>
                      <a:endParaRPr lang="en-GB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82953" marR="82953" marT="41476" marB="41476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0.12</a:t>
                      </a:r>
                      <a:endParaRPr lang="en-GB" sz="1600" dirty="0"/>
                    </a:p>
                  </a:txBody>
                  <a:tcPr marL="82953" marR="82953" marT="41476" marB="41476">
                    <a:lnL w="28575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-0.52</a:t>
                      </a:r>
                      <a:endParaRPr lang="en-GB" sz="1600" dirty="0"/>
                    </a:p>
                  </a:txBody>
                  <a:tcPr marL="82953" marR="82953" marT="41476" marB="41476">
                    <a:lnL w="285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15F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rgbClr val="CAEEFB"/>
                      </a:fgClr>
                      <a:bgClr>
                        <a:srgbClr val="A6CAEC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1.00</a:t>
                      </a:r>
                      <a:endParaRPr lang="en-GB" sz="1600" dirty="0"/>
                    </a:p>
                  </a:txBody>
                  <a:tcPr marL="82953" marR="82953" marT="41476" marB="41476">
                    <a:lnL w="28575" cap="flat" cmpd="sng" algn="ctr">
                      <a:solidFill>
                        <a:srgbClr val="215F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rgbClr val="CAEEFB"/>
                      </a:fgClr>
                      <a:bgClr>
                        <a:schemeClr val="accent5">
                          <a:lumMod val="20000"/>
                          <a:lumOff val="80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1</a:t>
                      </a:r>
                      <a:endParaRPr lang="en-GB" sz="1600" dirty="0"/>
                    </a:p>
                  </a:txBody>
                  <a:tcPr marL="82953" marR="82953" marT="41476" marB="41476">
                    <a:lnL w="285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…</a:t>
                      </a:r>
                      <a:endParaRPr lang="en-GB" sz="1600" dirty="0"/>
                    </a:p>
                  </a:txBody>
                  <a:tcPr marL="82953" marR="82953" marT="41476" marB="41476">
                    <a:lnL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270800572"/>
                  </a:ext>
                </a:extLst>
              </a:tr>
              <a:tr h="3364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</a:t>
                      </a:r>
                      <a:r>
                        <a:rPr lang="es-ES" sz="1600" i="1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</a:t>
                      </a:r>
                      <a:r>
                        <a:rPr lang="es-ES" sz="1600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=3</a:t>
                      </a:r>
                      <a:endParaRPr lang="en-GB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82953" marR="82953" marT="41476" marB="41476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6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0.31</a:t>
                      </a:r>
                      <a:endParaRPr lang="en-GB" sz="1600" dirty="0"/>
                    </a:p>
                  </a:txBody>
                  <a:tcPr marL="82953" marR="82953" marT="41476" marB="41476">
                    <a:lnL w="28575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1.11</a:t>
                      </a:r>
                      <a:endParaRPr lang="en-GB" sz="1600" dirty="0"/>
                    </a:p>
                  </a:txBody>
                  <a:tcPr marL="82953" marR="82953" marT="41476" marB="41476">
                    <a:lnL w="285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15F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15F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rgbClr val="CAEEFB"/>
                      </a:fgClr>
                      <a:bgClr>
                        <a:srgbClr val="A6CAEC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0.59</a:t>
                      </a:r>
                      <a:endParaRPr lang="en-GB" sz="1600" dirty="0"/>
                    </a:p>
                  </a:txBody>
                  <a:tcPr marL="82953" marR="82953" marT="41476" marB="41476">
                    <a:lnL w="28575" cap="flat" cmpd="sng" algn="ctr">
                      <a:solidFill>
                        <a:srgbClr val="215F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wdUpDiag">
                      <a:fgClr>
                        <a:srgbClr val="CAEEFB"/>
                      </a:fgClr>
                      <a:bgClr>
                        <a:schemeClr val="accent5">
                          <a:lumMod val="20000"/>
                          <a:lumOff val="80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0</a:t>
                      </a:r>
                      <a:endParaRPr lang="en-GB" sz="1600" dirty="0"/>
                    </a:p>
                  </a:txBody>
                  <a:tcPr marL="82953" marR="82953" marT="41476" marB="41476">
                    <a:lnL w="285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…</a:t>
                      </a:r>
                      <a:endParaRPr lang="en-GB" sz="1600" dirty="0"/>
                    </a:p>
                  </a:txBody>
                  <a:tcPr marL="82953" marR="82953" marT="41476" marB="41476">
                    <a:lnL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622875697"/>
                  </a:ext>
                </a:extLst>
              </a:tr>
              <a:tr h="3364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</a:t>
                      </a:r>
                      <a:r>
                        <a:rPr lang="es-ES" sz="1600" i="1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 = n</a:t>
                      </a:r>
                      <a:endParaRPr lang="en-GB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82953" marR="82953" marT="41476" marB="41476">
                    <a:lnL w="12700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  <a:endParaRPr lang="en-GB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2953" marR="82953" marT="41476" marB="4147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…</a:t>
                      </a:r>
                      <a:endParaRPr lang="en-GB" sz="1600" dirty="0"/>
                    </a:p>
                  </a:txBody>
                  <a:tcPr marL="82953" marR="82953" marT="41476" marB="41476">
                    <a:lnL>
                      <a:noFill/>
                    </a:lnL>
                    <a:lnT w="28575" cap="flat" cmpd="sng" algn="ctr">
                      <a:solidFill>
                        <a:srgbClr val="215F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...</a:t>
                      </a:r>
                      <a:endParaRPr lang="en-GB" sz="1600" dirty="0"/>
                    </a:p>
                  </a:txBody>
                  <a:tcPr marL="82953" marR="82953" marT="41476" marB="41476">
                    <a:lnT w="285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…</a:t>
                      </a:r>
                      <a:endParaRPr lang="en-GB" sz="1600" dirty="0"/>
                    </a:p>
                  </a:txBody>
                  <a:tcPr marL="82953" marR="82953" marT="41476" marB="41476">
                    <a:lnT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…</a:t>
                      </a:r>
                      <a:endParaRPr lang="en-GB" sz="1600" b="1" dirty="0"/>
                    </a:p>
                  </a:txBody>
                  <a:tcPr marL="82953" marR="82953" marT="41476" marB="41476"/>
                </a:tc>
                <a:extLst>
                  <a:ext uri="{0D108BD9-81ED-4DB2-BD59-A6C34878D82A}">
                    <a16:rowId xmlns:a16="http://schemas.microsoft.com/office/drawing/2014/main" val="3961091715"/>
                  </a:ext>
                </a:extLst>
              </a:tr>
            </a:tbl>
          </a:graphicData>
        </a:graphic>
      </p:graphicFrame>
      <p:grpSp>
        <p:nvGrpSpPr>
          <p:cNvPr id="145" name="Grupo 144">
            <a:extLst>
              <a:ext uri="{FF2B5EF4-FFF2-40B4-BE49-F238E27FC236}">
                <a16:creationId xmlns:a16="http://schemas.microsoft.com/office/drawing/2014/main" id="{1A7EBB2D-D02F-C553-2948-CFCD730177CB}"/>
              </a:ext>
            </a:extLst>
          </p:cNvPr>
          <p:cNvGrpSpPr/>
          <p:nvPr/>
        </p:nvGrpSpPr>
        <p:grpSpPr>
          <a:xfrm>
            <a:off x="5068701" y="40033"/>
            <a:ext cx="1319635" cy="500595"/>
            <a:chOff x="3749309" y="327234"/>
            <a:chExt cx="1454653" cy="551813"/>
          </a:xfrm>
        </p:grpSpPr>
        <p:sp>
          <p:nvSpPr>
            <p:cNvPr id="71" name="CuadroTexto 70">
              <a:extLst>
                <a:ext uri="{FF2B5EF4-FFF2-40B4-BE49-F238E27FC236}">
                  <a16:creationId xmlns:a16="http://schemas.microsoft.com/office/drawing/2014/main" id="{86895316-A4B3-1068-F23C-8BC42287582A}"/>
                </a:ext>
              </a:extLst>
            </p:cNvPr>
            <p:cNvSpPr txBox="1"/>
            <p:nvPr/>
          </p:nvSpPr>
          <p:spPr>
            <a:xfrm>
              <a:off x="3749309" y="592508"/>
              <a:ext cx="935103" cy="2865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089" b="1" dirty="0" err="1">
                  <a:solidFill>
                    <a:schemeClr val="bg1"/>
                  </a:solidFill>
                </a:rPr>
                <a:t>Molecules</a:t>
              </a:r>
              <a:endParaRPr lang="en-GB" sz="1089" b="1" dirty="0">
                <a:solidFill>
                  <a:schemeClr val="bg1"/>
                </a:solidFill>
              </a:endParaRPr>
            </a:p>
          </p:txBody>
        </p:sp>
        <p:sp>
          <p:nvSpPr>
            <p:cNvPr id="136" name="CuadroTexto 135">
              <a:extLst>
                <a:ext uri="{FF2B5EF4-FFF2-40B4-BE49-F238E27FC236}">
                  <a16:creationId xmlns:a16="http://schemas.microsoft.com/office/drawing/2014/main" id="{2B7693C4-39C1-14F9-27CB-137CF7A38BD6}"/>
                </a:ext>
              </a:extLst>
            </p:cNvPr>
            <p:cNvSpPr txBox="1"/>
            <p:nvPr/>
          </p:nvSpPr>
          <p:spPr>
            <a:xfrm>
              <a:off x="4381947" y="327234"/>
              <a:ext cx="822015" cy="2865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089" b="1" dirty="0" err="1">
                  <a:solidFill>
                    <a:schemeClr val="bg1"/>
                  </a:solidFill>
                </a:rPr>
                <a:t>Features</a:t>
              </a:r>
              <a:endParaRPr lang="en-GB" sz="1089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42" name="Grupo 141">
            <a:extLst>
              <a:ext uri="{FF2B5EF4-FFF2-40B4-BE49-F238E27FC236}">
                <a16:creationId xmlns:a16="http://schemas.microsoft.com/office/drawing/2014/main" id="{47728959-55F9-3DDB-9079-45C47F8645E6}"/>
              </a:ext>
            </a:extLst>
          </p:cNvPr>
          <p:cNvGrpSpPr/>
          <p:nvPr/>
        </p:nvGrpSpPr>
        <p:grpSpPr>
          <a:xfrm>
            <a:off x="5208961" y="4740472"/>
            <a:ext cx="475005" cy="375434"/>
            <a:chOff x="8327714" y="4483934"/>
            <a:chExt cx="523605" cy="413846"/>
          </a:xfrm>
        </p:grpSpPr>
        <p:sp>
          <p:nvSpPr>
            <p:cNvPr id="143" name="Elipse 142">
              <a:extLst>
                <a:ext uri="{FF2B5EF4-FFF2-40B4-BE49-F238E27FC236}">
                  <a16:creationId xmlns:a16="http://schemas.microsoft.com/office/drawing/2014/main" id="{62784079-6B89-09EE-8B97-8B9FB95DC275}"/>
                </a:ext>
              </a:extLst>
            </p:cNvPr>
            <p:cNvSpPr/>
            <p:nvPr/>
          </p:nvSpPr>
          <p:spPr>
            <a:xfrm>
              <a:off x="8364469" y="4483934"/>
              <a:ext cx="423932" cy="413846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26" dirty="0">
                <a:solidFill>
                  <a:schemeClr val="tx1"/>
                </a:solidFill>
              </a:endParaRPr>
            </a:p>
          </p:txBody>
        </p:sp>
        <p:sp>
          <p:nvSpPr>
            <p:cNvPr id="144" name="CuadroTexto 143">
              <a:extLst>
                <a:ext uri="{FF2B5EF4-FFF2-40B4-BE49-F238E27FC236}">
                  <a16:creationId xmlns:a16="http://schemas.microsoft.com/office/drawing/2014/main" id="{C071F7BB-D7AA-C61C-5DDF-C48C06328E81}"/>
                </a:ext>
              </a:extLst>
            </p:cNvPr>
            <p:cNvSpPr txBox="1"/>
            <p:nvPr/>
          </p:nvSpPr>
          <p:spPr>
            <a:xfrm>
              <a:off x="8327714" y="4514414"/>
              <a:ext cx="523605" cy="317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70" b="1" dirty="0" err="1">
                  <a:latin typeface="Cambria Math" panose="02040503050406030204" pitchFamily="18" charset="0"/>
                  <a:ea typeface="Cambria Math" panose="02040503050406030204" pitchFamily="18" charset="0"/>
                </a:rPr>
                <a:t>X</a:t>
              </a:r>
              <a:r>
                <a:rPr lang="es-ES" sz="1270" baseline="-25000" dirty="0" err="1">
                  <a:latin typeface="Cambria Math" panose="02040503050406030204" pitchFamily="18" charset="0"/>
                  <a:ea typeface="Cambria Math" panose="02040503050406030204" pitchFamily="18" charset="0"/>
                </a:rPr>
                <a:t>new</a:t>
              </a:r>
              <a:endParaRPr lang="en-GB" sz="1270" baseline="-250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92A9B17-6DEA-E390-2BE9-6A44C1AEA01F}"/>
              </a:ext>
            </a:extLst>
          </p:cNvPr>
          <p:cNvGrpSpPr/>
          <p:nvPr/>
        </p:nvGrpSpPr>
        <p:grpSpPr>
          <a:xfrm>
            <a:off x="5288672" y="6282197"/>
            <a:ext cx="7176718" cy="464237"/>
            <a:chOff x="4276276" y="6249764"/>
            <a:chExt cx="7176718" cy="464237"/>
          </a:xfrm>
        </p:grpSpPr>
        <p:sp>
          <p:nvSpPr>
            <p:cNvPr id="60" name="CuadroTexto 59">
              <a:extLst>
                <a:ext uri="{FF2B5EF4-FFF2-40B4-BE49-F238E27FC236}">
                  <a16:creationId xmlns:a16="http://schemas.microsoft.com/office/drawing/2014/main" id="{F787DB3B-2BDB-2CA7-0527-B550B89DDE78}"/>
                </a:ext>
              </a:extLst>
            </p:cNvPr>
            <p:cNvSpPr txBox="1"/>
            <p:nvPr/>
          </p:nvSpPr>
          <p:spPr>
            <a:xfrm>
              <a:off x="4276276" y="6249764"/>
              <a:ext cx="7176718" cy="4307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s-ES" sz="1633" dirty="0"/>
                <a:t>If </a:t>
              </a:r>
              <a:r>
                <a:rPr lang="es-ES" sz="1633" dirty="0" err="1"/>
                <a:t>aggregated</a:t>
              </a:r>
              <a:r>
                <a:rPr lang="es-ES" sz="1633" dirty="0"/>
                <a:t> </a:t>
              </a:r>
              <a:r>
                <a:rPr lang="es-ES" sz="1633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P</a:t>
              </a:r>
              <a:r>
                <a:rPr lang="es-ES" sz="1633" dirty="0"/>
                <a:t> &gt; </a:t>
              </a:r>
              <a:r>
                <a:rPr lang="es-ES" sz="1633" dirty="0" err="1"/>
                <a:t>threshold</a:t>
              </a:r>
              <a:r>
                <a:rPr lang="es-ES" sz="1633" dirty="0"/>
                <a:t>* </a:t>
              </a:r>
              <a:r>
                <a:rPr lang="es-ES" sz="1633" dirty="0" err="1"/>
                <a:t>then</a:t>
              </a:r>
              <a:r>
                <a:rPr lang="es-ES" sz="1633" dirty="0"/>
                <a:t>            </a:t>
              </a:r>
              <a:r>
                <a:rPr lang="es-ES" sz="1633" dirty="0" err="1"/>
                <a:t>is</a:t>
              </a:r>
              <a:r>
                <a:rPr lang="es-ES" sz="1633" dirty="0"/>
                <a:t> </a:t>
              </a:r>
              <a:r>
                <a:rPr lang="es-ES" sz="1633" dirty="0" err="1"/>
                <a:t>predicted</a:t>
              </a:r>
              <a:r>
                <a:rPr lang="es-ES" sz="1633" dirty="0"/>
                <a:t> </a:t>
              </a:r>
              <a:r>
                <a:rPr lang="es-ES" sz="1633" dirty="0" err="1"/>
                <a:t>to</a:t>
              </a:r>
              <a:r>
                <a:rPr lang="es-ES" sz="1633" dirty="0"/>
                <a:t> be </a:t>
              </a:r>
              <a:r>
                <a:rPr lang="es-ES" sz="1633" dirty="0" err="1"/>
                <a:t>metabolized</a:t>
              </a:r>
              <a:r>
                <a:rPr lang="es-ES" sz="1633" dirty="0"/>
                <a:t> </a:t>
              </a:r>
              <a:r>
                <a:rPr lang="es-ES" sz="1633" dirty="0" err="1"/>
                <a:t>by</a:t>
              </a:r>
              <a:r>
                <a:rPr lang="es-ES" sz="1633" dirty="0"/>
                <a:t> CYP</a:t>
              </a:r>
              <a:r>
                <a:rPr lang="es-ES" sz="1633" baseline="-25000" dirty="0"/>
                <a:t>XYZ</a:t>
              </a:r>
              <a:endParaRPr lang="en-GB" sz="1633" baseline="-25000" dirty="0"/>
            </a:p>
          </p:txBody>
        </p:sp>
        <p:grpSp>
          <p:nvGrpSpPr>
            <p:cNvPr id="146" name="Grupo 145">
              <a:extLst>
                <a:ext uri="{FF2B5EF4-FFF2-40B4-BE49-F238E27FC236}">
                  <a16:creationId xmlns:a16="http://schemas.microsoft.com/office/drawing/2014/main" id="{FEA710FB-8983-221B-EDFF-379BBEA50CAE}"/>
                </a:ext>
              </a:extLst>
            </p:cNvPr>
            <p:cNvGrpSpPr/>
            <p:nvPr/>
          </p:nvGrpSpPr>
          <p:grpSpPr>
            <a:xfrm>
              <a:off x="7293863" y="6338567"/>
              <a:ext cx="475005" cy="375434"/>
              <a:chOff x="8327714" y="4483934"/>
              <a:chExt cx="523605" cy="413846"/>
            </a:xfrm>
          </p:grpSpPr>
          <p:sp>
            <p:nvSpPr>
              <p:cNvPr id="147" name="Elipse 146">
                <a:extLst>
                  <a:ext uri="{FF2B5EF4-FFF2-40B4-BE49-F238E27FC236}">
                    <a16:creationId xmlns:a16="http://schemas.microsoft.com/office/drawing/2014/main" id="{4D55DC89-0320-0079-1A7C-8FA0B4C09D41}"/>
                  </a:ext>
                </a:extLst>
              </p:cNvPr>
              <p:cNvSpPr/>
              <p:nvPr/>
            </p:nvSpPr>
            <p:spPr>
              <a:xfrm>
                <a:off x="8364469" y="4483934"/>
                <a:ext cx="423932" cy="413846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726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8" name="CuadroTexto 147">
                <a:extLst>
                  <a:ext uri="{FF2B5EF4-FFF2-40B4-BE49-F238E27FC236}">
                    <a16:creationId xmlns:a16="http://schemas.microsoft.com/office/drawing/2014/main" id="{BC2C57CC-7BD3-65A8-DA7A-5743F4E4E688}"/>
                  </a:ext>
                </a:extLst>
              </p:cNvPr>
              <p:cNvSpPr txBox="1"/>
              <p:nvPr/>
            </p:nvSpPr>
            <p:spPr>
              <a:xfrm>
                <a:off x="8327714" y="4514414"/>
                <a:ext cx="523605" cy="3172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270" b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r>
                  <a:rPr lang="es-ES" sz="1270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new</a:t>
                </a:r>
                <a:endParaRPr lang="en-GB" sz="127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p:grpSp>
      </p:grp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1421F32-ABB0-604D-EF36-CE15D9DFC8AA}"/>
              </a:ext>
            </a:extLst>
          </p:cNvPr>
          <p:cNvSpPr txBox="1"/>
          <p:nvPr/>
        </p:nvSpPr>
        <p:spPr>
          <a:xfrm>
            <a:off x="2200221" y="2604593"/>
            <a:ext cx="2801493" cy="3436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s-ES" sz="1633" i="1" u="sng" dirty="0"/>
              <a:t>2. </a:t>
            </a:r>
            <a:r>
              <a:rPr lang="es-ES" sz="1633" i="1" u="sng" dirty="0" err="1"/>
              <a:t>Multiple</a:t>
            </a:r>
            <a:r>
              <a:rPr lang="es-ES" sz="1633" i="1" u="sng" dirty="0"/>
              <a:t> </a:t>
            </a:r>
            <a:r>
              <a:rPr lang="es-ES" sz="1633" i="1" u="sng" dirty="0" err="1"/>
              <a:t>tree</a:t>
            </a:r>
            <a:r>
              <a:rPr lang="es-ES" sz="1633" i="1" u="sng" dirty="0"/>
              <a:t> </a:t>
            </a:r>
            <a:r>
              <a:rPr lang="es-ES" sz="1633" i="1" u="sng" dirty="0" err="1"/>
              <a:t>construction</a:t>
            </a:r>
            <a:endParaRPr lang="en-GB" sz="1633" i="1" u="sng" dirty="0"/>
          </a:p>
        </p:txBody>
      </p:sp>
      <p:cxnSp>
        <p:nvCxnSpPr>
          <p:cNvPr id="5" name="Conector recto 21">
            <a:extLst>
              <a:ext uri="{FF2B5EF4-FFF2-40B4-BE49-F238E27FC236}">
                <a16:creationId xmlns:a16="http://schemas.microsoft.com/office/drawing/2014/main" id="{48B76290-2B4F-3601-8C48-D61D766B8CD3}"/>
              </a:ext>
            </a:extLst>
          </p:cNvPr>
          <p:cNvCxnSpPr>
            <a:cxnSpLocks/>
          </p:cNvCxnSpPr>
          <p:nvPr/>
        </p:nvCxnSpPr>
        <p:spPr>
          <a:xfrm>
            <a:off x="1050935" y="2094868"/>
            <a:ext cx="12192000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Conector recto 21">
            <a:extLst>
              <a:ext uri="{FF2B5EF4-FFF2-40B4-BE49-F238E27FC236}">
                <a16:creationId xmlns:a16="http://schemas.microsoft.com/office/drawing/2014/main" id="{FA4C0D99-2CA2-5392-930C-89FA32503DAA}"/>
              </a:ext>
            </a:extLst>
          </p:cNvPr>
          <p:cNvCxnSpPr>
            <a:cxnSpLocks/>
          </p:cNvCxnSpPr>
          <p:nvPr/>
        </p:nvCxnSpPr>
        <p:spPr>
          <a:xfrm>
            <a:off x="1085817" y="4656070"/>
            <a:ext cx="12192000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 Box 1">
            <a:extLst>
              <a:ext uri="{FF2B5EF4-FFF2-40B4-BE49-F238E27FC236}">
                <a16:creationId xmlns:a16="http://schemas.microsoft.com/office/drawing/2014/main" id="{736A741D-AA40-0B27-E915-FD042868CBDA}"/>
              </a:ext>
            </a:extLst>
          </p:cNvPr>
          <p:cNvSpPr txBox="1"/>
          <p:nvPr/>
        </p:nvSpPr>
        <p:spPr>
          <a:xfrm>
            <a:off x="1570108" y="-10185"/>
            <a:ext cx="630110" cy="461179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ES" sz="2000" b="1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GB" sz="1100" b="1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Box 1">
            <a:extLst>
              <a:ext uri="{FF2B5EF4-FFF2-40B4-BE49-F238E27FC236}">
                <a16:creationId xmlns:a16="http://schemas.microsoft.com/office/drawing/2014/main" id="{80E35638-3CFF-482B-90A7-211E9AA221A3}"/>
              </a:ext>
            </a:extLst>
          </p:cNvPr>
          <p:cNvSpPr txBox="1"/>
          <p:nvPr/>
        </p:nvSpPr>
        <p:spPr>
          <a:xfrm>
            <a:off x="1570108" y="2114527"/>
            <a:ext cx="630110" cy="461179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ES" sz="2000" b="1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GB" sz="1100" b="1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Box 1">
            <a:extLst>
              <a:ext uri="{FF2B5EF4-FFF2-40B4-BE49-F238E27FC236}">
                <a16:creationId xmlns:a16="http://schemas.microsoft.com/office/drawing/2014/main" id="{DAEC87D6-D836-E3D2-154D-90445F0D4273}"/>
              </a:ext>
            </a:extLst>
          </p:cNvPr>
          <p:cNvSpPr txBox="1"/>
          <p:nvPr/>
        </p:nvSpPr>
        <p:spPr>
          <a:xfrm>
            <a:off x="1570108" y="4683600"/>
            <a:ext cx="630110" cy="461179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ES" sz="2000" b="1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GB" sz="1100" b="1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uadroTexto 22">
            <a:extLst>
              <a:ext uri="{FF2B5EF4-FFF2-40B4-BE49-F238E27FC236}">
                <a16:creationId xmlns:a16="http://schemas.microsoft.com/office/drawing/2014/main" id="{7E068C76-67E1-E7A3-42C2-141709A09779}"/>
              </a:ext>
            </a:extLst>
          </p:cNvPr>
          <p:cNvSpPr txBox="1"/>
          <p:nvPr/>
        </p:nvSpPr>
        <p:spPr>
          <a:xfrm>
            <a:off x="2200221" y="2221837"/>
            <a:ext cx="2801493" cy="3157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452" b="1" dirty="0">
                <a:latin typeface="Cambria Math" panose="02040503050406030204" pitchFamily="18" charset="0"/>
                <a:ea typeface="Cambria Math" panose="02040503050406030204" pitchFamily="18" charset="0"/>
              </a:rPr>
              <a:t>K </a:t>
            </a:r>
            <a:r>
              <a:rPr lang="es-ES" sz="1452" b="1" dirty="0" err="1"/>
              <a:t>trees</a:t>
            </a:r>
            <a:r>
              <a:rPr lang="es-ES" sz="1452" b="1" dirty="0"/>
              <a:t> </a:t>
            </a:r>
            <a:r>
              <a:rPr lang="es-ES" sz="1452" b="1" dirty="0" err="1"/>
              <a:t>grown</a:t>
            </a:r>
            <a:r>
              <a:rPr lang="es-ES" sz="1452" b="1" dirty="0"/>
              <a:t> in </a:t>
            </a:r>
            <a:r>
              <a:rPr lang="es-ES" sz="1452" b="1" dirty="0" err="1"/>
              <a:t>parallel</a:t>
            </a:r>
            <a:endParaRPr lang="es-ES" sz="1452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AB7580-3333-43BA-4A98-7414363CA680}"/>
              </a:ext>
            </a:extLst>
          </p:cNvPr>
          <p:cNvSpPr txBox="1"/>
          <p:nvPr/>
        </p:nvSpPr>
        <p:spPr>
          <a:xfrm>
            <a:off x="2200219" y="2952457"/>
            <a:ext cx="2807088" cy="1200329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just"/>
          </a:lstStyle>
          <a:p>
            <a:r>
              <a:rPr lang="en-GB" dirty="0"/>
              <a:t>Each tree uses a different bootstrapped sample to partition molecules via decision nodes.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C94112-3E59-0F25-5715-FC36170594DC}"/>
              </a:ext>
            </a:extLst>
          </p:cNvPr>
          <p:cNvSpPr txBox="1"/>
          <p:nvPr/>
        </p:nvSpPr>
        <p:spPr>
          <a:xfrm>
            <a:off x="2200221" y="967403"/>
            <a:ext cx="2801493" cy="92333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Random </a:t>
            </a:r>
            <a:r>
              <a:rPr lang="es-ES" dirty="0" err="1"/>
              <a:t>molecule</a:t>
            </a:r>
            <a:r>
              <a:rPr lang="es-ES" dirty="0"/>
              <a:t> and </a:t>
            </a:r>
            <a:r>
              <a:rPr lang="es-ES" dirty="0" err="1"/>
              <a:t>feature</a:t>
            </a:r>
            <a:r>
              <a:rPr lang="es-ES" dirty="0"/>
              <a:t> </a:t>
            </a:r>
            <a:r>
              <a:rPr lang="es-ES" dirty="0" err="1"/>
              <a:t>selection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tree</a:t>
            </a:r>
            <a:r>
              <a:rPr lang="es-ES" dirty="0"/>
              <a:t> </a:t>
            </a:r>
            <a:r>
              <a:rPr lang="es-ES" dirty="0" err="1"/>
              <a:t>construction</a:t>
            </a:r>
            <a:r>
              <a:rPr lang="es-ES" dirty="0"/>
              <a:t>.</a:t>
            </a:r>
            <a:endParaRPr lang="en-GB" dirty="0"/>
          </a:p>
        </p:txBody>
      </p:sp>
      <p:sp>
        <p:nvSpPr>
          <p:cNvPr id="35" name="CuadroTexto 22">
            <a:extLst>
              <a:ext uri="{FF2B5EF4-FFF2-40B4-BE49-F238E27FC236}">
                <a16:creationId xmlns:a16="http://schemas.microsoft.com/office/drawing/2014/main" id="{E778A3F6-3AAF-D085-3CE9-1A7F3C14B1B8}"/>
              </a:ext>
            </a:extLst>
          </p:cNvPr>
          <p:cNvSpPr txBox="1"/>
          <p:nvPr/>
        </p:nvSpPr>
        <p:spPr>
          <a:xfrm>
            <a:off x="2200219" y="4756289"/>
            <a:ext cx="2801492" cy="3157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452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</a:t>
            </a:r>
            <a:r>
              <a:rPr lang="es-ES" sz="1452" b="1" baseline="-25000" dirty="0" err="1">
                <a:latin typeface="Aptos" panose="020B0004020202020204" pitchFamily="34" charset="0"/>
                <a:ea typeface="Cambria Math" panose="02040503050406030204" pitchFamily="18" charset="0"/>
              </a:rPr>
              <a:t>new</a:t>
            </a:r>
            <a:r>
              <a:rPr lang="es-ES" sz="1452" b="1" dirty="0">
                <a:latin typeface="Aptos" panose="020B0004020202020204" pitchFamily="34" charset="0"/>
                <a:ea typeface="Cambria Math" panose="02040503050406030204" pitchFamily="18" charset="0"/>
              </a:rPr>
              <a:t> </a:t>
            </a:r>
            <a:r>
              <a:rPr lang="es-ES" sz="1452" b="1" dirty="0" err="1">
                <a:latin typeface="Aptos" panose="020B0004020202020204" pitchFamily="34" charset="0"/>
                <a:ea typeface="Cambria Math" panose="02040503050406030204" pitchFamily="18" charset="0"/>
              </a:rPr>
              <a:t>predicted</a:t>
            </a:r>
            <a:r>
              <a:rPr lang="es-ES" sz="1452" b="1" dirty="0">
                <a:latin typeface="Aptos" panose="020B0004020202020204" pitchFamily="34" charset="0"/>
                <a:ea typeface="Cambria Math" panose="02040503050406030204" pitchFamily="18" charset="0"/>
              </a:rPr>
              <a:t> </a:t>
            </a:r>
            <a:r>
              <a:rPr lang="es-ES" sz="1452" b="1" dirty="0" err="1">
                <a:latin typeface="Aptos" panose="020B0004020202020204" pitchFamily="34" charset="0"/>
                <a:ea typeface="Cambria Math" panose="02040503050406030204" pitchFamily="18" charset="0"/>
              </a:rPr>
              <a:t>independently</a:t>
            </a:r>
            <a:endParaRPr lang="es-ES" sz="1452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03F635C-559C-3D55-E045-B0749BDF9CA9}"/>
                  </a:ext>
                </a:extLst>
              </p:cNvPr>
              <p:cNvSpPr txBox="1"/>
              <p:nvPr/>
            </p:nvSpPr>
            <p:spPr>
              <a:xfrm>
                <a:off x="2200221" y="5462488"/>
                <a:ext cx="2801493" cy="1200329"/>
              </a:xfrm>
              <a:prstGeom prst="rect">
                <a:avLst/>
              </a:prstGeom>
              <a:noFill/>
              <a:ln w="28575"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just"/>
              </a:lstStyle>
              <a:p>
                <a:r>
                  <a:rPr lang="en-GB" dirty="0"/>
                  <a:t>An unseen molecule is passed through all trees, and their predictions are averaged to obtain </a:t>
                </a:r>
                <a14:m>
                  <m:oMath xmlns:m="http://schemas.openxmlformats.org/officeDocument/2006/math">
                    <m:r>
                      <a:rPr lang="es-ES" b="1" i="1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03F635C-559C-3D55-E045-B0749BDF9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0221" y="5462488"/>
                <a:ext cx="2801493" cy="1200329"/>
              </a:xfrm>
              <a:prstGeom prst="rect">
                <a:avLst/>
              </a:prstGeom>
              <a:blipFill>
                <a:blip r:embed="rId3"/>
                <a:stretch>
                  <a:fillRect l="-1509" t="-990" r="-1078" b="-5941"/>
                </a:stretch>
              </a:blipFill>
              <a:ln w="28575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Oval 44">
            <a:extLst>
              <a:ext uri="{FF2B5EF4-FFF2-40B4-BE49-F238E27FC236}">
                <a16:creationId xmlns:a16="http://schemas.microsoft.com/office/drawing/2014/main" id="{D33E3285-E08E-57C5-C1D0-A83EA6423B64}"/>
              </a:ext>
            </a:extLst>
          </p:cNvPr>
          <p:cNvSpPr/>
          <p:nvPr/>
        </p:nvSpPr>
        <p:spPr>
          <a:xfrm>
            <a:off x="5886346" y="723105"/>
            <a:ext cx="133350" cy="120646"/>
          </a:xfrm>
          <a:prstGeom prst="ellipse">
            <a:avLst/>
          </a:prstGeom>
          <a:solidFill>
            <a:srgbClr val="CAEEFB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59653B4-CB43-7735-FAB0-189C3308E481}"/>
              </a:ext>
            </a:extLst>
          </p:cNvPr>
          <p:cNvSpPr/>
          <p:nvPr/>
        </p:nvSpPr>
        <p:spPr>
          <a:xfrm>
            <a:off x="5876829" y="1059971"/>
            <a:ext cx="133350" cy="120646"/>
          </a:xfrm>
          <a:prstGeom prst="ellipse">
            <a:avLst/>
          </a:prstGeom>
          <a:solidFill>
            <a:srgbClr val="CAEEFB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96C64ED1-2B2A-A574-7B88-629DDA484788}"/>
              </a:ext>
            </a:extLst>
          </p:cNvPr>
          <p:cNvSpPr/>
          <p:nvPr/>
        </p:nvSpPr>
        <p:spPr>
          <a:xfrm>
            <a:off x="5882826" y="1391592"/>
            <a:ext cx="133350" cy="120646"/>
          </a:xfrm>
          <a:prstGeom prst="ellipse">
            <a:avLst/>
          </a:prstGeom>
          <a:solidFill>
            <a:srgbClr val="CAEEFB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C5AA6C0-A92B-15E3-D2B5-A246388FF681}"/>
              </a:ext>
            </a:extLst>
          </p:cNvPr>
          <p:cNvSpPr/>
          <p:nvPr/>
        </p:nvSpPr>
        <p:spPr>
          <a:xfrm>
            <a:off x="5687030" y="723105"/>
            <a:ext cx="133350" cy="120646"/>
          </a:xfrm>
          <a:prstGeom prst="ellipse">
            <a:avLst/>
          </a:prstGeom>
          <a:solidFill>
            <a:srgbClr val="A6CAEC"/>
          </a:solidFill>
          <a:ln>
            <a:solidFill>
              <a:srgbClr val="215F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54573C4D-113D-34A5-862C-F195DA3080F6}"/>
              </a:ext>
            </a:extLst>
          </p:cNvPr>
          <p:cNvSpPr/>
          <p:nvPr/>
        </p:nvSpPr>
        <p:spPr>
          <a:xfrm>
            <a:off x="5687030" y="1059971"/>
            <a:ext cx="133350" cy="120646"/>
          </a:xfrm>
          <a:prstGeom prst="ellipse">
            <a:avLst/>
          </a:prstGeom>
          <a:solidFill>
            <a:srgbClr val="A6CAEC"/>
          </a:solidFill>
          <a:ln>
            <a:solidFill>
              <a:srgbClr val="215F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0BFEED48-54A7-9586-1F4B-F91EEAAF7C14}"/>
              </a:ext>
            </a:extLst>
          </p:cNvPr>
          <p:cNvSpPr/>
          <p:nvPr/>
        </p:nvSpPr>
        <p:spPr>
          <a:xfrm>
            <a:off x="5687030" y="1391592"/>
            <a:ext cx="133350" cy="120646"/>
          </a:xfrm>
          <a:prstGeom prst="ellipse">
            <a:avLst/>
          </a:prstGeom>
          <a:solidFill>
            <a:srgbClr val="A6CAEC"/>
          </a:solidFill>
          <a:ln>
            <a:solidFill>
              <a:srgbClr val="215F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6809388A-24FE-9FDA-9999-9DDE8E8850FE}"/>
              </a:ext>
            </a:extLst>
          </p:cNvPr>
          <p:cNvSpPr/>
          <p:nvPr/>
        </p:nvSpPr>
        <p:spPr>
          <a:xfrm>
            <a:off x="6057452" y="1059971"/>
            <a:ext cx="133350" cy="12064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70A6BB55-C77D-090F-8973-5BAB4EA7D311}"/>
              </a:ext>
            </a:extLst>
          </p:cNvPr>
          <p:cNvSpPr/>
          <p:nvPr/>
        </p:nvSpPr>
        <p:spPr>
          <a:xfrm>
            <a:off x="6064343" y="1391592"/>
            <a:ext cx="133350" cy="12064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DD7696F0-2CBF-5536-6794-01CB8A688E1C}"/>
              </a:ext>
            </a:extLst>
          </p:cNvPr>
          <p:cNvSpPr/>
          <p:nvPr/>
        </p:nvSpPr>
        <p:spPr>
          <a:xfrm>
            <a:off x="6707800" y="390670"/>
            <a:ext cx="133350" cy="120646"/>
          </a:xfrm>
          <a:prstGeom prst="ellipse">
            <a:avLst/>
          </a:prstGeom>
          <a:solidFill>
            <a:srgbClr val="A6CAEC"/>
          </a:solidFill>
          <a:ln>
            <a:solidFill>
              <a:srgbClr val="215F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ABE98E14-D89A-E8FB-F54F-D5346C8105C7}"/>
              </a:ext>
            </a:extLst>
          </p:cNvPr>
          <p:cNvSpPr/>
          <p:nvPr/>
        </p:nvSpPr>
        <p:spPr>
          <a:xfrm>
            <a:off x="8141601" y="390670"/>
            <a:ext cx="133350" cy="120646"/>
          </a:xfrm>
          <a:prstGeom prst="ellipse">
            <a:avLst/>
          </a:prstGeom>
          <a:solidFill>
            <a:srgbClr val="CAEEFB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DED86733-6EC3-1D99-C668-05DA3E3E9AEF}"/>
              </a:ext>
            </a:extLst>
          </p:cNvPr>
          <p:cNvSpPr/>
          <p:nvPr/>
        </p:nvSpPr>
        <p:spPr>
          <a:xfrm>
            <a:off x="7951801" y="390670"/>
            <a:ext cx="133350" cy="120646"/>
          </a:xfrm>
          <a:prstGeom prst="ellipse">
            <a:avLst/>
          </a:prstGeom>
          <a:solidFill>
            <a:srgbClr val="A6CAEC"/>
          </a:solidFill>
          <a:ln>
            <a:solidFill>
              <a:srgbClr val="215F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A8430D2F-2DE6-0D13-01EE-3865FCD9AD1A}"/>
              </a:ext>
            </a:extLst>
          </p:cNvPr>
          <p:cNvSpPr/>
          <p:nvPr/>
        </p:nvSpPr>
        <p:spPr>
          <a:xfrm>
            <a:off x="9369921" y="390670"/>
            <a:ext cx="133350" cy="120646"/>
          </a:xfrm>
          <a:prstGeom prst="ellipse">
            <a:avLst/>
          </a:prstGeom>
          <a:solidFill>
            <a:srgbClr val="CAEEFB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642BA148-9738-257F-5BB9-D5E4B061DEE0}"/>
              </a:ext>
            </a:extLst>
          </p:cNvPr>
          <p:cNvSpPr/>
          <p:nvPr/>
        </p:nvSpPr>
        <p:spPr>
          <a:xfrm>
            <a:off x="9550544" y="390670"/>
            <a:ext cx="133350" cy="12064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CC841A46-7856-5AED-5E82-CB7191F65106}"/>
              </a:ext>
            </a:extLst>
          </p:cNvPr>
          <p:cNvSpPr/>
          <p:nvPr/>
        </p:nvSpPr>
        <p:spPr>
          <a:xfrm>
            <a:off x="10790328" y="390670"/>
            <a:ext cx="133350" cy="12064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1949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191A5AE2-862D-B6B8-EF8D-C2653C0973AC}"/>
              </a:ext>
            </a:extLst>
          </p:cNvPr>
          <p:cNvCxnSpPr>
            <a:cxnSpLocks/>
            <a:stCxn id="172" idx="6"/>
            <a:endCxn id="249" idx="1"/>
          </p:cNvCxnSpPr>
          <p:nvPr/>
        </p:nvCxnSpPr>
        <p:spPr>
          <a:xfrm flipV="1">
            <a:off x="8274589" y="2332190"/>
            <a:ext cx="3547657" cy="1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97CA6590-58AF-7759-0D59-383A4861175F}"/>
              </a:ext>
            </a:extLst>
          </p:cNvPr>
          <p:cNvCxnSpPr>
            <a:cxnSpLocks/>
            <a:stCxn id="84" idx="6"/>
          </p:cNvCxnSpPr>
          <p:nvPr/>
        </p:nvCxnSpPr>
        <p:spPr>
          <a:xfrm>
            <a:off x="2003292" y="3576320"/>
            <a:ext cx="3952214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20B6173F-C8E3-9CE0-F2F8-4E3E2CD02F0F}"/>
              </a:ext>
            </a:extLst>
          </p:cNvPr>
          <p:cNvCxnSpPr>
            <a:cxnSpLocks/>
            <a:stCxn id="31" idx="6"/>
          </p:cNvCxnSpPr>
          <p:nvPr/>
        </p:nvCxnSpPr>
        <p:spPr>
          <a:xfrm>
            <a:off x="1573584" y="2857099"/>
            <a:ext cx="4381924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E22A1BA1-530D-2DE0-DCF5-8F5181C42CC7}"/>
              </a:ext>
            </a:extLst>
          </p:cNvPr>
          <p:cNvCxnSpPr>
            <a:cxnSpLocks/>
            <a:stCxn id="17" idx="6"/>
          </p:cNvCxnSpPr>
          <p:nvPr/>
        </p:nvCxnSpPr>
        <p:spPr>
          <a:xfrm>
            <a:off x="2230958" y="2134870"/>
            <a:ext cx="3724551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25971A1-FBF7-BE14-3845-871D454568CE}"/>
              </a:ext>
            </a:extLst>
          </p:cNvPr>
          <p:cNvSpPr txBox="1"/>
          <p:nvPr/>
        </p:nvSpPr>
        <p:spPr>
          <a:xfrm>
            <a:off x="742785" y="105684"/>
            <a:ext cx="551876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Random Forest</a:t>
            </a:r>
          </a:p>
          <a:p>
            <a:pPr algn="ctr"/>
            <a:r>
              <a:rPr lang="es-ES" sz="1600" b="1" dirty="0"/>
              <a:t>(Many </a:t>
            </a:r>
            <a:r>
              <a:rPr lang="es-ES" sz="1600" b="1" dirty="0" err="1"/>
              <a:t>deep</a:t>
            </a:r>
            <a:r>
              <a:rPr lang="es-ES" sz="1600" b="1" dirty="0"/>
              <a:t> </a:t>
            </a:r>
            <a:r>
              <a:rPr lang="es-ES" sz="1600" b="1" dirty="0" err="1"/>
              <a:t>trees</a:t>
            </a:r>
            <a:r>
              <a:rPr lang="es-ES" sz="1600" b="1" dirty="0"/>
              <a:t>, </a:t>
            </a:r>
            <a:r>
              <a:rPr lang="es-ES" sz="1600" b="1" dirty="0" err="1"/>
              <a:t>built</a:t>
            </a:r>
            <a:r>
              <a:rPr lang="es-ES" sz="1600" b="1" dirty="0"/>
              <a:t> in </a:t>
            </a:r>
            <a:r>
              <a:rPr lang="es-ES" sz="1600" b="1" dirty="0" err="1"/>
              <a:t>parallel</a:t>
            </a:r>
            <a:r>
              <a:rPr lang="es-ES" sz="1600" b="1" dirty="0"/>
              <a:t> </a:t>
            </a:r>
            <a:r>
              <a:rPr lang="es-ES" sz="1600" b="1" dirty="0" err="1"/>
              <a:t>from</a:t>
            </a:r>
            <a:r>
              <a:rPr lang="es-ES" sz="1600" b="1" dirty="0"/>
              <a:t> Bootstrap simples)</a:t>
            </a:r>
          </a:p>
          <a:p>
            <a:pPr algn="ctr"/>
            <a:r>
              <a:rPr lang="en-GB" sz="1600" b="1" dirty="0"/>
              <a:t>Each tree greedily reduces Gini impurity → Pure nodes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6C50CFD-D62F-6DCD-3D7C-0D27ECB04EDB}"/>
              </a:ext>
            </a:extLst>
          </p:cNvPr>
          <p:cNvCxnSpPr>
            <a:cxnSpLocks/>
          </p:cNvCxnSpPr>
          <p:nvPr/>
        </p:nvCxnSpPr>
        <p:spPr>
          <a:xfrm>
            <a:off x="6953363" y="-91440"/>
            <a:ext cx="0" cy="694944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542AD28D-CBBB-8E94-5AB6-356B60462654}"/>
              </a:ext>
            </a:extLst>
          </p:cNvPr>
          <p:cNvSpPr/>
          <p:nvPr/>
        </p:nvSpPr>
        <p:spPr>
          <a:xfrm>
            <a:off x="3212665" y="1265321"/>
            <a:ext cx="304800" cy="294640"/>
          </a:xfrm>
          <a:prstGeom prst="ellipse">
            <a:avLst/>
          </a:prstGeom>
          <a:solidFill>
            <a:srgbClr val="6495ED"/>
          </a:solidFill>
          <a:ln>
            <a:solidFill>
              <a:srgbClr val="0503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CFFB686-7807-0634-BDAD-AC4546514933}"/>
              </a:ext>
            </a:extLst>
          </p:cNvPr>
          <p:cNvCxnSpPr>
            <a:cxnSpLocks/>
            <a:stCxn id="8" idx="3"/>
            <a:endCxn id="17" idx="0"/>
          </p:cNvCxnSpPr>
          <p:nvPr/>
        </p:nvCxnSpPr>
        <p:spPr>
          <a:xfrm flipH="1">
            <a:off x="2078556" y="1516813"/>
            <a:ext cx="1178746" cy="470739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16598F7-98AB-E7BC-5CE4-0CDA608568D6}"/>
              </a:ext>
            </a:extLst>
          </p:cNvPr>
          <p:cNvCxnSpPr>
            <a:cxnSpLocks/>
            <a:stCxn id="8" idx="5"/>
            <a:endCxn id="28" idx="0"/>
          </p:cNvCxnSpPr>
          <p:nvPr/>
        </p:nvCxnSpPr>
        <p:spPr>
          <a:xfrm>
            <a:off x="3472828" y="1516813"/>
            <a:ext cx="1178746" cy="470739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F1F67408-636D-5B7B-96DE-B315CF1425EC}"/>
              </a:ext>
            </a:extLst>
          </p:cNvPr>
          <p:cNvSpPr/>
          <p:nvPr/>
        </p:nvSpPr>
        <p:spPr>
          <a:xfrm>
            <a:off x="1926155" y="1987550"/>
            <a:ext cx="304800" cy="294640"/>
          </a:xfrm>
          <a:prstGeom prst="ellipse">
            <a:avLst/>
          </a:prstGeom>
          <a:solidFill>
            <a:srgbClr val="6495ED"/>
          </a:solidFill>
          <a:ln>
            <a:solidFill>
              <a:srgbClr val="0503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F664A7-9DC4-5EFB-5EBF-B7810342D274}"/>
              </a:ext>
            </a:extLst>
          </p:cNvPr>
          <p:cNvCxnSpPr>
            <a:cxnSpLocks/>
            <a:stCxn id="17" idx="3"/>
            <a:endCxn id="31" idx="0"/>
          </p:cNvCxnSpPr>
          <p:nvPr/>
        </p:nvCxnSpPr>
        <p:spPr>
          <a:xfrm flipH="1">
            <a:off x="1421184" y="2239042"/>
            <a:ext cx="549611" cy="470739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B8EC050-1173-63F7-B88B-B4DF7F1ED068}"/>
              </a:ext>
            </a:extLst>
          </p:cNvPr>
          <p:cNvCxnSpPr>
            <a:cxnSpLocks/>
            <a:stCxn id="17" idx="5"/>
            <a:endCxn id="65" idx="0"/>
          </p:cNvCxnSpPr>
          <p:nvPr/>
        </p:nvCxnSpPr>
        <p:spPr>
          <a:xfrm>
            <a:off x="2186321" y="2239042"/>
            <a:ext cx="524155" cy="470739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709FE504-03AA-1FCD-51F0-F87345B91B04}"/>
              </a:ext>
            </a:extLst>
          </p:cNvPr>
          <p:cNvSpPr/>
          <p:nvPr/>
        </p:nvSpPr>
        <p:spPr>
          <a:xfrm>
            <a:off x="4499174" y="1987550"/>
            <a:ext cx="304800" cy="294640"/>
          </a:xfrm>
          <a:prstGeom prst="ellipse">
            <a:avLst/>
          </a:prstGeom>
          <a:solidFill>
            <a:srgbClr val="6495ED"/>
          </a:solidFill>
          <a:ln>
            <a:solidFill>
              <a:srgbClr val="0503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AE5813F-3BC0-19FC-3CFB-A2CE5F7295D3}"/>
              </a:ext>
            </a:extLst>
          </p:cNvPr>
          <p:cNvCxnSpPr>
            <a:cxnSpLocks/>
            <a:stCxn id="28" idx="3"/>
            <a:endCxn id="37" idx="0"/>
          </p:cNvCxnSpPr>
          <p:nvPr/>
        </p:nvCxnSpPr>
        <p:spPr>
          <a:xfrm flipH="1">
            <a:off x="3994201" y="2239041"/>
            <a:ext cx="549611" cy="46020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2DF0073-575F-41C5-F6A8-5DA1E4801939}"/>
              </a:ext>
            </a:extLst>
          </p:cNvPr>
          <p:cNvCxnSpPr>
            <a:cxnSpLocks/>
          </p:cNvCxnSpPr>
          <p:nvPr/>
        </p:nvCxnSpPr>
        <p:spPr>
          <a:xfrm>
            <a:off x="4759337" y="2239042"/>
            <a:ext cx="530116" cy="470739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C61B398D-2D7A-1125-A406-3DBE05EE0BDC}"/>
              </a:ext>
            </a:extLst>
          </p:cNvPr>
          <p:cNvSpPr/>
          <p:nvPr/>
        </p:nvSpPr>
        <p:spPr>
          <a:xfrm>
            <a:off x="1268782" y="2709779"/>
            <a:ext cx="304800" cy="294640"/>
          </a:xfrm>
          <a:prstGeom prst="ellipse">
            <a:avLst/>
          </a:prstGeom>
          <a:solidFill>
            <a:srgbClr val="6495ED"/>
          </a:solidFill>
          <a:ln>
            <a:solidFill>
              <a:srgbClr val="0503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FF28824-5AD5-A282-99A6-A58ACA427C1D}"/>
              </a:ext>
            </a:extLst>
          </p:cNvPr>
          <p:cNvCxnSpPr>
            <a:cxnSpLocks/>
            <a:stCxn id="31" idx="3"/>
            <a:endCxn id="68" idx="0"/>
          </p:cNvCxnSpPr>
          <p:nvPr/>
        </p:nvCxnSpPr>
        <p:spPr>
          <a:xfrm flipH="1">
            <a:off x="985140" y="2961273"/>
            <a:ext cx="328278" cy="478261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1D2B2CE-9460-9875-4550-CE04643E36A8}"/>
              </a:ext>
            </a:extLst>
          </p:cNvPr>
          <p:cNvCxnSpPr>
            <a:cxnSpLocks/>
            <a:stCxn id="31" idx="5"/>
            <a:endCxn id="84" idx="0"/>
          </p:cNvCxnSpPr>
          <p:nvPr/>
        </p:nvCxnSpPr>
        <p:spPr>
          <a:xfrm>
            <a:off x="1528945" y="2961270"/>
            <a:ext cx="321948" cy="46773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A5FF966C-27EA-7746-8667-5C98816C1C56}"/>
              </a:ext>
            </a:extLst>
          </p:cNvPr>
          <p:cNvSpPr/>
          <p:nvPr/>
        </p:nvSpPr>
        <p:spPr>
          <a:xfrm>
            <a:off x="3841799" y="2699249"/>
            <a:ext cx="304800" cy="294640"/>
          </a:xfrm>
          <a:prstGeom prst="ellipse">
            <a:avLst/>
          </a:prstGeom>
          <a:solidFill>
            <a:srgbClr val="6495ED"/>
          </a:solidFill>
          <a:ln>
            <a:solidFill>
              <a:srgbClr val="0503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5CCE210-D5E6-E8C1-BC52-352F3A7699CE}"/>
              </a:ext>
            </a:extLst>
          </p:cNvPr>
          <p:cNvCxnSpPr>
            <a:cxnSpLocks/>
            <a:stCxn id="37" idx="3"/>
            <a:endCxn id="61" idx="0"/>
          </p:cNvCxnSpPr>
          <p:nvPr/>
        </p:nvCxnSpPr>
        <p:spPr>
          <a:xfrm flipH="1">
            <a:off x="3590962" y="2950743"/>
            <a:ext cx="295477" cy="488791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FD0D62F-D0FF-A350-F309-E9E73D824508}"/>
              </a:ext>
            </a:extLst>
          </p:cNvPr>
          <p:cNvCxnSpPr>
            <a:cxnSpLocks/>
            <a:stCxn id="37" idx="5"/>
            <a:endCxn id="56" idx="0"/>
          </p:cNvCxnSpPr>
          <p:nvPr/>
        </p:nvCxnSpPr>
        <p:spPr>
          <a:xfrm>
            <a:off x="4101962" y="2950740"/>
            <a:ext cx="202756" cy="478261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63982DDE-C884-62F8-4AFF-CB8E10052C7A}"/>
              </a:ext>
            </a:extLst>
          </p:cNvPr>
          <p:cNvSpPr/>
          <p:nvPr/>
        </p:nvSpPr>
        <p:spPr>
          <a:xfrm>
            <a:off x="5136715" y="2709779"/>
            <a:ext cx="304800" cy="294640"/>
          </a:xfrm>
          <a:prstGeom prst="ellipse">
            <a:avLst/>
          </a:prstGeom>
          <a:solidFill>
            <a:srgbClr val="6495ED"/>
          </a:solidFill>
          <a:ln>
            <a:solidFill>
              <a:srgbClr val="0503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035A74E-3104-D6D0-7EA8-5EB2CD906067}"/>
              </a:ext>
            </a:extLst>
          </p:cNvPr>
          <p:cNvCxnSpPr>
            <a:cxnSpLocks/>
            <a:stCxn id="40" idx="3"/>
            <a:endCxn id="48" idx="0"/>
          </p:cNvCxnSpPr>
          <p:nvPr/>
        </p:nvCxnSpPr>
        <p:spPr>
          <a:xfrm flipH="1">
            <a:off x="4929799" y="2961270"/>
            <a:ext cx="251555" cy="46773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5766B60-8448-89DA-9CC1-BF1DFD23165C}"/>
              </a:ext>
            </a:extLst>
          </p:cNvPr>
          <p:cNvCxnSpPr>
            <a:cxnSpLocks/>
            <a:stCxn id="40" idx="5"/>
            <a:endCxn id="50" idx="0"/>
          </p:cNvCxnSpPr>
          <p:nvPr/>
        </p:nvCxnSpPr>
        <p:spPr>
          <a:xfrm>
            <a:off x="5396879" y="2961270"/>
            <a:ext cx="234541" cy="46773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66F21115-56DB-A8B5-D098-DBD1564DD87A}"/>
              </a:ext>
            </a:extLst>
          </p:cNvPr>
          <p:cNvSpPr/>
          <p:nvPr/>
        </p:nvSpPr>
        <p:spPr>
          <a:xfrm>
            <a:off x="4152319" y="3429000"/>
            <a:ext cx="304800" cy="294640"/>
          </a:xfrm>
          <a:prstGeom prst="ellipse">
            <a:avLst/>
          </a:prstGeom>
          <a:solidFill>
            <a:srgbClr val="6495ED"/>
          </a:solidFill>
          <a:ln>
            <a:solidFill>
              <a:srgbClr val="0503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39274D0-7219-2D8B-341A-954C164C8D1C}"/>
              </a:ext>
            </a:extLst>
          </p:cNvPr>
          <p:cNvCxnSpPr>
            <a:cxnSpLocks/>
            <a:stCxn id="56" idx="3"/>
            <a:endCxn id="74" idx="0"/>
          </p:cNvCxnSpPr>
          <p:nvPr/>
        </p:nvCxnSpPr>
        <p:spPr>
          <a:xfrm flipH="1">
            <a:off x="4020673" y="3680494"/>
            <a:ext cx="176285" cy="478261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01EAE56-171B-206F-D0BE-59EF01FCA318}"/>
              </a:ext>
            </a:extLst>
          </p:cNvPr>
          <p:cNvCxnSpPr>
            <a:cxnSpLocks/>
            <a:stCxn id="56" idx="5"/>
            <a:endCxn id="76" idx="0"/>
          </p:cNvCxnSpPr>
          <p:nvPr/>
        </p:nvCxnSpPr>
        <p:spPr>
          <a:xfrm>
            <a:off x="4412484" y="3680494"/>
            <a:ext cx="227543" cy="478261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98F10F81-C0DA-C01C-7DE6-96F56F8B7341}"/>
              </a:ext>
            </a:extLst>
          </p:cNvPr>
          <p:cNvSpPr/>
          <p:nvPr/>
        </p:nvSpPr>
        <p:spPr>
          <a:xfrm>
            <a:off x="2534188" y="2709782"/>
            <a:ext cx="352570" cy="3212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62B9332-7ACA-1D9E-5208-C1C596ABEE68}"/>
              </a:ext>
            </a:extLst>
          </p:cNvPr>
          <p:cNvSpPr/>
          <p:nvPr/>
        </p:nvSpPr>
        <p:spPr>
          <a:xfrm>
            <a:off x="808855" y="3439534"/>
            <a:ext cx="352570" cy="3212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B4C7C05-42EA-98B4-1BEC-200107982A36}"/>
              </a:ext>
            </a:extLst>
          </p:cNvPr>
          <p:cNvSpPr/>
          <p:nvPr/>
        </p:nvSpPr>
        <p:spPr>
          <a:xfrm>
            <a:off x="3844385" y="4158755"/>
            <a:ext cx="352570" cy="3212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B30B08E-FFE4-9D36-0E4A-084ECAD641B3}"/>
              </a:ext>
            </a:extLst>
          </p:cNvPr>
          <p:cNvSpPr/>
          <p:nvPr/>
        </p:nvSpPr>
        <p:spPr>
          <a:xfrm>
            <a:off x="4463739" y="4158755"/>
            <a:ext cx="352570" cy="3212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C6B368E4-46D2-DF70-7FEF-BCEBF606A5B7}"/>
              </a:ext>
            </a:extLst>
          </p:cNvPr>
          <p:cNvSpPr/>
          <p:nvPr/>
        </p:nvSpPr>
        <p:spPr>
          <a:xfrm>
            <a:off x="1698493" y="3429000"/>
            <a:ext cx="304800" cy="294640"/>
          </a:xfrm>
          <a:prstGeom prst="ellipse">
            <a:avLst/>
          </a:prstGeom>
          <a:solidFill>
            <a:srgbClr val="6495ED"/>
          </a:solidFill>
          <a:ln>
            <a:solidFill>
              <a:srgbClr val="0503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57007AE6-785E-41FF-62F7-05A82B2C4ED1}"/>
              </a:ext>
            </a:extLst>
          </p:cNvPr>
          <p:cNvCxnSpPr>
            <a:cxnSpLocks/>
            <a:stCxn id="84" idx="3"/>
            <a:endCxn id="87" idx="0"/>
          </p:cNvCxnSpPr>
          <p:nvPr/>
        </p:nvCxnSpPr>
        <p:spPr>
          <a:xfrm flipH="1">
            <a:off x="1566847" y="3680494"/>
            <a:ext cx="176285" cy="478261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26B1C4E9-C2CC-8607-3D7F-D9740CB7BCBF}"/>
              </a:ext>
            </a:extLst>
          </p:cNvPr>
          <p:cNvCxnSpPr>
            <a:cxnSpLocks/>
            <a:stCxn id="84" idx="5"/>
            <a:endCxn id="88" idx="0"/>
          </p:cNvCxnSpPr>
          <p:nvPr/>
        </p:nvCxnSpPr>
        <p:spPr>
          <a:xfrm>
            <a:off x="1958658" y="3680494"/>
            <a:ext cx="227543" cy="478261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A1F67D82-D272-A1C7-0E3F-4A343E8A125E}"/>
              </a:ext>
            </a:extLst>
          </p:cNvPr>
          <p:cNvSpPr/>
          <p:nvPr/>
        </p:nvSpPr>
        <p:spPr>
          <a:xfrm>
            <a:off x="1390559" y="4158755"/>
            <a:ext cx="352570" cy="3212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5B19E97-77F2-AFB9-22DD-708861E35490}"/>
              </a:ext>
            </a:extLst>
          </p:cNvPr>
          <p:cNvSpPr/>
          <p:nvPr/>
        </p:nvSpPr>
        <p:spPr>
          <a:xfrm>
            <a:off x="2009913" y="4158755"/>
            <a:ext cx="352570" cy="3212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1FA76EEF-7927-28EE-D191-4CED5AEDC6B5}"/>
              </a:ext>
            </a:extLst>
          </p:cNvPr>
          <p:cNvCxnSpPr>
            <a:cxnSpLocks/>
            <a:stCxn id="8" idx="6"/>
          </p:cNvCxnSpPr>
          <p:nvPr/>
        </p:nvCxnSpPr>
        <p:spPr>
          <a:xfrm>
            <a:off x="3517464" y="1412641"/>
            <a:ext cx="2438042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9313BE6E-D866-DF9A-E5AC-8C89A7FD7A5F}"/>
              </a:ext>
            </a:extLst>
          </p:cNvPr>
          <p:cNvSpPr txBox="1"/>
          <p:nvPr/>
        </p:nvSpPr>
        <p:spPr>
          <a:xfrm>
            <a:off x="2553821" y="2685757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</a:t>
            </a:r>
            <a:endParaRPr lang="en-GB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A60E3C7-8D3F-659C-4823-B0912E644240}"/>
              </a:ext>
            </a:extLst>
          </p:cNvPr>
          <p:cNvSpPr txBox="1"/>
          <p:nvPr/>
        </p:nvSpPr>
        <p:spPr>
          <a:xfrm>
            <a:off x="2038675" y="4134731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</a:t>
            </a:r>
            <a:endParaRPr lang="en-GB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1203BC4-9D45-093F-8F7C-0298FD3C0BAD}"/>
              </a:ext>
            </a:extLst>
          </p:cNvPr>
          <p:cNvSpPr txBox="1"/>
          <p:nvPr/>
        </p:nvSpPr>
        <p:spPr>
          <a:xfrm>
            <a:off x="1409568" y="4132368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</a:t>
            </a:r>
            <a:endParaRPr lang="en-GB" dirty="0"/>
          </a:p>
        </p:txBody>
      </p: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AE270F1A-DA2D-DD4D-DFC0-126BD8167263}"/>
              </a:ext>
            </a:extLst>
          </p:cNvPr>
          <p:cNvGrpSpPr/>
          <p:nvPr/>
        </p:nvGrpSpPr>
        <p:grpSpPr>
          <a:xfrm>
            <a:off x="3414674" y="3418470"/>
            <a:ext cx="352570" cy="369332"/>
            <a:chOff x="2742368" y="3418469"/>
            <a:chExt cx="352570" cy="369332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8E558C2-CCF4-62D5-2592-E739380BCCAA}"/>
                </a:ext>
              </a:extLst>
            </p:cNvPr>
            <p:cNvSpPr/>
            <p:nvPr/>
          </p:nvSpPr>
          <p:spPr>
            <a:xfrm>
              <a:off x="2742368" y="3439531"/>
              <a:ext cx="352570" cy="32128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34E295D8-435F-54CB-79FD-9AED2BD1A479}"/>
                </a:ext>
              </a:extLst>
            </p:cNvPr>
            <p:cNvSpPr txBox="1"/>
            <p:nvPr/>
          </p:nvSpPr>
          <p:spPr>
            <a:xfrm>
              <a:off x="2770679" y="3418469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1</a:t>
              </a:r>
              <a:endParaRPr lang="en-GB" dirty="0"/>
            </a:p>
          </p:txBody>
        </p: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6F8A59A3-2AF7-A048-0E4A-1643E1A9C695}"/>
              </a:ext>
            </a:extLst>
          </p:cNvPr>
          <p:cNvSpPr txBox="1"/>
          <p:nvPr/>
        </p:nvSpPr>
        <p:spPr>
          <a:xfrm>
            <a:off x="830938" y="3418469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0</a:t>
            </a:r>
            <a:endParaRPr lang="en-GB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7610BC8C-2BCD-B564-C284-7EBBAEB008A0}"/>
              </a:ext>
            </a:extLst>
          </p:cNvPr>
          <p:cNvSpPr txBox="1"/>
          <p:nvPr/>
        </p:nvSpPr>
        <p:spPr>
          <a:xfrm>
            <a:off x="3863393" y="4132368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0</a:t>
            </a:r>
            <a:endParaRPr lang="en-GB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C7344678-B039-FB47-0D21-8D89021BF4C7}"/>
              </a:ext>
            </a:extLst>
          </p:cNvPr>
          <p:cNvSpPr txBox="1"/>
          <p:nvPr/>
        </p:nvSpPr>
        <p:spPr>
          <a:xfrm>
            <a:off x="4479771" y="4132368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0</a:t>
            </a:r>
            <a:endParaRPr lang="en-GB" dirty="0"/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96B6F89D-6FA3-4CDE-8517-AE696648CA49}"/>
              </a:ext>
            </a:extLst>
          </p:cNvPr>
          <p:cNvGrpSpPr/>
          <p:nvPr/>
        </p:nvGrpSpPr>
        <p:grpSpPr>
          <a:xfrm>
            <a:off x="4753511" y="3400524"/>
            <a:ext cx="352570" cy="369332"/>
            <a:chOff x="4081205" y="3400523"/>
            <a:chExt cx="352570" cy="369331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36E7A45-DD65-498D-A9F1-470C3FD3EE1C}"/>
                </a:ext>
              </a:extLst>
            </p:cNvPr>
            <p:cNvSpPr/>
            <p:nvPr/>
          </p:nvSpPr>
          <p:spPr>
            <a:xfrm>
              <a:off x="4081205" y="3429000"/>
              <a:ext cx="352570" cy="32128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4B1D63B3-F4C8-5DB6-1EC2-D8235D2AE4C6}"/>
                </a:ext>
              </a:extLst>
            </p:cNvPr>
            <p:cNvSpPr txBox="1"/>
            <p:nvPr/>
          </p:nvSpPr>
          <p:spPr>
            <a:xfrm>
              <a:off x="4105490" y="3400523"/>
              <a:ext cx="304800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0</a:t>
              </a:r>
              <a:endParaRPr lang="en-GB" dirty="0"/>
            </a:p>
          </p:txBody>
        </p: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1C1892F5-8FDE-9BA6-5210-320E9EDA0895}"/>
              </a:ext>
            </a:extLst>
          </p:cNvPr>
          <p:cNvGrpSpPr/>
          <p:nvPr/>
        </p:nvGrpSpPr>
        <p:grpSpPr>
          <a:xfrm>
            <a:off x="5455133" y="3400524"/>
            <a:ext cx="352570" cy="369332"/>
            <a:chOff x="4782827" y="3400523"/>
            <a:chExt cx="352570" cy="369331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7096441-A8ED-2411-4766-6BBBC798C2AD}"/>
                </a:ext>
              </a:extLst>
            </p:cNvPr>
            <p:cNvSpPr/>
            <p:nvPr/>
          </p:nvSpPr>
          <p:spPr>
            <a:xfrm>
              <a:off x="4782827" y="3429000"/>
              <a:ext cx="352570" cy="32128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496F9BB6-ED8F-BF00-1C28-A3090677DF4D}"/>
                </a:ext>
              </a:extLst>
            </p:cNvPr>
            <p:cNvSpPr txBox="1"/>
            <p:nvPr/>
          </p:nvSpPr>
          <p:spPr>
            <a:xfrm>
              <a:off x="4808399" y="3400523"/>
              <a:ext cx="304800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0</a:t>
              </a:r>
              <a:endParaRPr lang="en-GB" dirty="0"/>
            </a:p>
          </p:txBody>
        </p:sp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id="{DAB2D586-BBD9-F7D8-7776-F8512C5A9763}"/>
              </a:ext>
            </a:extLst>
          </p:cNvPr>
          <p:cNvSpPr txBox="1"/>
          <p:nvPr/>
        </p:nvSpPr>
        <p:spPr>
          <a:xfrm>
            <a:off x="1202705" y="4737784"/>
            <a:ext cx="401992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Pure </a:t>
            </a:r>
            <a:r>
              <a:rPr lang="es-ES" dirty="0" err="1"/>
              <a:t>nodes</a:t>
            </a:r>
            <a:r>
              <a:rPr lang="es-ES" dirty="0"/>
              <a:t> reduce Gini </a:t>
            </a:r>
            <a:r>
              <a:rPr lang="es-ES" dirty="0" err="1"/>
              <a:t>impurity</a:t>
            </a:r>
            <a:r>
              <a:rPr lang="es-ES" dirty="0"/>
              <a:t> </a:t>
            </a:r>
            <a:r>
              <a:rPr lang="es-ES" dirty="0" err="1"/>
              <a:t>values</a:t>
            </a:r>
            <a:endParaRPr lang="en-GB" dirty="0"/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5D9DB48C-79AF-723E-6DE6-1F33658D9A93}"/>
              </a:ext>
            </a:extLst>
          </p:cNvPr>
          <p:cNvGrpSpPr/>
          <p:nvPr/>
        </p:nvGrpSpPr>
        <p:grpSpPr>
          <a:xfrm>
            <a:off x="1308826" y="4556951"/>
            <a:ext cx="1158409" cy="173801"/>
            <a:chOff x="721184" y="4556949"/>
            <a:chExt cx="1158409" cy="173801"/>
          </a:xfrm>
        </p:grpSpPr>
        <p:sp>
          <p:nvSpPr>
            <p:cNvPr id="133" name="Right Bracket 132">
              <a:extLst>
                <a:ext uri="{FF2B5EF4-FFF2-40B4-BE49-F238E27FC236}">
                  <a16:creationId xmlns:a16="http://schemas.microsoft.com/office/drawing/2014/main" id="{8B3EF302-4D65-9605-CE15-58E27556B671}"/>
                </a:ext>
              </a:extLst>
            </p:cNvPr>
            <p:cNvSpPr/>
            <p:nvPr/>
          </p:nvSpPr>
          <p:spPr>
            <a:xfrm rot="5400000">
              <a:off x="1260357" y="4017776"/>
              <a:ext cx="80063" cy="1158409"/>
            </a:xfrm>
            <a:prstGeom prst="rightBracket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95D2488D-5938-58D7-5F0B-D805B0B3AF0E}"/>
                </a:ext>
              </a:extLst>
            </p:cNvPr>
            <p:cNvCxnSpPr>
              <a:cxnSpLocks/>
              <a:stCxn id="133" idx="2"/>
            </p:cNvCxnSpPr>
            <p:nvPr/>
          </p:nvCxnSpPr>
          <p:spPr>
            <a:xfrm>
              <a:off x="1300388" y="4637012"/>
              <a:ext cx="0" cy="9373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707031FA-4D92-DCC4-BF1C-06B9C60E3FB3}"/>
              </a:ext>
            </a:extLst>
          </p:cNvPr>
          <p:cNvGrpSpPr/>
          <p:nvPr/>
        </p:nvGrpSpPr>
        <p:grpSpPr>
          <a:xfrm>
            <a:off x="3767696" y="4556951"/>
            <a:ext cx="1158409" cy="173801"/>
            <a:chOff x="721184" y="4556949"/>
            <a:chExt cx="1158409" cy="173801"/>
          </a:xfrm>
        </p:grpSpPr>
        <p:sp>
          <p:nvSpPr>
            <p:cNvPr id="146" name="Right Bracket 145">
              <a:extLst>
                <a:ext uri="{FF2B5EF4-FFF2-40B4-BE49-F238E27FC236}">
                  <a16:creationId xmlns:a16="http://schemas.microsoft.com/office/drawing/2014/main" id="{673766C4-303A-DA7C-0F38-B8B90EA74986}"/>
                </a:ext>
              </a:extLst>
            </p:cNvPr>
            <p:cNvSpPr/>
            <p:nvPr/>
          </p:nvSpPr>
          <p:spPr>
            <a:xfrm rot="5400000">
              <a:off x="1260357" y="4017776"/>
              <a:ext cx="80063" cy="1158409"/>
            </a:xfrm>
            <a:prstGeom prst="rightBracket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FB032E8A-A623-16B9-ED26-36F2E42162A2}"/>
                </a:ext>
              </a:extLst>
            </p:cNvPr>
            <p:cNvCxnSpPr>
              <a:cxnSpLocks/>
              <a:stCxn id="146" idx="2"/>
            </p:cNvCxnSpPr>
            <p:nvPr/>
          </p:nvCxnSpPr>
          <p:spPr>
            <a:xfrm>
              <a:off x="1300388" y="4637012"/>
              <a:ext cx="0" cy="9373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3FC46BE9-5FD2-C5B1-3A73-FFD3A063F63E}"/>
                  </a:ext>
                </a:extLst>
              </p:cNvPr>
              <p:cNvSpPr txBox="1"/>
              <p:nvPr/>
            </p:nvSpPr>
            <p:spPr>
              <a:xfrm>
                <a:off x="5951113" y="2706774"/>
                <a:ext cx="763542" cy="2660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s-E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 </m:t>
                      </m:r>
                      <m:sSub>
                        <m:sSubPr>
                          <m:ctrlPr>
                            <a:rPr lang="es-E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s-E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3FC46BE9-5FD2-C5B1-3A73-FFD3A063F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113" y="2706774"/>
                <a:ext cx="763542" cy="266035"/>
              </a:xfrm>
              <a:prstGeom prst="rect">
                <a:avLst/>
              </a:prstGeom>
              <a:blipFill>
                <a:blip r:embed="rId2"/>
                <a:stretch>
                  <a:fillRect l="-5600" r="-4800" b="-272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A61598BC-4B89-8AA3-934D-99D620D75583}"/>
                  </a:ext>
                </a:extLst>
              </p:cNvPr>
              <p:cNvSpPr txBox="1"/>
              <p:nvPr/>
            </p:nvSpPr>
            <p:spPr>
              <a:xfrm>
                <a:off x="5955512" y="1277442"/>
                <a:ext cx="763542" cy="2660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s-E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 </m:t>
                      </m:r>
                      <m:sSub>
                        <m:sSubPr>
                          <m:ctrlPr>
                            <a:rPr lang="es-E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s-E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A61598BC-4B89-8AA3-934D-99D620D75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5512" y="1277442"/>
                <a:ext cx="763542" cy="266035"/>
              </a:xfrm>
              <a:prstGeom prst="rect">
                <a:avLst/>
              </a:prstGeom>
              <a:blipFill>
                <a:blip r:embed="rId3"/>
                <a:stretch>
                  <a:fillRect l="-6400" r="-4000" b="-279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C4208788-593E-0285-FBDB-4D13537234C0}"/>
                  </a:ext>
                </a:extLst>
              </p:cNvPr>
              <p:cNvSpPr txBox="1"/>
              <p:nvPr/>
            </p:nvSpPr>
            <p:spPr>
              <a:xfrm>
                <a:off x="5957788" y="2004983"/>
                <a:ext cx="763542" cy="2660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s-E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 </m:t>
                      </m:r>
                      <m:sSub>
                        <m:sSubPr>
                          <m:ctrlPr>
                            <a:rPr lang="es-E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s-E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C4208788-593E-0285-FBDB-4D1353723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7788" y="2004983"/>
                <a:ext cx="763542" cy="266035"/>
              </a:xfrm>
              <a:prstGeom prst="rect">
                <a:avLst/>
              </a:prstGeom>
              <a:blipFill>
                <a:blip r:embed="rId4"/>
                <a:stretch>
                  <a:fillRect l="-5556" r="-3968"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0EFB7503-2D71-19F3-6429-C65045C9FAD9}"/>
                  </a:ext>
                </a:extLst>
              </p:cNvPr>
              <p:cNvSpPr txBox="1"/>
              <p:nvPr/>
            </p:nvSpPr>
            <p:spPr>
              <a:xfrm>
                <a:off x="5957788" y="3445249"/>
                <a:ext cx="763542" cy="2660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s-E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 </m:t>
                      </m:r>
                      <m:sSub>
                        <m:sSubPr>
                          <m:ctrlPr>
                            <a:rPr lang="es-E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s-E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0EFB7503-2D71-19F3-6429-C65045C9FA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7788" y="3445249"/>
                <a:ext cx="763542" cy="266035"/>
              </a:xfrm>
              <a:prstGeom prst="rect">
                <a:avLst/>
              </a:prstGeom>
              <a:blipFill>
                <a:blip r:embed="rId5"/>
                <a:stretch>
                  <a:fillRect l="-5556" r="-3968" b="-272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6" name="TextBox 155">
            <a:extLst>
              <a:ext uri="{FF2B5EF4-FFF2-40B4-BE49-F238E27FC236}">
                <a16:creationId xmlns:a16="http://schemas.microsoft.com/office/drawing/2014/main" id="{02C8FF4E-8FA5-AB5A-22C3-94A12AADD3B2}"/>
              </a:ext>
            </a:extLst>
          </p:cNvPr>
          <p:cNvSpPr txBox="1"/>
          <p:nvPr/>
        </p:nvSpPr>
        <p:spPr>
          <a:xfrm>
            <a:off x="1714370" y="5439841"/>
            <a:ext cx="4355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Cambria Math" panose="02040503050406030204" pitchFamily="18" charset="0"/>
                <a:ea typeface="Cambria Math" panose="02040503050406030204" pitchFamily="18" charset="0"/>
              </a:rPr>
              <a:t>K </a:t>
            </a:r>
            <a:r>
              <a:rPr lang="es-ES" b="1" dirty="0" err="1">
                <a:ea typeface="Cambria Math" panose="02040503050406030204" pitchFamily="18" charset="0"/>
              </a:rPr>
              <a:t>trees</a:t>
            </a:r>
            <a:r>
              <a:rPr lang="es-ES" b="1" dirty="0">
                <a:ea typeface="Cambria Math" panose="02040503050406030204" pitchFamily="18" charset="0"/>
              </a:rPr>
              <a:t> </a:t>
            </a:r>
            <a:r>
              <a:rPr lang="es-ES" b="1" dirty="0" err="1">
                <a:ea typeface="Cambria Math" panose="02040503050406030204" pitchFamily="18" charset="0"/>
              </a:rPr>
              <a:t>built</a:t>
            </a:r>
            <a:r>
              <a:rPr lang="es-ES" b="1" dirty="0">
                <a:ea typeface="Cambria Math" panose="02040503050406030204" pitchFamily="18" charset="0"/>
              </a:rPr>
              <a:t> in </a:t>
            </a:r>
            <a:r>
              <a:rPr lang="es-ES" b="1" dirty="0" err="1">
                <a:ea typeface="Cambria Math" panose="02040503050406030204" pitchFamily="18" charset="0"/>
              </a:rPr>
              <a:t>parallel</a:t>
            </a:r>
            <a:r>
              <a:rPr lang="es-ES" b="1" dirty="0">
                <a:ea typeface="Cambria Math" panose="02040503050406030204" pitchFamily="18" charset="0"/>
              </a:rPr>
              <a:t> and </a:t>
            </a:r>
            <a:r>
              <a:rPr lang="es-ES" b="1" dirty="0" err="1">
                <a:ea typeface="Cambria Math" panose="02040503050406030204" pitchFamily="18" charset="0"/>
              </a:rPr>
              <a:t>aggregated</a:t>
            </a:r>
            <a:endParaRPr lang="en-GB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A4189AB2-F362-1DA3-A8C3-99137B90884E}"/>
                  </a:ext>
                </a:extLst>
              </p:cNvPr>
              <p:cNvSpPr txBox="1"/>
              <p:nvPr/>
            </p:nvSpPr>
            <p:spPr>
              <a:xfrm>
                <a:off x="2945922" y="5780158"/>
                <a:ext cx="1881028" cy="7788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s-E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brk m:alnAt="23"/>
                            </m:rPr>
                            <a:rPr lang="es-E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s-E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(1|0)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A4189AB2-F362-1DA3-A8C3-99137B908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922" y="5780158"/>
                <a:ext cx="1881028" cy="7788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" name="TextBox 162">
            <a:extLst>
              <a:ext uri="{FF2B5EF4-FFF2-40B4-BE49-F238E27FC236}">
                <a16:creationId xmlns:a16="http://schemas.microsoft.com/office/drawing/2014/main" id="{76002BD6-E013-60B0-7D4D-578B8CCF799D}"/>
              </a:ext>
            </a:extLst>
          </p:cNvPr>
          <p:cNvSpPr txBox="1"/>
          <p:nvPr/>
        </p:nvSpPr>
        <p:spPr>
          <a:xfrm>
            <a:off x="7721142" y="105808"/>
            <a:ext cx="465455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XGBoost</a:t>
            </a:r>
          </a:p>
          <a:p>
            <a:pPr algn="ctr"/>
            <a:r>
              <a:rPr lang="es-ES" sz="1600" b="1" dirty="0"/>
              <a:t>(Trees </a:t>
            </a:r>
            <a:r>
              <a:rPr lang="es-ES" sz="1600" b="1" dirty="0" err="1"/>
              <a:t>built</a:t>
            </a:r>
            <a:r>
              <a:rPr lang="es-ES" sz="1600" b="1" dirty="0"/>
              <a:t> </a:t>
            </a:r>
            <a:r>
              <a:rPr lang="es-ES" sz="1600" b="1" dirty="0" err="1"/>
              <a:t>sequentially</a:t>
            </a:r>
            <a:r>
              <a:rPr lang="es-ES" sz="1600" b="1" dirty="0"/>
              <a:t> on </a:t>
            </a:r>
            <a:r>
              <a:rPr lang="es-ES" sz="1600" b="1" dirty="0" err="1"/>
              <a:t>whole</a:t>
            </a:r>
            <a:r>
              <a:rPr lang="es-ES" sz="1600" b="1" dirty="0"/>
              <a:t> </a:t>
            </a:r>
            <a:r>
              <a:rPr lang="es-ES" sz="1600" b="1" dirty="0" err="1"/>
              <a:t>dataset</a:t>
            </a:r>
            <a:r>
              <a:rPr lang="es-ES" sz="1600" b="1" dirty="0"/>
              <a:t>,</a:t>
            </a:r>
            <a:r>
              <a:rPr lang="en-GB" sz="1600" b="1" dirty="0"/>
              <a:t> errors forwarded with increased weights)</a:t>
            </a:r>
            <a:endParaRPr lang="es-ES" sz="1600" b="1" dirty="0"/>
          </a:p>
        </p:txBody>
      </p: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D98C9A1C-2AF1-8FD5-CE4A-A3E1CF1E15D4}"/>
              </a:ext>
            </a:extLst>
          </p:cNvPr>
          <p:cNvGrpSpPr/>
          <p:nvPr/>
        </p:nvGrpSpPr>
        <p:grpSpPr>
          <a:xfrm>
            <a:off x="7437351" y="1213141"/>
            <a:ext cx="3728724" cy="3006943"/>
            <a:chOff x="6765045" y="1213138"/>
            <a:chExt cx="3728724" cy="3006943"/>
          </a:xfrm>
        </p:grpSpPr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CAC34776-3D93-36EF-FE6A-7653F8513F92}"/>
                </a:ext>
              </a:extLst>
            </p:cNvPr>
            <p:cNvCxnSpPr>
              <a:cxnSpLocks/>
              <a:stCxn id="211" idx="0"/>
              <a:endCxn id="207" idx="3"/>
            </p:cNvCxnSpPr>
            <p:nvPr/>
          </p:nvCxnSpPr>
          <p:spPr>
            <a:xfrm flipV="1">
              <a:off x="9418324" y="3347856"/>
              <a:ext cx="311599" cy="523955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311" name="Group 310">
              <a:extLst>
                <a:ext uri="{FF2B5EF4-FFF2-40B4-BE49-F238E27FC236}">
                  <a16:creationId xmlns:a16="http://schemas.microsoft.com/office/drawing/2014/main" id="{DB239218-CD6C-5934-73E2-17F50B474F6A}"/>
                </a:ext>
              </a:extLst>
            </p:cNvPr>
            <p:cNvGrpSpPr/>
            <p:nvPr/>
          </p:nvGrpSpPr>
          <p:grpSpPr>
            <a:xfrm>
              <a:off x="6765045" y="1213138"/>
              <a:ext cx="3728724" cy="3006943"/>
              <a:chOff x="6765045" y="1213138"/>
              <a:chExt cx="3728724" cy="3006943"/>
            </a:xfrm>
          </p:grpSpPr>
          <p:grpSp>
            <p:nvGrpSpPr>
              <p:cNvPr id="289" name="Group 288">
                <a:extLst>
                  <a:ext uri="{FF2B5EF4-FFF2-40B4-BE49-F238E27FC236}">
                    <a16:creationId xmlns:a16="http://schemas.microsoft.com/office/drawing/2014/main" id="{D94B7392-85B0-37A3-945E-3622F3DE363B}"/>
                  </a:ext>
                </a:extLst>
              </p:cNvPr>
              <p:cNvGrpSpPr/>
              <p:nvPr/>
            </p:nvGrpSpPr>
            <p:grpSpPr>
              <a:xfrm>
                <a:off x="6765045" y="1213138"/>
                <a:ext cx="3728724" cy="3006943"/>
                <a:chOff x="6765045" y="1213138"/>
                <a:chExt cx="3728724" cy="3006943"/>
              </a:xfrm>
            </p:grpSpPr>
            <p:sp>
              <p:nvSpPr>
                <p:cNvPr id="161" name="Oval 160">
                  <a:extLst>
                    <a:ext uri="{FF2B5EF4-FFF2-40B4-BE49-F238E27FC236}">
                      <a16:creationId xmlns:a16="http://schemas.microsoft.com/office/drawing/2014/main" id="{75EEDAEA-79D8-7621-7C6D-1B2AE37D6274}"/>
                    </a:ext>
                  </a:extLst>
                </p:cNvPr>
                <p:cNvSpPr/>
                <p:nvPr/>
              </p:nvSpPr>
              <p:spPr>
                <a:xfrm>
                  <a:off x="8204785" y="1213138"/>
                  <a:ext cx="413886" cy="394636"/>
                </a:xfrm>
                <a:prstGeom prst="ellipse">
                  <a:avLst/>
                </a:prstGeom>
                <a:solidFill>
                  <a:srgbClr val="F4A460"/>
                </a:solidFill>
                <a:ln>
                  <a:solidFill>
                    <a:srgbClr val="8B461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164" name="Straight Connector 163">
                  <a:extLst>
                    <a:ext uri="{FF2B5EF4-FFF2-40B4-BE49-F238E27FC236}">
                      <a16:creationId xmlns:a16="http://schemas.microsoft.com/office/drawing/2014/main" id="{7D50FFC3-DE5C-84EC-9D5B-C6F98BF3C411}"/>
                    </a:ext>
                  </a:extLst>
                </p:cNvPr>
                <p:cNvCxnSpPr>
                  <a:cxnSpLocks/>
                  <a:stCxn id="161" idx="5"/>
                  <a:endCxn id="188" idx="0"/>
                </p:cNvCxnSpPr>
                <p:nvPr/>
              </p:nvCxnSpPr>
              <p:spPr>
                <a:xfrm>
                  <a:off x="8558059" y="1549981"/>
                  <a:ext cx="866865" cy="587722"/>
                </a:xfrm>
                <a:prstGeom prst="line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Straight Connector 166">
                  <a:extLst>
                    <a:ext uri="{FF2B5EF4-FFF2-40B4-BE49-F238E27FC236}">
                      <a16:creationId xmlns:a16="http://schemas.microsoft.com/office/drawing/2014/main" id="{AC3AD734-D1FC-BC35-0FB1-E4078D3FEC42}"/>
                    </a:ext>
                  </a:extLst>
                </p:cNvPr>
                <p:cNvCxnSpPr>
                  <a:cxnSpLocks/>
                  <a:stCxn id="172" idx="0"/>
                  <a:endCxn id="161" idx="3"/>
                </p:cNvCxnSpPr>
                <p:nvPr/>
              </p:nvCxnSpPr>
              <p:spPr>
                <a:xfrm flipV="1">
                  <a:off x="7395339" y="1549981"/>
                  <a:ext cx="870058" cy="584889"/>
                </a:xfrm>
                <a:prstGeom prst="line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D2ADB975-39E2-5386-BABE-7DD0B426E20E}"/>
                    </a:ext>
                  </a:extLst>
                </p:cNvPr>
                <p:cNvSpPr/>
                <p:nvPr/>
              </p:nvSpPr>
              <p:spPr>
                <a:xfrm>
                  <a:off x="7188396" y="2134870"/>
                  <a:ext cx="413886" cy="394636"/>
                </a:xfrm>
                <a:prstGeom prst="ellipse">
                  <a:avLst/>
                </a:prstGeom>
                <a:solidFill>
                  <a:srgbClr val="F4A460"/>
                </a:solidFill>
                <a:ln>
                  <a:solidFill>
                    <a:srgbClr val="8B461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A6F52A1B-AE41-9E5A-AEF7-AB92636E9EB6}"/>
                    </a:ext>
                  </a:extLst>
                </p:cNvPr>
                <p:cNvCxnSpPr>
                  <a:cxnSpLocks/>
                  <a:stCxn id="172" idx="5"/>
                  <a:endCxn id="202" idx="0"/>
                </p:cNvCxnSpPr>
                <p:nvPr/>
              </p:nvCxnSpPr>
              <p:spPr>
                <a:xfrm>
                  <a:off x="7541670" y="2471713"/>
                  <a:ext cx="294899" cy="535288"/>
                </a:xfrm>
                <a:prstGeom prst="line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04FCFBC5-3DA5-628C-7D65-979E837E7413}"/>
                    </a:ext>
                  </a:extLst>
                </p:cNvPr>
                <p:cNvCxnSpPr>
                  <a:cxnSpLocks/>
                  <a:stCxn id="199" idx="0"/>
                  <a:endCxn id="172" idx="3"/>
                </p:cNvCxnSpPr>
                <p:nvPr/>
              </p:nvCxnSpPr>
              <p:spPr>
                <a:xfrm flipV="1">
                  <a:off x="6941330" y="2471713"/>
                  <a:ext cx="307678" cy="527873"/>
                </a:xfrm>
                <a:prstGeom prst="line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A7905BB5-2322-3647-0662-4A9C3D4D61CE}"/>
                    </a:ext>
                  </a:extLst>
                </p:cNvPr>
                <p:cNvSpPr/>
                <p:nvPr/>
              </p:nvSpPr>
              <p:spPr>
                <a:xfrm>
                  <a:off x="9217981" y="2137703"/>
                  <a:ext cx="413886" cy="394636"/>
                </a:xfrm>
                <a:prstGeom prst="ellipse">
                  <a:avLst/>
                </a:prstGeom>
                <a:solidFill>
                  <a:srgbClr val="F4A460"/>
                </a:solidFill>
                <a:ln>
                  <a:solidFill>
                    <a:srgbClr val="8B461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189" name="Straight Connector 188">
                  <a:extLst>
                    <a:ext uri="{FF2B5EF4-FFF2-40B4-BE49-F238E27FC236}">
                      <a16:creationId xmlns:a16="http://schemas.microsoft.com/office/drawing/2014/main" id="{32DEAB5A-1B41-6959-E907-3482EE906267}"/>
                    </a:ext>
                  </a:extLst>
                </p:cNvPr>
                <p:cNvCxnSpPr>
                  <a:cxnSpLocks/>
                  <a:stCxn id="188" idx="5"/>
                </p:cNvCxnSpPr>
                <p:nvPr/>
              </p:nvCxnSpPr>
              <p:spPr>
                <a:xfrm>
                  <a:off x="9571255" y="2474546"/>
                  <a:ext cx="294899" cy="532706"/>
                </a:xfrm>
                <a:prstGeom prst="line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>
                  <a:extLst>
                    <a:ext uri="{FF2B5EF4-FFF2-40B4-BE49-F238E27FC236}">
                      <a16:creationId xmlns:a16="http://schemas.microsoft.com/office/drawing/2014/main" id="{EF24B07A-32BC-569A-E884-ABACBB8F9E51}"/>
                    </a:ext>
                  </a:extLst>
                </p:cNvPr>
                <p:cNvCxnSpPr>
                  <a:cxnSpLocks/>
                  <a:stCxn id="205" idx="0"/>
                  <a:endCxn id="188" idx="3"/>
                </p:cNvCxnSpPr>
                <p:nvPr/>
              </p:nvCxnSpPr>
              <p:spPr>
                <a:xfrm flipV="1">
                  <a:off x="8966994" y="2474546"/>
                  <a:ext cx="311599" cy="528694"/>
                </a:xfrm>
                <a:prstGeom prst="line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9" name="Rectangle 198">
                  <a:extLst>
                    <a:ext uri="{FF2B5EF4-FFF2-40B4-BE49-F238E27FC236}">
                      <a16:creationId xmlns:a16="http://schemas.microsoft.com/office/drawing/2014/main" id="{E8DA675E-4A06-785A-7035-B5420D8E90E3}"/>
                    </a:ext>
                  </a:extLst>
                </p:cNvPr>
                <p:cNvSpPr/>
                <p:nvPr/>
              </p:nvSpPr>
              <p:spPr>
                <a:xfrm>
                  <a:off x="6765045" y="2999586"/>
                  <a:ext cx="352570" cy="321289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02" name="Rectangle 201">
                  <a:extLst>
                    <a:ext uri="{FF2B5EF4-FFF2-40B4-BE49-F238E27FC236}">
                      <a16:creationId xmlns:a16="http://schemas.microsoft.com/office/drawing/2014/main" id="{0E9FB01C-F0F3-A95A-2713-288E445B2BF2}"/>
                    </a:ext>
                  </a:extLst>
                </p:cNvPr>
                <p:cNvSpPr/>
                <p:nvPr/>
              </p:nvSpPr>
              <p:spPr>
                <a:xfrm>
                  <a:off x="7660284" y="3007001"/>
                  <a:ext cx="352570" cy="321289"/>
                </a:xfrm>
                <a:prstGeom prst="rect">
                  <a:avLst/>
                </a:prstGeom>
                <a:solidFill>
                  <a:srgbClr val="FF7C8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05" name="Rectangle 204">
                  <a:extLst>
                    <a:ext uri="{FF2B5EF4-FFF2-40B4-BE49-F238E27FC236}">
                      <a16:creationId xmlns:a16="http://schemas.microsoft.com/office/drawing/2014/main" id="{91F37849-B83D-6A17-75EE-B95B89245C9D}"/>
                    </a:ext>
                  </a:extLst>
                </p:cNvPr>
                <p:cNvSpPr/>
                <p:nvPr/>
              </p:nvSpPr>
              <p:spPr>
                <a:xfrm>
                  <a:off x="8790709" y="3003240"/>
                  <a:ext cx="352570" cy="321289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07" name="Oval 206">
                  <a:extLst>
                    <a:ext uri="{FF2B5EF4-FFF2-40B4-BE49-F238E27FC236}">
                      <a16:creationId xmlns:a16="http://schemas.microsoft.com/office/drawing/2014/main" id="{3BF9C96F-A084-D192-0629-38C4D1DCE664}"/>
                    </a:ext>
                  </a:extLst>
                </p:cNvPr>
                <p:cNvSpPr/>
                <p:nvPr/>
              </p:nvSpPr>
              <p:spPr>
                <a:xfrm>
                  <a:off x="9669311" y="3011013"/>
                  <a:ext cx="413886" cy="394636"/>
                </a:xfrm>
                <a:prstGeom prst="ellipse">
                  <a:avLst/>
                </a:prstGeom>
                <a:solidFill>
                  <a:srgbClr val="F4A460"/>
                </a:solidFill>
                <a:ln>
                  <a:solidFill>
                    <a:srgbClr val="8B461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208" name="Straight Connector 207">
                  <a:extLst>
                    <a:ext uri="{FF2B5EF4-FFF2-40B4-BE49-F238E27FC236}">
                      <a16:creationId xmlns:a16="http://schemas.microsoft.com/office/drawing/2014/main" id="{F135F4EA-58CB-0C05-BCD7-938AE44F6549}"/>
                    </a:ext>
                  </a:extLst>
                </p:cNvPr>
                <p:cNvCxnSpPr>
                  <a:cxnSpLocks/>
                  <a:stCxn id="207" idx="5"/>
                  <a:endCxn id="214" idx="0"/>
                </p:cNvCxnSpPr>
                <p:nvPr/>
              </p:nvCxnSpPr>
              <p:spPr>
                <a:xfrm>
                  <a:off x="10022585" y="3347856"/>
                  <a:ext cx="294899" cy="528694"/>
                </a:xfrm>
                <a:prstGeom prst="line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11" name="Rectangle 210">
                  <a:extLst>
                    <a:ext uri="{FF2B5EF4-FFF2-40B4-BE49-F238E27FC236}">
                      <a16:creationId xmlns:a16="http://schemas.microsoft.com/office/drawing/2014/main" id="{894BF3F4-FAF5-A63D-3620-B571F407396D}"/>
                    </a:ext>
                  </a:extLst>
                </p:cNvPr>
                <p:cNvSpPr/>
                <p:nvPr/>
              </p:nvSpPr>
              <p:spPr>
                <a:xfrm>
                  <a:off x="9242039" y="3871811"/>
                  <a:ext cx="352570" cy="321289"/>
                </a:xfrm>
                <a:prstGeom prst="rect">
                  <a:avLst/>
                </a:prstGeom>
                <a:solidFill>
                  <a:srgbClr val="FF7C8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14" name="Rectangle 213">
                  <a:extLst>
                    <a:ext uri="{FF2B5EF4-FFF2-40B4-BE49-F238E27FC236}">
                      <a16:creationId xmlns:a16="http://schemas.microsoft.com/office/drawing/2014/main" id="{7A161E1A-EBDB-3042-CF72-40DF71204784}"/>
                    </a:ext>
                  </a:extLst>
                </p:cNvPr>
                <p:cNvSpPr/>
                <p:nvPr/>
              </p:nvSpPr>
              <p:spPr>
                <a:xfrm>
                  <a:off x="10141199" y="3876550"/>
                  <a:ext cx="352570" cy="321289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20" name="TextBox 219">
                  <a:extLst>
                    <a:ext uri="{FF2B5EF4-FFF2-40B4-BE49-F238E27FC236}">
                      <a16:creationId xmlns:a16="http://schemas.microsoft.com/office/drawing/2014/main" id="{B53D9254-16ED-EEF0-6BA5-55EC675DE0B2}"/>
                    </a:ext>
                  </a:extLst>
                </p:cNvPr>
                <p:cNvSpPr txBox="1"/>
                <p:nvPr/>
              </p:nvSpPr>
              <p:spPr>
                <a:xfrm>
                  <a:off x="6793356" y="2978524"/>
                  <a:ext cx="3048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dirty="0"/>
                    <a:t>1</a:t>
                  </a:r>
                  <a:endParaRPr lang="en-GB" dirty="0"/>
                </a:p>
              </p:txBody>
            </p:sp>
            <p:sp>
              <p:nvSpPr>
                <p:cNvPr id="223" name="TextBox 222">
                  <a:extLst>
                    <a:ext uri="{FF2B5EF4-FFF2-40B4-BE49-F238E27FC236}">
                      <a16:creationId xmlns:a16="http://schemas.microsoft.com/office/drawing/2014/main" id="{1678A696-3489-28D5-714A-49DF187AFDAF}"/>
                    </a:ext>
                  </a:extLst>
                </p:cNvPr>
                <p:cNvSpPr txBox="1"/>
                <p:nvPr/>
              </p:nvSpPr>
              <p:spPr>
                <a:xfrm>
                  <a:off x="7684569" y="2978524"/>
                  <a:ext cx="3048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dirty="0"/>
                    <a:t>0</a:t>
                  </a:r>
                  <a:endParaRPr lang="en-GB" dirty="0"/>
                </a:p>
              </p:txBody>
            </p:sp>
            <p:sp>
              <p:nvSpPr>
                <p:cNvPr id="226" name="TextBox 225">
                  <a:extLst>
                    <a:ext uri="{FF2B5EF4-FFF2-40B4-BE49-F238E27FC236}">
                      <a16:creationId xmlns:a16="http://schemas.microsoft.com/office/drawing/2014/main" id="{E7D39F62-ADF1-E0FF-CCBD-D42BF3F70EFB}"/>
                    </a:ext>
                  </a:extLst>
                </p:cNvPr>
                <p:cNvSpPr txBox="1"/>
                <p:nvPr/>
              </p:nvSpPr>
              <p:spPr>
                <a:xfrm>
                  <a:off x="8814994" y="2974763"/>
                  <a:ext cx="3048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dirty="0"/>
                    <a:t>0</a:t>
                  </a:r>
                  <a:endParaRPr lang="en-GB" dirty="0"/>
                </a:p>
              </p:txBody>
            </p:sp>
            <p:sp>
              <p:nvSpPr>
                <p:cNvPr id="229" name="TextBox 228">
                  <a:extLst>
                    <a:ext uri="{FF2B5EF4-FFF2-40B4-BE49-F238E27FC236}">
                      <a16:creationId xmlns:a16="http://schemas.microsoft.com/office/drawing/2014/main" id="{BF14F5E9-6407-6941-E838-8EE55975546A}"/>
                    </a:ext>
                  </a:extLst>
                </p:cNvPr>
                <p:cNvSpPr txBox="1"/>
                <p:nvPr/>
              </p:nvSpPr>
              <p:spPr>
                <a:xfrm>
                  <a:off x="9270349" y="3850749"/>
                  <a:ext cx="3048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dirty="0"/>
                    <a:t>1</a:t>
                  </a:r>
                  <a:endParaRPr lang="en-GB" dirty="0"/>
                </a:p>
              </p:txBody>
            </p:sp>
          </p:grpSp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F93E4D0C-4328-DF1B-5689-D3B332B0FFBC}"/>
                  </a:ext>
                </a:extLst>
              </p:cNvPr>
              <p:cNvSpPr txBox="1"/>
              <p:nvPr/>
            </p:nvSpPr>
            <p:spPr>
              <a:xfrm>
                <a:off x="10165484" y="3848073"/>
                <a:ext cx="304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dirty="0"/>
                  <a:t>0</a:t>
                </a:r>
                <a:endParaRPr lang="en-GB" dirty="0"/>
              </a:p>
            </p:txBody>
          </p:sp>
        </p:grpSp>
      </p:grp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63C482AE-B4B0-472E-6E43-D88A211804F9}"/>
              </a:ext>
            </a:extLst>
          </p:cNvPr>
          <p:cNvCxnSpPr>
            <a:cxnSpLocks/>
            <a:stCxn id="161" idx="6"/>
            <a:endCxn id="247" idx="1"/>
          </p:cNvCxnSpPr>
          <p:nvPr/>
        </p:nvCxnSpPr>
        <p:spPr>
          <a:xfrm>
            <a:off x="9290977" y="1410458"/>
            <a:ext cx="2531268" cy="582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96CFCDAA-7AD9-BA21-AE56-E8FFA67C769C}"/>
              </a:ext>
            </a:extLst>
          </p:cNvPr>
          <p:cNvCxnSpPr>
            <a:cxnSpLocks/>
            <a:stCxn id="207" idx="6"/>
            <a:endCxn id="251" idx="1"/>
          </p:cNvCxnSpPr>
          <p:nvPr/>
        </p:nvCxnSpPr>
        <p:spPr>
          <a:xfrm>
            <a:off x="10755503" y="3208334"/>
            <a:ext cx="1001978" cy="4927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A7CE4959-7E1B-8785-7F11-9FB5EB0B1BB0}"/>
                  </a:ext>
                </a:extLst>
              </p:cNvPr>
              <p:cNvSpPr txBox="1"/>
              <p:nvPr/>
            </p:nvSpPr>
            <p:spPr>
              <a:xfrm>
                <a:off x="11822245" y="1278023"/>
                <a:ext cx="763542" cy="2660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s-E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 </m:t>
                      </m:r>
                      <m:sSub>
                        <m:sSubPr>
                          <m:ctrlPr>
                            <a:rPr lang="es-E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s-E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A7CE4959-7E1B-8785-7F11-9FB5EB0B1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2245" y="1278023"/>
                <a:ext cx="763542" cy="266035"/>
              </a:xfrm>
              <a:prstGeom prst="rect">
                <a:avLst/>
              </a:prstGeom>
              <a:blipFill>
                <a:blip r:embed="rId7"/>
                <a:stretch>
                  <a:fillRect l="-5556" r="-3968" b="-279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9BC80478-84D2-4BD3-A26F-38C8CF19A794}"/>
                  </a:ext>
                </a:extLst>
              </p:cNvPr>
              <p:cNvSpPr txBox="1"/>
              <p:nvPr/>
            </p:nvSpPr>
            <p:spPr>
              <a:xfrm>
                <a:off x="11822245" y="2199172"/>
                <a:ext cx="763542" cy="2660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s-E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 </m:t>
                      </m:r>
                      <m:sSub>
                        <m:sSubPr>
                          <m:ctrlPr>
                            <a:rPr lang="es-E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s-E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9BC80478-84D2-4BD3-A26F-38C8CF19A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2245" y="2199172"/>
                <a:ext cx="763542" cy="266035"/>
              </a:xfrm>
              <a:prstGeom prst="rect">
                <a:avLst/>
              </a:prstGeom>
              <a:blipFill>
                <a:blip r:embed="rId8"/>
                <a:stretch>
                  <a:fillRect l="-5556" r="-3968" b="-279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C28CB1C1-E741-497F-AAD1-85F0ABEF0C21}"/>
                  </a:ext>
                </a:extLst>
              </p:cNvPr>
              <p:cNvSpPr txBox="1"/>
              <p:nvPr/>
            </p:nvSpPr>
            <p:spPr>
              <a:xfrm>
                <a:off x="11757481" y="3080243"/>
                <a:ext cx="763542" cy="2660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s-E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 </m:t>
                      </m:r>
                      <m:sSub>
                        <m:sSubPr>
                          <m:ctrlPr>
                            <a:rPr lang="es-E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s-E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C28CB1C1-E741-497F-AAD1-85F0ABEF0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57481" y="3080243"/>
                <a:ext cx="763542" cy="266035"/>
              </a:xfrm>
              <a:prstGeom prst="rect">
                <a:avLst/>
              </a:prstGeom>
              <a:blipFill>
                <a:blip r:embed="rId9"/>
                <a:stretch>
                  <a:fillRect l="-6400" r="-4000" b="-272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6" name="Straight Arrow Connector 255">
            <a:extLst>
              <a:ext uri="{FF2B5EF4-FFF2-40B4-BE49-F238E27FC236}">
                <a16:creationId xmlns:a16="http://schemas.microsoft.com/office/drawing/2014/main" id="{B5DC2C58-FF35-6F50-1337-5F7DA0AD0EE1}"/>
              </a:ext>
            </a:extLst>
          </p:cNvPr>
          <p:cNvCxnSpPr>
            <a:cxnSpLocks/>
          </p:cNvCxnSpPr>
          <p:nvPr/>
        </p:nvCxnSpPr>
        <p:spPr>
          <a:xfrm>
            <a:off x="8502677" y="3609836"/>
            <a:ext cx="6201" cy="7904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7" name="TextBox 256">
            <a:extLst>
              <a:ext uri="{FF2B5EF4-FFF2-40B4-BE49-F238E27FC236}">
                <a16:creationId xmlns:a16="http://schemas.microsoft.com/office/drawing/2014/main" id="{AE0D6303-E5C0-0652-824A-DB616AC77848}"/>
              </a:ext>
            </a:extLst>
          </p:cNvPr>
          <p:cNvSpPr txBox="1"/>
          <p:nvPr/>
        </p:nvSpPr>
        <p:spPr>
          <a:xfrm>
            <a:off x="7645182" y="4525814"/>
            <a:ext cx="1728186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600" dirty="0" err="1"/>
              <a:t>Increased</a:t>
            </a:r>
            <a:r>
              <a:rPr lang="es-ES" sz="1600" dirty="0"/>
              <a:t> </a:t>
            </a:r>
            <a:r>
              <a:rPr lang="es-ES" sz="1600" dirty="0" err="1"/>
              <a:t>weight</a:t>
            </a:r>
            <a:r>
              <a:rPr lang="es-ES" sz="1600" dirty="0"/>
              <a:t> </a:t>
            </a:r>
            <a:r>
              <a:rPr lang="es-ES" sz="1600" dirty="0" err="1"/>
              <a:t>of</a:t>
            </a:r>
            <a:r>
              <a:rPr lang="es-ES" sz="1600" dirty="0"/>
              <a:t> </a:t>
            </a:r>
            <a:r>
              <a:rPr lang="es-ES" sz="1600" dirty="0" err="1"/>
              <a:t>missclassified</a:t>
            </a:r>
            <a:r>
              <a:rPr lang="es-ES" sz="1600" dirty="0"/>
              <a:t> </a:t>
            </a:r>
            <a:r>
              <a:rPr lang="es-ES" sz="1600" dirty="0" err="1"/>
              <a:t>samples</a:t>
            </a:r>
            <a:r>
              <a:rPr lang="es-ES" sz="1600" dirty="0"/>
              <a:t> </a:t>
            </a:r>
            <a:endParaRPr lang="en-GB" sz="1600" dirty="0"/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01CC1A29-1EDA-D88C-4632-ECBC00B362F2}"/>
              </a:ext>
            </a:extLst>
          </p:cNvPr>
          <p:cNvSpPr txBox="1"/>
          <p:nvPr/>
        </p:nvSpPr>
        <p:spPr>
          <a:xfrm>
            <a:off x="9514632" y="4625321"/>
            <a:ext cx="1598253" cy="61965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1200" dirty="0"/>
              <a:t>Next </a:t>
            </a:r>
            <a:r>
              <a:rPr lang="es-ES" sz="1200" dirty="0" err="1"/>
              <a:t>tree</a:t>
            </a:r>
            <a:r>
              <a:rPr lang="es-ES" sz="1200" dirty="0"/>
              <a:t> </a:t>
            </a:r>
            <a:r>
              <a:rPr lang="es-ES" sz="1200" dirty="0" err="1"/>
              <a:t>trained</a:t>
            </a:r>
            <a:r>
              <a:rPr lang="es-ES" sz="1200" dirty="0"/>
              <a:t> on </a:t>
            </a:r>
            <a:r>
              <a:rPr lang="es-ES" sz="1200" dirty="0" err="1"/>
              <a:t>re-weighted</a:t>
            </a:r>
            <a:r>
              <a:rPr lang="es-ES" sz="1200" dirty="0"/>
              <a:t> </a:t>
            </a:r>
            <a:r>
              <a:rPr lang="es-ES" sz="1200" dirty="0" err="1"/>
              <a:t>samples</a:t>
            </a:r>
            <a:endParaRPr lang="en-GB" sz="1200" dirty="0"/>
          </a:p>
        </p:txBody>
      </p:sp>
      <p:cxnSp>
        <p:nvCxnSpPr>
          <p:cNvPr id="259" name="Straight Arrow Connector 258">
            <a:extLst>
              <a:ext uri="{FF2B5EF4-FFF2-40B4-BE49-F238E27FC236}">
                <a16:creationId xmlns:a16="http://schemas.microsoft.com/office/drawing/2014/main" id="{4A2708E1-9652-7768-A3F9-BF00DA921181}"/>
              </a:ext>
            </a:extLst>
          </p:cNvPr>
          <p:cNvCxnSpPr>
            <a:cxnSpLocks/>
          </p:cNvCxnSpPr>
          <p:nvPr/>
        </p:nvCxnSpPr>
        <p:spPr>
          <a:xfrm>
            <a:off x="9438684" y="4954199"/>
            <a:ext cx="17692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5" name="Straight Connector 364">
            <a:extLst>
              <a:ext uri="{FF2B5EF4-FFF2-40B4-BE49-F238E27FC236}">
                <a16:creationId xmlns:a16="http://schemas.microsoft.com/office/drawing/2014/main" id="{55CDA9C1-A772-2A08-08BA-4A499B418554}"/>
              </a:ext>
            </a:extLst>
          </p:cNvPr>
          <p:cNvCxnSpPr>
            <a:cxnSpLocks/>
            <a:endCxn id="381" idx="3"/>
          </p:cNvCxnSpPr>
          <p:nvPr/>
        </p:nvCxnSpPr>
        <p:spPr>
          <a:xfrm flipV="1">
            <a:off x="13094020" y="5186534"/>
            <a:ext cx="202057" cy="347717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9" name="Oval 368">
            <a:extLst>
              <a:ext uri="{FF2B5EF4-FFF2-40B4-BE49-F238E27FC236}">
                <a16:creationId xmlns:a16="http://schemas.microsoft.com/office/drawing/2014/main" id="{D050AECB-34DA-C5A9-86C8-B704DFEE3885}"/>
              </a:ext>
            </a:extLst>
          </p:cNvPr>
          <p:cNvSpPr/>
          <p:nvPr/>
        </p:nvSpPr>
        <p:spPr>
          <a:xfrm>
            <a:off x="12307101" y="3769856"/>
            <a:ext cx="268385" cy="261895"/>
          </a:xfrm>
          <a:prstGeom prst="ellipse">
            <a:avLst/>
          </a:prstGeom>
          <a:solidFill>
            <a:srgbClr val="F4A460"/>
          </a:solidFill>
          <a:ln>
            <a:solidFill>
              <a:srgbClr val="8B46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70" name="Straight Connector 369">
            <a:extLst>
              <a:ext uri="{FF2B5EF4-FFF2-40B4-BE49-F238E27FC236}">
                <a16:creationId xmlns:a16="http://schemas.microsoft.com/office/drawing/2014/main" id="{3B508E13-F987-5850-8DFC-F7A3ACD84BE3}"/>
              </a:ext>
            </a:extLst>
          </p:cNvPr>
          <p:cNvCxnSpPr>
            <a:cxnSpLocks/>
            <a:stCxn id="369" idx="5"/>
            <a:endCxn id="375" idx="0"/>
          </p:cNvCxnSpPr>
          <p:nvPr/>
        </p:nvCxnSpPr>
        <p:spPr>
          <a:xfrm>
            <a:off x="12536181" y="3993397"/>
            <a:ext cx="562119" cy="390034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1" name="Straight Connector 370">
            <a:extLst>
              <a:ext uri="{FF2B5EF4-FFF2-40B4-BE49-F238E27FC236}">
                <a16:creationId xmlns:a16="http://schemas.microsoft.com/office/drawing/2014/main" id="{CDB86FFC-75E9-6F6C-5260-04753D493FEF}"/>
              </a:ext>
            </a:extLst>
          </p:cNvPr>
          <p:cNvCxnSpPr>
            <a:cxnSpLocks/>
            <a:stCxn id="372" idx="0"/>
            <a:endCxn id="369" idx="3"/>
          </p:cNvCxnSpPr>
          <p:nvPr/>
        </p:nvCxnSpPr>
        <p:spPr>
          <a:xfrm flipV="1">
            <a:off x="11782213" y="3993398"/>
            <a:ext cx="564190" cy="388154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2" name="Oval 371">
            <a:extLst>
              <a:ext uri="{FF2B5EF4-FFF2-40B4-BE49-F238E27FC236}">
                <a16:creationId xmlns:a16="http://schemas.microsoft.com/office/drawing/2014/main" id="{582C7507-B01D-7B70-3FF2-365C3C11BAB1}"/>
              </a:ext>
            </a:extLst>
          </p:cNvPr>
          <p:cNvSpPr/>
          <p:nvPr/>
        </p:nvSpPr>
        <p:spPr>
          <a:xfrm>
            <a:off x="11648022" y="4381553"/>
            <a:ext cx="268385" cy="261895"/>
          </a:xfrm>
          <a:prstGeom prst="ellipse">
            <a:avLst/>
          </a:prstGeom>
          <a:solidFill>
            <a:srgbClr val="F4A460"/>
          </a:solidFill>
          <a:ln>
            <a:solidFill>
              <a:srgbClr val="8B46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73" name="Straight Connector 372">
            <a:extLst>
              <a:ext uri="{FF2B5EF4-FFF2-40B4-BE49-F238E27FC236}">
                <a16:creationId xmlns:a16="http://schemas.microsoft.com/office/drawing/2014/main" id="{517F6FAB-BE78-C00A-A9BB-93D09203D8D5}"/>
              </a:ext>
            </a:extLst>
          </p:cNvPr>
          <p:cNvCxnSpPr>
            <a:cxnSpLocks/>
            <a:stCxn id="372" idx="5"/>
            <a:endCxn id="379" idx="0"/>
          </p:cNvCxnSpPr>
          <p:nvPr/>
        </p:nvCxnSpPr>
        <p:spPr>
          <a:xfrm>
            <a:off x="11877103" y="4605095"/>
            <a:ext cx="227127" cy="355237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4" name="Straight Connector 373">
            <a:extLst>
              <a:ext uri="{FF2B5EF4-FFF2-40B4-BE49-F238E27FC236}">
                <a16:creationId xmlns:a16="http://schemas.microsoft.com/office/drawing/2014/main" id="{2EDAA16A-CB3C-3958-C80C-964A1D4D9B18}"/>
              </a:ext>
            </a:extLst>
          </p:cNvPr>
          <p:cNvCxnSpPr>
            <a:cxnSpLocks/>
            <a:stCxn id="378" idx="0"/>
            <a:endCxn id="372" idx="3"/>
          </p:cNvCxnSpPr>
          <p:nvPr/>
        </p:nvCxnSpPr>
        <p:spPr>
          <a:xfrm flipV="1">
            <a:off x="11487811" y="4605092"/>
            <a:ext cx="199514" cy="350316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5" name="Oval 374">
            <a:extLst>
              <a:ext uri="{FF2B5EF4-FFF2-40B4-BE49-F238E27FC236}">
                <a16:creationId xmlns:a16="http://schemas.microsoft.com/office/drawing/2014/main" id="{0FC6FC71-E46B-F38B-CE7C-BBDCD9B42605}"/>
              </a:ext>
            </a:extLst>
          </p:cNvPr>
          <p:cNvSpPr/>
          <p:nvPr/>
        </p:nvSpPr>
        <p:spPr>
          <a:xfrm>
            <a:off x="12964108" y="4383433"/>
            <a:ext cx="268385" cy="261895"/>
          </a:xfrm>
          <a:prstGeom prst="ellipse">
            <a:avLst/>
          </a:prstGeom>
          <a:solidFill>
            <a:srgbClr val="F4A460"/>
          </a:solidFill>
          <a:ln>
            <a:solidFill>
              <a:srgbClr val="8B46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2E4DF87D-3F2C-8CD7-DE07-BC0D6252E360}"/>
              </a:ext>
            </a:extLst>
          </p:cNvPr>
          <p:cNvCxnSpPr>
            <a:cxnSpLocks/>
            <a:stCxn id="375" idx="5"/>
          </p:cNvCxnSpPr>
          <p:nvPr/>
        </p:nvCxnSpPr>
        <p:spPr>
          <a:xfrm>
            <a:off x="13193189" y="4606974"/>
            <a:ext cx="191227" cy="353523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7" name="Straight Connector 376">
            <a:extLst>
              <a:ext uri="{FF2B5EF4-FFF2-40B4-BE49-F238E27FC236}">
                <a16:creationId xmlns:a16="http://schemas.microsoft.com/office/drawing/2014/main" id="{8B28021F-34FF-EB7F-D392-8C6401858284}"/>
              </a:ext>
            </a:extLst>
          </p:cNvPr>
          <p:cNvCxnSpPr>
            <a:cxnSpLocks/>
            <a:stCxn id="380" idx="0"/>
            <a:endCxn id="375" idx="3"/>
          </p:cNvCxnSpPr>
          <p:nvPr/>
        </p:nvCxnSpPr>
        <p:spPr>
          <a:xfrm flipV="1">
            <a:off x="12801355" y="4606974"/>
            <a:ext cx="202057" cy="350861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8" name="Rectangle 377">
            <a:extLst>
              <a:ext uri="{FF2B5EF4-FFF2-40B4-BE49-F238E27FC236}">
                <a16:creationId xmlns:a16="http://schemas.microsoft.com/office/drawing/2014/main" id="{3733B2E6-CC13-7A6C-8494-02DB364E1497}"/>
              </a:ext>
            </a:extLst>
          </p:cNvPr>
          <p:cNvSpPr/>
          <p:nvPr/>
        </p:nvSpPr>
        <p:spPr>
          <a:xfrm>
            <a:off x="11373498" y="4955411"/>
            <a:ext cx="228624" cy="21321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28004BDB-97A8-F0CD-12D1-FBA2B0D12CAD}"/>
              </a:ext>
            </a:extLst>
          </p:cNvPr>
          <p:cNvSpPr/>
          <p:nvPr/>
        </p:nvSpPr>
        <p:spPr>
          <a:xfrm>
            <a:off x="12687041" y="4957835"/>
            <a:ext cx="228624" cy="21321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1" name="Oval 380">
            <a:extLst>
              <a:ext uri="{FF2B5EF4-FFF2-40B4-BE49-F238E27FC236}">
                <a16:creationId xmlns:a16="http://schemas.microsoft.com/office/drawing/2014/main" id="{65BE62D5-80AE-251B-D5FA-AC342CE01013}"/>
              </a:ext>
            </a:extLst>
          </p:cNvPr>
          <p:cNvSpPr/>
          <p:nvPr/>
        </p:nvSpPr>
        <p:spPr>
          <a:xfrm>
            <a:off x="13256773" y="4962994"/>
            <a:ext cx="268385" cy="261895"/>
          </a:xfrm>
          <a:prstGeom prst="ellipse">
            <a:avLst/>
          </a:prstGeom>
          <a:solidFill>
            <a:srgbClr val="F4A460"/>
          </a:solidFill>
          <a:ln>
            <a:solidFill>
              <a:srgbClr val="8B46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82" name="Straight Connector 381">
            <a:extLst>
              <a:ext uri="{FF2B5EF4-FFF2-40B4-BE49-F238E27FC236}">
                <a16:creationId xmlns:a16="http://schemas.microsoft.com/office/drawing/2014/main" id="{E5ADAA36-327B-986B-4BD8-DBD0048102E5}"/>
              </a:ext>
            </a:extLst>
          </p:cNvPr>
          <p:cNvCxnSpPr>
            <a:cxnSpLocks/>
            <a:stCxn id="381" idx="5"/>
            <a:endCxn id="384" idx="0"/>
          </p:cNvCxnSpPr>
          <p:nvPr/>
        </p:nvCxnSpPr>
        <p:spPr>
          <a:xfrm>
            <a:off x="13485854" y="5186535"/>
            <a:ext cx="191227" cy="350861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4" name="Rectangle 383">
            <a:extLst>
              <a:ext uri="{FF2B5EF4-FFF2-40B4-BE49-F238E27FC236}">
                <a16:creationId xmlns:a16="http://schemas.microsoft.com/office/drawing/2014/main" id="{CA3C8C46-75F7-4620-2F19-5D6097FEB1D5}"/>
              </a:ext>
            </a:extLst>
          </p:cNvPr>
          <p:cNvSpPr/>
          <p:nvPr/>
        </p:nvSpPr>
        <p:spPr>
          <a:xfrm>
            <a:off x="13562768" y="5537396"/>
            <a:ext cx="228624" cy="21321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3631C9C7-58BC-66D8-9E54-8FB8E3FEC80C}"/>
              </a:ext>
            </a:extLst>
          </p:cNvPr>
          <p:cNvSpPr txBox="1"/>
          <p:nvPr/>
        </p:nvSpPr>
        <p:spPr>
          <a:xfrm>
            <a:off x="11336823" y="4878947"/>
            <a:ext cx="197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</a:t>
            </a:r>
            <a:endParaRPr lang="en-GB" dirty="0"/>
          </a:p>
        </p:txBody>
      </p: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1EA84F72-9CC9-7136-DEE3-36FDBD96FD22}"/>
              </a:ext>
            </a:extLst>
          </p:cNvPr>
          <p:cNvGrpSpPr/>
          <p:nvPr/>
        </p:nvGrpSpPr>
        <p:grpSpPr>
          <a:xfrm>
            <a:off x="11954016" y="4925859"/>
            <a:ext cx="302542" cy="369332"/>
            <a:chOff x="11798441" y="4925857"/>
            <a:chExt cx="302542" cy="369332"/>
          </a:xfrm>
        </p:grpSpPr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CA160D2F-5C95-E8A9-7292-115457FD75E3}"/>
                </a:ext>
              </a:extLst>
            </p:cNvPr>
            <p:cNvSpPr/>
            <p:nvPr/>
          </p:nvSpPr>
          <p:spPr>
            <a:xfrm>
              <a:off x="11798441" y="4960329"/>
              <a:ext cx="300426" cy="291107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E0D02D29-067C-3D85-8569-2AEBF52FB67A}"/>
                </a:ext>
              </a:extLst>
            </p:cNvPr>
            <p:cNvSpPr txBox="1"/>
            <p:nvPr/>
          </p:nvSpPr>
          <p:spPr>
            <a:xfrm>
              <a:off x="11801423" y="4925857"/>
              <a:ext cx="29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0</a:t>
              </a:r>
              <a:endParaRPr lang="en-GB" dirty="0"/>
            </a:p>
          </p:txBody>
        </p:sp>
      </p:grpSp>
      <p:sp>
        <p:nvSpPr>
          <p:cNvPr id="387" name="TextBox 386">
            <a:extLst>
              <a:ext uri="{FF2B5EF4-FFF2-40B4-BE49-F238E27FC236}">
                <a16:creationId xmlns:a16="http://schemas.microsoft.com/office/drawing/2014/main" id="{A3617079-B4B1-CB3F-84B2-DD16700208A6}"/>
              </a:ext>
            </a:extLst>
          </p:cNvPr>
          <p:cNvSpPr txBox="1"/>
          <p:nvPr/>
        </p:nvSpPr>
        <p:spPr>
          <a:xfrm>
            <a:off x="12654105" y="4874713"/>
            <a:ext cx="197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0</a:t>
            </a:r>
            <a:endParaRPr lang="en-GB" dirty="0"/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9A5F4398-8052-7969-8670-EED0E2BDB114}"/>
              </a:ext>
            </a:extLst>
          </p:cNvPr>
          <p:cNvSpPr txBox="1"/>
          <p:nvPr/>
        </p:nvSpPr>
        <p:spPr>
          <a:xfrm>
            <a:off x="13527715" y="5463463"/>
            <a:ext cx="197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0</a:t>
            </a:r>
            <a:endParaRPr lang="en-GB" dirty="0"/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D0EFB323-C8BB-AF09-5C09-0BE30338DF44}"/>
              </a:ext>
            </a:extLst>
          </p:cNvPr>
          <p:cNvSpPr/>
          <p:nvPr/>
        </p:nvSpPr>
        <p:spPr>
          <a:xfrm>
            <a:off x="12940537" y="5533514"/>
            <a:ext cx="300426" cy="29110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7" name="Arc 396">
            <a:extLst>
              <a:ext uri="{FF2B5EF4-FFF2-40B4-BE49-F238E27FC236}">
                <a16:creationId xmlns:a16="http://schemas.microsoft.com/office/drawing/2014/main" id="{6762FF6F-3411-7152-D50F-CBFC826A7D6D}"/>
              </a:ext>
            </a:extLst>
          </p:cNvPr>
          <p:cNvSpPr/>
          <p:nvPr/>
        </p:nvSpPr>
        <p:spPr>
          <a:xfrm rot="10800000">
            <a:off x="8612751" y="4589234"/>
            <a:ext cx="3557965" cy="1635298"/>
          </a:xfrm>
          <a:prstGeom prst="arc">
            <a:avLst>
              <a:gd name="adj1" fmla="val 10893961"/>
              <a:gd name="adj2" fmla="val 21526387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77E535D3-4C59-2DB3-AFF4-6F904B9EED84}"/>
              </a:ext>
            </a:extLst>
          </p:cNvPr>
          <p:cNvSpPr txBox="1"/>
          <p:nvPr/>
        </p:nvSpPr>
        <p:spPr>
          <a:xfrm>
            <a:off x="9157354" y="5497103"/>
            <a:ext cx="25279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Process </a:t>
            </a:r>
            <a:r>
              <a:rPr lang="es-ES" b="1" dirty="0" err="1"/>
              <a:t>repeated</a:t>
            </a:r>
            <a:r>
              <a:rPr lang="es-ES" b="1" dirty="0"/>
              <a:t> </a:t>
            </a:r>
            <a:r>
              <a:rPr lang="es-ES" b="1" dirty="0" err="1"/>
              <a:t>until</a:t>
            </a:r>
            <a:r>
              <a:rPr lang="es-ES" b="1" dirty="0"/>
              <a:t> </a:t>
            </a:r>
            <a:r>
              <a:rPr lang="es-ES" b="1" dirty="0"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s-ES" b="1" dirty="0"/>
              <a:t> </a:t>
            </a:r>
            <a:r>
              <a:rPr lang="es-ES" b="1" dirty="0" err="1"/>
              <a:t>trees</a:t>
            </a:r>
            <a:r>
              <a:rPr lang="es-ES" b="1" dirty="0"/>
              <a:t> are </a:t>
            </a:r>
            <a:r>
              <a:rPr lang="es-ES" b="1" dirty="0" err="1"/>
              <a:t>built</a:t>
            </a:r>
            <a:r>
              <a:rPr lang="es-ES" b="1" dirty="0"/>
              <a:t> </a:t>
            </a:r>
            <a:endParaRPr lang="en-GB" b="1" dirty="0"/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9F029054-AC14-0F9F-F5D1-AFE24794F45B}"/>
              </a:ext>
            </a:extLst>
          </p:cNvPr>
          <p:cNvSpPr txBox="1"/>
          <p:nvPr/>
        </p:nvSpPr>
        <p:spPr>
          <a:xfrm>
            <a:off x="12943518" y="5499040"/>
            <a:ext cx="299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</a:t>
            </a:r>
            <a:endParaRPr lang="en-GB" dirty="0"/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D7F8CB8A-413E-215B-7B6A-3AE7F4BDC8EB}"/>
              </a:ext>
            </a:extLst>
          </p:cNvPr>
          <p:cNvSpPr txBox="1"/>
          <p:nvPr/>
        </p:nvSpPr>
        <p:spPr>
          <a:xfrm>
            <a:off x="1505114" y="1231409"/>
            <a:ext cx="99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/>
              <a:t>Tree</a:t>
            </a:r>
            <a:r>
              <a:rPr lang="es-ES" b="1" baseline="-25000" dirty="0" err="1"/>
              <a:t>k</a:t>
            </a:r>
            <a:r>
              <a:rPr lang="es-ES" b="1" baseline="-25000" dirty="0"/>
              <a:t> = 1</a:t>
            </a:r>
            <a:endParaRPr lang="en-GB" b="1" dirty="0"/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A421B746-1981-1DFC-29F3-550419DC603D}"/>
              </a:ext>
            </a:extLst>
          </p:cNvPr>
          <p:cNvSpPr txBox="1"/>
          <p:nvPr/>
        </p:nvSpPr>
        <p:spPr>
          <a:xfrm>
            <a:off x="7686243" y="1225791"/>
            <a:ext cx="99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/>
              <a:t>Tree</a:t>
            </a:r>
            <a:r>
              <a:rPr lang="es-ES" b="1" baseline="-25000" dirty="0" err="1"/>
              <a:t>k</a:t>
            </a:r>
            <a:r>
              <a:rPr lang="es-ES" b="1" baseline="-25000" dirty="0"/>
              <a:t> = 1</a:t>
            </a:r>
            <a:endParaRPr lang="en-GB" b="1" dirty="0"/>
          </a:p>
        </p:txBody>
      </p:sp>
      <p:sp>
        <p:nvSpPr>
          <p:cNvPr id="405" name="TextBox 404">
            <a:extLst>
              <a:ext uri="{FF2B5EF4-FFF2-40B4-BE49-F238E27FC236}">
                <a16:creationId xmlns:a16="http://schemas.microsoft.com/office/drawing/2014/main" id="{1924D521-88D8-359B-CD05-2EBC71273C01}"/>
              </a:ext>
            </a:extLst>
          </p:cNvPr>
          <p:cNvSpPr txBox="1"/>
          <p:nvPr/>
        </p:nvSpPr>
        <p:spPr>
          <a:xfrm>
            <a:off x="12817238" y="3731503"/>
            <a:ext cx="99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/>
              <a:t>Tree</a:t>
            </a:r>
            <a:r>
              <a:rPr lang="es-ES" b="1" baseline="-25000" dirty="0" err="1"/>
              <a:t>k</a:t>
            </a:r>
            <a:r>
              <a:rPr lang="es-ES" b="1" baseline="-25000" dirty="0"/>
              <a:t> = 2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051648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276</TotalTime>
  <Words>624</Words>
  <Application>Microsoft Office PowerPoint</Application>
  <PresentationFormat>Custom</PresentationFormat>
  <Paragraphs>207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Gonzalo Robles Criado</dc:creator>
  <cp:lastModifiedBy>Gonzalo Robles Criado</cp:lastModifiedBy>
  <cp:revision>14</cp:revision>
  <dcterms:created xsi:type="dcterms:W3CDTF">2025-09-28T13:54:23Z</dcterms:created>
  <dcterms:modified xsi:type="dcterms:W3CDTF">2026-07-10T21:38:55Z</dcterms:modified>
</cp:coreProperties>
</file>