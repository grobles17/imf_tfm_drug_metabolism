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"/>
  </p:notesMasterIdLst>
  <p:sldIdLst>
    <p:sldId id="256" r:id="rId2"/>
    <p:sldId id="258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66" d="100"/>
          <a:sy n="66" d="100"/>
        </p:scale>
        <p:origin x="668" y="-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15AD191-481F-47CD-BB31-6284BAB9F5F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5275E58-B779-47B9-B424-789E2006D55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5036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Z = final </a:t>
            </a:r>
            <a:r>
              <a:rPr lang="es-ES" dirty="0" err="1"/>
              <a:t>embedding</a:t>
            </a:r>
            <a:endParaRPr lang="es-ES" dirty="0"/>
          </a:p>
          <a:p>
            <a:r>
              <a:rPr lang="es-ES" dirty="0"/>
              <a:t>E(t1)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tokenization</a:t>
            </a:r>
            <a:r>
              <a:rPr lang="es-ES" dirty="0"/>
              <a:t> step, </a:t>
            </a:r>
            <a:r>
              <a:rPr lang="es-ES" dirty="0" err="1"/>
              <a:t>with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learned</a:t>
            </a:r>
            <a:r>
              <a:rPr lang="es-ES" dirty="0"/>
              <a:t> </a:t>
            </a:r>
            <a:r>
              <a:rPr lang="es-ES" dirty="0" err="1"/>
              <a:t>tokenizer</a:t>
            </a:r>
            <a:endParaRPr lang="es-ES" dirty="0"/>
          </a:p>
          <a:p>
            <a:r>
              <a:rPr lang="es-ES" dirty="0" err="1"/>
              <a:t>fO</a:t>
            </a:r>
            <a:r>
              <a:rPr lang="es-ES" dirty="0"/>
              <a:t>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embedder</a:t>
            </a:r>
            <a:endParaRPr lang="es-ES" dirty="0"/>
          </a:p>
          <a:p>
            <a:r>
              <a:rPr lang="es-ES" dirty="0"/>
              <a:t>X </a:t>
            </a:r>
            <a:r>
              <a:rPr lang="es-ES" dirty="0" err="1"/>
              <a:t>is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matrix</a:t>
            </a:r>
            <a:r>
              <a:rPr lang="es-ES" dirty="0"/>
              <a:t> </a:t>
            </a:r>
            <a:r>
              <a:rPr lang="es-ES" dirty="0" err="1"/>
              <a:t>resulting</a:t>
            </a:r>
            <a:r>
              <a:rPr lang="es-ES" dirty="0"/>
              <a:t> </a:t>
            </a:r>
            <a:r>
              <a:rPr lang="es-ES" dirty="0" err="1"/>
              <a:t>form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tokenizer</a:t>
            </a:r>
            <a:r>
              <a:rPr lang="es-ES" dirty="0"/>
              <a:t> step </a:t>
            </a:r>
            <a:r>
              <a:rPr lang="es-ES" dirty="0" err="1"/>
              <a:t>of</a:t>
            </a:r>
            <a:r>
              <a:rPr lang="es-ES" dirty="0"/>
              <a:t> </a:t>
            </a:r>
            <a:r>
              <a:rPr lang="es-ES" dirty="0" err="1"/>
              <a:t>introducing</a:t>
            </a:r>
            <a:r>
              <a:rPr lang="es-ES" dirty="0"/>
              <a:t> </a:t>
            </a:r>
            <a:r>
              <a:rPr lang="es-ES" dirty="0" err="1"/>
              <a:t>the</a:t>
            </a:r>
            <a:r>
              <a:rPr lang="es-ES" dirty="0"/>
              <a:t> </a:t>
            </a:r>
            <a:r>
              <a:rPr lang="es-ES" dirty="0" err="1"/>
              <a:t>ibuprofen</a:t>
            </a:r>
            <a:r>
              <a:rPr lang="es-ES" dirty="0"/>
              <a:t> SMILES</a:t>
            </a:r>
            <a:endParaRPr lang="en-GB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21BA27C-3EF0-485A-B33F-5876D132EE7E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520767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6BAE9-F73B-64B8-F023-0ADFBEFA2D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73AA26A-10CD-F795-EFD0-680EA378690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364BEC-F36A-E4F5-1BD1-2AE19CC9E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72740F-1C74-F243-B6C1-1BA837A5F7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DFCDC2-C6D2-8552-6DA5-F7D8D8BF54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665742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38F90F-4B98-FD0F-7882-FA8F9CFDC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DECB56-00C8-5FB5-3C1D-5500CC466D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8C09FC8-6C91-7914-65ED-8ADFB13D11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86F935-93B5-31AC-A347-D660373019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26F2E-F8CE-C521-FFE6-5B709D44D9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3307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EA1B9-9682-6F93-EFAD-F20796D477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CA58541-7DC8-8BBE-4AC5-5BB1777D3E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AECED1F-9C73-1165-6EA8-906C7AC0C1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AEC9AA-52C5-EB04-0E84-255F0B46F4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490A7-6D59-B266-0859-22044E50C1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43072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3241B7-409F-7EAE-E7D7-06DAA62F5C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B7E5E3-8111-E76C-8E72-C5C24EB5BAA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C7D5E81-FF58-5E56-CF7C-C18F9A5F4E2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2B8E6F0-4079-C08D-42F4-14EEF3D905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ACCA0C-1197-8C8C-7AA8-552D3A1AE4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62A75FC-4B87-D544-2A01-44AD62B489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15318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23A8EF-526E-BCB6-E54E-7F5D884356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B52C3F-375E-6C2B-5039-00C2B1807C5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B7896E9-D6B7-63AA-3CBE-50B0ABD578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AD8ACA1-4B5A-8928-CE1F-AE656ADC5BD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D24F3DA-C314-C677-80BB-85ADEE06689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937BF1D-57D7-64F9-ED07-504DE606A8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C97EE33-582C-DB7E-27DA-2EA7FB82BC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01073F3-8F60-CB7A-6172-E7F24FA18A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2354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C0DE8-3952-5C64-E40F-BA667D5E0F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9B15E3B-A1FB-BEA5-00BF-3CA7D2AB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E5AA30A-935C-335D-1DEE-C8D83D5258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FA65177-1D40-3A60-AE77-49FF60B3E4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8726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139907-EDB4-AA27-9B78-719DDAF3D4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D8CC205-4A56-5B1E-1EC6-4BAA47AAED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F861B3-08A3-4A37-92C2-CF670E0D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00344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CDA171-7178-5F88-B0E1-F5B95E6F576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9B165-6AB3-B174-27E2-41B61E5EF2A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9AA57A7-EEC3-C214-C497-7BB424C4ADA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A8D55F-038C-B15F-36F8-5F421393AA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C0F311C-5A3D-EAB5-AB76-CC66ED853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0F423B5-D7F1-4EDE-46E2-F5CC4CA677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86100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A2F5B-CBC2-D0B6-C8DF-B9657A2D37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DDF294A-692D-AF05-3D58-9D4B6BCA790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AD75213-935D-802C-7FB7-71C4B4E96F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287279-A9E0-E803-38AB-EFD00A811F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E6F455-BE8F-DDB3-CD7C-8746BF4166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56DFD1-1C4B-5099-2BCE-5A6BBAC38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023263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F5317D-D23F-A8B1-4BD3-6B158848B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0F9EC6-1400-4EF2-132D-C64390CA15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6E2049E-713B-5EEF-8FFB-06C5D284AC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CD865A-8970-3320-0054-5DCA045F27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45E59D-3397-7208-2878-CE15A56595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847670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971776A-11F4-E500-21B0-AE619160172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35C546-376F-8E96-ABFB-4509C5FEAE4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4B6DC8-834F-2E86-5BB9-4458481DF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CE648A-9EE4-8A33-7835-3D1E7ADA5D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643BFF5-C701-B3F1-6034-D549AB725C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303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5C972D8-9F89-E948-4374-24FD72BFE0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606F2E-2BE9-08E4-D19D-5DAA3E2AD55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C01B89-B877-33B9-AA2D-25E3EE0DE94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6EE70CD-0C52-4877-95B4-2234339B47C2}" type="datetimeFigureOut">
              <a:rPr lang="en-GB" smtClean="0"/>
              <a:t>15/04/2026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583656B-E68B-9093-2C03-83B23F0D785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803015-F9AD-EF92-F434-62D0A56F06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B6A70CE-73B2-4AAD-9DDD-8685C793EFF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17346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18" Type="http://schemas.openxmlformats.org/officeDocument/2006/relationships/image" Target="../media/image5.png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12" Type="http://schemas.openxmlformats.org/officeDocument/2006/relationships/image" Target="../media/image4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20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6.png"/><Relationship Id="rId4" Type="http://schemas.openxmlformats.org/officeDocument/2006/relationships/image" Target="../media/image2.png"/><Relationship Id="rId14" Type="http://schemas.openxmlformats.org/officeDocument/2006/relationships/image" Target="../media/image12.png"/><Relationship Id="rId22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FB2617A1-A279-75EA-817D-CB193DC569B4}"/>
              </a:ext>
            </a:extLst>
          </p:cNvPr>
          <p:cNvGrpSpPr/>
          <p:nvPr/>
        </p:nvGrpSpPr>
        <p:grpSpPr>
          <a:xfrm>
            <a:off x="1791222" y="322545"/>
            <a:ext cx="7252570" cy="6212909"/>
            <a:chOff x="1791222" y="322545"/>
            <a:chExt cx="7252570" cy="6212909"/>
          </a:xfrm>
        </p:grpSpPr>
        <p:sp>
          <p:nvSpPr>
            <p:cNvPr id="4" name="Oval 3">
              <a:extLst>
                <a:ext uri="{FF2B5EF4-FFF2-40B4-BE49-F238E27FC236}">
                  <a16:creationId xmlns:a16="http://schemas.microsoft.com/office/drawing/2014/main" id="{8C1FE2B1-A5AF-6C45-8711-A42E0690A0E5}"/>
                </a:ext>
              </a:extLst>
            </p:cNvPr>
            <p:cNvSpPr/>
            <p:nvPr/>
          </p:nvSpPr>
          <p:spPr>
            <a:xfrm>
              <a:off x="1791222" y="322545"/>
              <a:ext cx="7252570" cy="6212909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57150">
              <a:solidFill>
                <a:schemeClr val="accent2">
                  <a:lumMod val="40000"/>
                  <a:lumOff val="6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5" name="Oval 4">
              <a:extLst>
                <a:ext uri="{FF2B5EF4-FFF2-40B4-BE49-F238E27FC236}">
                  <a16:creationId xmlns:a16="http://schemas.microsoft.com/office/drawing/2014/main" id="{27F261C4-C722-8F5F-DA21-F8B2D7040F69}"/>
                </a:ext>
              </a:extLst>
            </p:cNvPr>
            <p:cNvSpPr/>
            <p:nvPr/>
          </p:nvSpPr>
          <p:spPr>
            <a:xfrm>
              <a:off x="2411259" y="1823580"/>
              <a:ext cx="3081403" cy="2923783"/>
            </a:xfrm>
            <a:prstGeom prst="ellipse">
              <a:avLst/>
            </a:prstGeom>
            <a:solidFill>
              <a:schemeClr val="bg2">
                <a:lumMod val="90000"/>
              </a:schemeClr>
            </a:solidFill>
            <a:ln w="57150"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1C36C44-68E0-3016-3C36-0BCA44EB28C3}"/>
                </a:ext>
              </a:extLst>
            </p:cNvPr>
            <p:cNvSpPr txBox="1"/>
            <p:nvPr/>
          </p:nvSpPr>
          <p:spPr>
            <a:xfrm>
              <a:off x="3951961" y="494726"/>
              <a:ext cx="2793304" cy="830997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accent2">
                      <a:lumMod val="50000"/>
                    </a:schemeClr>
                  </a:solidFill>
                </a:rPr>
                <a:t>Hepatocyte</a:t>
              </a:r>
              <a:endParaRPr lang="es-ES" sz="2400" b="1" dirty="0">
                <a:solidFill>
                  <a:schemeClr val="accent2">
                    <a:lumMod val="50000"/>
                  </a:schemeClr>
                </a:solidFill>
              </a:endParaRPr>
            </a:p>
            <a:p>
              <a:pPr algn="ctr"/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(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Liver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 </a:t>
              </a:r>
              <a:r>
                <a:rPr lang="es-ES" sz="2400" dirty="0" err="1">
                  <a:solidFill>
                    <a:schemeClr val="accent2">
                      <a:lumMod val="50000"/>
                    </a:schemeClr>
                  </a:solidFill>
                </a:rPr>
                <a:t>cell</a:t>
              </a:r>
              <a:r>
                <a:rPr lang="es-ES" sz="2400" dirty="0">
                  <a:solidFill>
                    <a:schemeClr val="accent2">
                      <a:lumMod val="50000"/>
                    </a:schemeClr>
                  </a:solidFill>
                </a:rPr>
                <a:t>)</a:t>
              </a:r>
              <a:endParaRPr lang="en-GB" sz="2400" dirty="0">
                <a:solidFill>
                  <a:schemeClr val="accent2">
                    <a:lumMod val="50000"/>
                  </a:schemeClr>
                </a:solidFill>
              </a:endParaRP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F5C2BBBA-8F46-7D90-AB27-85641718B0EE}"/>
                </a:ext>
              </a:extLst>
            </p:cNvPr>
            <p:cNvSpPr txBox="1"/>
            <p:nvPr/>
          </p:nvSpPr>
          <p:spPr>
            <a:xfrm>
              <a:off x="2555308" y="1988936"/>
              <a:ext cx="2793304" cy="46166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400" b="1" dirty="0" err="1">
                  <a:solidFill>
                    <a:schemeClr val="tx2"/>
                  </a:solidFill>
                </a:rPr>
                <a:t>Lisosome</a:t>
              </a:r>
              <a:endParaRPr lang="es-ES" sz="2400" b="1" dirty="0">
                <a:solidFill>
                  <a:schemeClr val="tx2"/>
                </a:solidFill>
              </a:endParaRP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47CF2C9-6A35-C295-C833-7C2B03CA51E6}"/>
              </a:ext>
            </a:extLst>
          </p:cNvPr>
          <p:cNvGrpSpPr/>
          <p:nvPr/>
        </p:nvGrpSpPr>
        <p:grpSpPr>
          <a:xfrm>
            <a:off x="2555308" y="2773653"/>
            <a:ext cx="2873800" cy="1310691"/>
            <a:chOff x="2458522" y="2890381"/>
            <a:chExt cx="2873800" cy="1310691"/>
          </a:xfrm>
        </p:grpSpPr>
        <p:sp>
          <p:nvSpPr>
            <p:cNvPr id="8" name="Pentagon 7">
              <a:extLst>
                <a:ext uri="{FF2B5EF4-FFF2-40B4-BE49-F238E27FC236}">
                  <a16:creationId xmlns:a16="http://schemas.microsoft.com/office/drawing/2014/main" id="{BC574A13-B895-BAD9-D2FB-80F95917760C}"/>
                </a:ext>
              </a:extLst>
            </p:cNvPr>
            <p:cNvSpPr/>
            <p:nvPr/>
          </p:nvSpPr>
          <p:spPr>
            <a:xfrm>
              <a:off x="2705621" y="2890381"/>
              <a:ext cx="463464" cy="461666"/>
            </a:xfrm>
            <a:prstGeom prst="pentagon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11" name="Straight Arrow Connector 10">
              <a:extLst>
                <a:ext uri="{FF2B5EF4-FFF2-40B4-BE49-F238E27FC236}">
                  <a16:creationId xmlns:a16="http://schemas.microsoft.com/office/drawing/2014/main" id="{670009F5-A280-E45B-E5AB-0B5C88D81D85}"/>
                </a:ext>
              </a:extLst>
            </p:cNvPr>
            <p:cNvCxnSpPr/>
            <p:nvPr/>
          </p:nvCxnSpPr>
          <p:spPr>
            <a:xfrm>
              <a:off x="3331923" y="3156559"/>
              <a:ext cx="901874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Partial Circle 11">
              <a:extLst>
                <a:ext uri="{FF2B5EF4-FFF2-40B4-BE49-F238E27FC236}">
                  <a16:creationId xmlns:a16="http://schemas.microsoft.com/office/drawing/2014/main" id="{C5048ACF-B25F-A051-4BF7-4D7FB325ABCE}"/>
                </a:ext>
              </a:extLst>
            </p:cNvPr>
            <p:cNvSpPr/>
            <p:nvPr/>
          </p:nvSpPr>
          <p:spPr>
            <a:xfrm rot="2707551">
              <a:off x="3532260" y="3294356"/>
              <a:ext cx="529963" cy="550554"/>
            </a:xfrm>
            <a:prstGeom prst="pi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5C56CDC-58B8-970A-64FD-4943E09BBD39}"/>
                </a:ext>
              </a:extLst>
            </p:cNvPr>
            <p:cNvSpPr txBox="1"/>
            <p:nvPr/>
          </p:nvSpPr>
          <p:spPr>
            <a:xfrm>
              <a:off x="2458522" y="3352047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Drug</a:t>
              </a:r>
              <a:endParaRPr lang="es-ES" sz="1600" dirty="0"/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E4F706AF-5AA8-5A8E-20D2-9A259062D338}"/>
                </a:ext>
              </a:extLst>
            </p:cNvPr>
            <p:cNvSpPr txBox="1"/>
            <p:nvPr/>
          </p:nvSpPr>
          <p:spPr>
            <a:xfrm>
              <a:off x="3322528" y="3862518"/>
              <a:ext cx="920663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b="1" dirty="0"/>
                <a:t>CYP450</a:t>
              </a:r>
            </a:p>
          </p:txBody>
        </p:sp>
        <p:sp>
          <p:nvSpPr>
            <p:cNvPr id="15" name="Star: 7 Points 14">
              <a:extLst>
                <a:ext uri="{FF2B5EF4-FFF2-40B4-BE49-F238E27FC236}">
                  <a16:creationId xmlns:a16="http://schemas.microsoft.com/office/drawing/2014/main" id="{5AB508EC-8D71-3F45-5A0D-9E2204FCA91A}"/>
                </a:ext>
              </a:extLst>
            </p:cNvPr>
            <p:cNvSpPr/>
            <p:nvPr/>
          </p:nvSpPr>
          <p:spPr>
            <a:xfrm>
              <a:off x="4479918" y="2890381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BBDE973F-D331-D2DD-3895-363D3BD28771}"/>
                </a:ext>
              </a:extLst>
            </p:cNvPr>
            <p:cNvSpPr txBox="1"/>
            <p:nvPr/>
          </p:nvSpPr>
          <p:spPr>
            <a:xfrm>
              <a:off x="4090978" y="3485140"/>
              <a:ext cx="1241344" cy="338554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Metabolite</a:t>
              </a:r>
              <a:endParaRPr lang="es-ES" sz="1600" dirty="0"/>
            </a:p>
          </p:txBody>
        </p:sp>
      </p:grp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D63274D3-4C8D-709B-F7C5-405CCC1D5994}"/>
              </a:ext>
            </a:extLst>
          </p:cNvPr>
          <p:cNvCxnSpPr/>
          <p:nvPr/>
        </p:nvCxnSpPr>
        <p:spPr>
          <a:xfrm>
            <a:off x="5194126" y="3070901"/>
            <a:ext cx="90187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BF982EC-A022-5DCF-4C63-A69894319D37}"/>
              </a:ext>
            </a:extLst>
          </p:cNvPr>
          <p:cNvSpPr txBox="1"/>
          <p:nvPr/>
        </p:nvSpPr>
        <p:spPr>
          <a:xfrm>
            <a:off x="2555308" y="4829721"/>
            <a:ext cx="2793304" cy="707886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s-ES" sz="2000" b="1" dirty="0" err="1"/>
              <a:t>Phase</a:t>
            </a:r>
            <a:r>
              <a:rPr lang="es-ES" sz="2000" b="1" dirty="0"/>
              <a:t> I </a:t>
            </a:r>
            <a:r>
              <a:rPr lang="es-ES" sz="2000" b="1" dirty="0" err="1"/>
              <a:t>Reaction</a:t>
            </a:r>
            <a:endParaRPr lang="es-ES" sz="2000" b="1" dirty="0"/>
          </a:p>
          <a:p>
            <a:pPr algn="ctr"/>
            <a:r>
              <a:rPr lang="es-ES" sz="2000" dirty="0"/>
              <a:t>(</a:t>
            </a:r>
            <a:r>
              <a:rPr lang="es-ES" sz="2000" dirty="0" err="1"/>
              <a:t>e.g</a:t>
            </a:r>
            <a:r>
              <a:rPr lang="es-ES" sz="2000" dirty="0"/>
              <a:t>. </a:t>
            </a:r>
            <a:r>
              <a:rPr lang="es-ES" sz="2000" dirty="0" err="1"/>
              <a:t>Oxidation</a:t>
            </a:r>
            <a:r>
              <a:rPr lang="es-ES" sz="2000" dirty="0"/>
              <a:t>)</a:t>
            </a:r>
            <a:endParaRPr lang="en-GB" sz="2000" dirty="0"/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6ED49620-DA31-2674-730F-8C7CD1678527}"/>
              </a:ext>
            </a:extLst>
          </p:cNvPr>
          <p:cNvGrpSpPr/>
          <p:nvPr/>
        </p:nvGrpSpPr>
        <p:grpSpPr>
          <a:xfrm>
            <a:off x="6013038" y="2760389"/>
            <a:ext cx="3284115" cy="2838597"/>
            <a:chOff x="6096000" y="2709524"/>
            <a:chExt cx="3284115" cy="2838597"/>
          </a:xfrm>
        </p:grpSpPr>
        <p:sp>
          <p:nvSpPr>
            <p:cNvPr id="20" name="Star: 7 Points 19">
              <a:extLst>
                <a:ext uri="{FF2B5EF4-FFF2-40B4-BE49-F238E27FC236}">
                  <a16:creationId xmlns:a16="http://schemas.microsoft.com/office/drawing/2014/main" id="{8AB06384-E948-058A-4E19-9F89D3571F91}"/>
                </a:ext>
              </a:extLst>
            </p:cNvPr>
            <p:cNvSpPr/>
            <p:nvPr/>
          </p:nvSpPr>
          <p:spPr>
            <a:xfrm>
              <a:off x="6380758" y="2773653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cxnSp>
          <p:nvCxnSpPr>
            <p:cNvPr id="30" name="Straight Arrow Connector 29">
              <a:extLst>
                <a:ext uri="{FF2B5EF4-FFF2-40B4-BE49-F238E27FC236}">
                  <a16:creationId xmlns:a16="http://schemas.microsoft.com/office/drawing/2014/main" id="{5E55AC96-1703-958D-8283-57FF5A67A5F0}"/>
                </a:ext>
              </a:extLst>
            </p:cNvPr>
            <p:cNvCxnSpPr>
              <a:cxnSpLocks/>
            </p:cNvCxnSpPr>
            <p:nvPr/>
          </p:nvCxnSpPr>
          <p:spPr>
            <a:xfrm>
              <a:off x="6630027" y="3428999"/>
              <a:ext cx="0" cy="867428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5" name="Cloud 34">
              <a:extLst>
                <a:ext uri="{FF2B5EF4-FFF2-40B4-BE49-F238E27FC236}">
                  <a16:creationId xmlns:a16="http://schemas.microsoft.com/office/drawing/2014/main" id="{7A319016-A5E1-9837-8476-82402D6B31AA}"/>
                </a:ext>
              </a:extLst>
            </p:cNvPr>
            <p:cNvSpPr/>
            <p:nvPr/>
          </p:nvSpPr>
          <p:spPr>
            <a:xfrm>
              <a:off x="6913443" y="3573873"/>
              <a:ext cx="853937" cy="500732"/>
            </a:xfrm>
            <a:prstGeom prst="cloud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6" name="Star: 7 Points 35">
              <a:extLst>
                <a:ext uri="{FF2B5EF4-FFF2-40B4-BE49-F238E27FC236}">
                  <a16:creationId xmlns:a16="http://schemas.microsoft.com/office/drawing/2014/main" id="{3C83B1B8-8D89-A55D-2856-0754B7030AB0}"/>
                </a:ext>
              </a:extLst>
            </p:cNvPr>
            <p:cNvSpPr/>
            <p:nvPr/>
          </p:nvSpPr>
          <p:spPr>
            <a:xfrm>
              <a:off x="6256748" y="4385246"/>
              <a:ext cx="463464" cy="538614"/>
            </a:xfrm>
            <a:prstGeom prst="star7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39" name="Flowchart: Decision 38">
              <a:extLst>
                <a:ext uri="{FF2B5EF4-FFF2-40B4-BE49-F238E27FC236}">
                  <a16:creationId xmlns:a16="http://schemas.microsoft.com/office/drawing/2014/main" id="{533DB632-2EF7-255D-3BC2-A6A7FC25F55F}"/>
                </a:ext>
              </a:extLst>
            </p:cNvPr>
            <p:cNvSpPr/>
            <p:nvPr/>
          </p:nvSpPr>
          <p:spPr>
            <a:xfrm>
              <a:off x="6856901" y="4632362"/>
              <a:ext cx="414457" cy="222247"/>
            </a:xfrm>
            <a:prstGeom prst="flowChartDecision">
              <a:avLst/>
            </a:prstGeom>
          </p:spPr>
          <p:style>
            <a:lnRef idx="2">
              <a:schemeClr val="accent3">
                <a:shade val="15000"/>
              </a:schemeClr>
            </a:lnRef>
            <a:fillRef idx="1">
              <a:schemeClr val="accent3"/>
            </a:fillRef>
            <a:effectRef idx="0">
              <a:schemeClr val="accent3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3BE4CE6D-C970-FBE5-874B-35AB269619AA}"/>
                </a:ext>
              </a:extLst>
            </p:cNvPr>
            <p:cNvCxnSpPr/>
            <p:nvPr/>
          </p:nvCxnSpPr>
          <p:spPr>
            <a:xfrm flipH="1" flipV="1">
              <a:off x="6586811" y="4685039"/>
              <a:ext cx="408348" cy="82358"/>
            </a:xfrm>
            <a:prstGeom prst="line">
              <a:avLst/>
            </a:prstGeom>
            <a:ln w="38100">
              <a:solidFill>
                <a:schemeClr val="accent3"/>
              </a:solidFill>
            </a:ln>
          </p:spPr>
          <p:style>
            <a:lnRef idx="3">
              <a:schemeClr val="accent3"/>
            </a:lnRef>
            <a:fillRef idx="0">
              <a:schemeClr val="accent3"/>
            </a:fillRef>
            <a:effectRef idx="2">
              <a:schemeClr val="accent3"/>
            </a:effectRef>
            <a:fontRef idx="minor">
              <a:schemeClr val="tx1"/>
            </a:fontRef>
          </p:style>
        </p:cxn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36E49B1-6555-AE8C-2E62-92FF36D3DB28}"/>
                </a:ext>
              </a:extLst>
            </p:cNvPr>
            <p:cNvSpPr txBox="1"/>
            <p:nvPr/>
          </p:nvSpPr>
          <p:spPr>
            <a:xfrm>
              <a:off x="6096000" y="4963346"/>
              <a:ext cx="1241344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1600" dirty="0" err="1"/>
                <a:t>Conjugated</a:t>
              </a:r>
              <a:r>
                <a:rPr lang="es-ES" sz="1600" dirty="0"/>
                <a:t> </a:t>
              </a:r>
              <a:r>
                <a:rPr lang="es-ES" sz="1600" dirty="0" err="1"/>
                <a:t>Metabolite</a:t>
              </a:r>
              <a:endParaRPr lang="es-ES" sz="1600" dirty="0"/>
            </a:p>
          </p:txBody>
        </p:sp>
        <p:sp>
          <p:nvSpPr>
            <p:cNvPr id="41" name="TextBox 40">
              <a:extLst>
                <a:ext uri="{FF2B5EF4-FFF2-40B4-BE49-F238E27FC236}">
                  <a16:creationId xmlns:a16="http://schemas.microsoft.com/office/drawing/2014/main" id="{63184D66-CB54-DA3D-23B9-2DC99F55C7ED}"/>
                </a:ext>
              </a:extLst>
            </p:cNvPr>
            <p:cNvSpPr txBox="1"/>
            <p:nvPr/>
          </p:nvSpPr>
          <p:spPr>
            <a:xfrm>
              <a:off x="6586811" y="2709524"/>
              <a:ext cx="2793304" cy="707886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b="1" dirty="0"/>
                <a:t>*</a:t>
              </a:r>
              <a:r>
                <a:rPr lang="es-ES" sz="2000" b="1" dirty="0" err="1"/>
                <a:t>Phase</a:t>
              </a:r>
              <a:r>
                <a:rPr lang="es-ES" sz="2000" b="1" dirty="0"/>
                <a:t> II </a:t>
              </a:r>
              <a:r>
                <a:rPr lang="es-ES" sz="2000" b="1" dirty="0" err="1"/>
                <a:t>Reaction</a:t>
              </a:r>
              <a:endParaRPr lang="es-ES" sz="2000" b="1" dirty="0"/>
            </a:p>
            <a:p>
              <a:pPr algn="ctr"/>
              <a:r>
                <a:rPr lang="es-ES" sz="2000" dirty="0"/>
                <a:t>(</a:t>
              </a:r>
              <a:r>
                <a:rPr lang="es-ES" sz="2000" dirty="0" err="1"/>
                <a:t>Conjugation</a:t>
              </a:r>
              <a:r>
                <a:rPr lang="es-ES" sz="2000" dirty="0"/>
                <a:t>)</a:t>
              </a:r>
              <a:endParaRPr lang="en-GB" sz="2000" dirty="0"/>
            </a:p>
          </p:txBody>
        </p:sp>
      </p:grpSp>
      <p:grpSp>
        <p:nvGrpSpPr>
          <p:cNvPr id="47" name="Group 46">
            <a:extLst>
              <a:ext uri="{FF2B5EF4-FFF2-40B4-BE49-F238E27FC236}">
                <a16:creationId xmlns:a16="http://schemas.microsoft.com/office/drawing/2014/main" id="{02053484-71AC-9C16-0A34-7C67B0FBD2D1}"/>
              </a:ext>
            </a:extLst>
          </p:cNvPr>
          <p:cNvGrpSpPr/>
          <p:nvPr/>
        </p:nvGrpSpPr>
        <p:grpSpPr>
          <a:xfrm>
            <a:off x="6931612" y="4399293"/>
            <a:ext cx="2793304" cy="418969"/>
            <a:chOff x="6931612" y="4399293"/>
            <a:chExt cx="2793304" cy="418969"/>
          </a:xfrm>
        </p:grpSpPr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41642A36-1071-F942-A7EA-A3F55F98F2B5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BD47F540-D077-5F9E-7ABB-5FA3A949686B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Elimination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  <p:sp>
        <p:nvSpPr>
          <p:cNvPr id="48" name="Flowchart: Decision 47">
            <a:extLst>
              <a:ext uri="{FF2B5EF4-FFF2-40B4-BE49-F238E27FC236}">
                <a16:creationId xmlns:a16="http://schemas.microsoft.com/office/drawing/2014/main" id="{8F238B57-1635-AE58-B3BA-BFBEFDF715CB}"/>
              </a:ext>
            </a:extLst>
          </p:cNvPr>
          <p:cNvSpPr/>
          <p:nvPr/>
        </p:nvSpPr>
        <p:spPr>
          <a:xfrm>
            <a:off x="6745265" y="3820309"/>
            <a:ext cx="414457" cy="222247"/>
          </a:xfrm>
          <a:prstGeom prst="flowChartDecision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9" name="Group 48">
            <a:extLst>
              <a:ext uri="{FF2B5EF4-FFF2-40B4-BE49-F238E27FC236}">
                <a16:creationId xmlns:a16="http://schemas.microsoft.com/office/drawing/2014/main" id="{4FAB1A65-7190-E6C3-4020-36F532B1D31E}"/>
              </a:ext>
            </a:extLst>
          </p:cNvPr>
          <p:cNvGrpSpPr/>
          <p:nvPr/>
        </p:nvGrpSpPr>
        <p:grpSpPr>
          <a:xfrm>
            <a:off x="252711" y="2655054"/>
            <a:ext cx="2793304" cy="418969"/>
            <a:chOff x="6931612" y="4399293"/>
            <a:chExt cx="2793304" cy="418969"/>
          </a:xfrm>
        </p:grpSpPr>
        <p:cxnSp>
          <p:nvCxnSpPr>
            <p:cNvPr id="50" name="Straight Arrow Connector 49">
              <a:extLst>
                <a:ext uri="{FF2B5EF4-FFF2-40B4-BE49-F238E27FC236}">
                  <a16:creationId xmlns:a16="http://schemas.microsoft.com/office/drawing/2014/main" id="{141D195C-E206-9950-DE44-D09C2D55963F}"/>
                </a:ext>
              </a:extLst>
            </p:cNvPr>
            <p:cNvCxnSpPr>
              <a:cxnSpLocks/>
            </p:cNvCxnSpPr>
            <p:nvPr/>
          </p:nvCxnSpPr>
          <p:spPr>
            <a:xfrm>
              <a:off x="7438372" y="4818262"/>
              <a:ext cx="1858781" cy="0"/>
            </a:xfrm>
            <a:prstGeom prst="straightConnector1">
              <a:avLst/>
            </a:prstGeom>
            <a:ln w="38100">
              <a:solidFill>
                <a:schemeClr val="bg2">
                  <a:lumMod val="50000"/>
                </a:schemeClr>
              </a:solidFill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E529F818-126E-C025-F448-EF260EA0662F}"/>
                </a:ext>
              </a:extLst>
            </p:cNvPr>
            <p:cNvSpPr txBox="1"/>
            <p:nvPr/>
          </p:nvSpPr>
          <p:spPr>
            <a:xfrm>
              <a:off x="6931612" y="4399293"/>
              <a:ext cx="2793304" cy="400110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s-ES" sz="2000" dirty="0" err="1">
                  <a:solidFill>
                    <a:schemeClr val="bg2">
                      <a:lumMod val="25000"/>
                    </a:schemeClr>
                  </a:solidFill>
                </a:rPr>
                <a:t>Distribution</a:t>
              </a:r>
              <a:endParaRPr lang="en-GB" sz="2000" dirty="0">
                <a:solidFill>
                  <a:schemeClr val="bg2">
                    <a:lumMod val="25000"/>
                  </a:schemeClr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88560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62" name="Grupo 1061">
            <a:extLst>
              <a:ext uri="{FF2B5EF4-FFF2-40B4-BE49-F238E27FC236}">
                <a16:creationId xmlns:a16="http://schemas.microsoft.com/office/drawing/2014/main" id="{DC3009EC-AA9C-83AA-33E4-6D8E204F63A8}"/>
              </a:ext>
            </a:extLst>
          </p:cNvPr>
          <p:cNvGrpSpPr/>
          <p:nvPr/>
        </p:nvGrpSpPr>
        <p:grpSpPr>
          <a:xfrm>
            <a:off x="2257425" y="235356"/>
            <a:ext cx="7499734" cy="1900727"/>
            <a:chOff x="2257425" y="235356"/>
            <a:chExt cx="7499734" cy="1900727"/>
          </a:xfrm>
        </p:grpSpPr>
        <p:pic>
          <p:nvPicPr>
            <p:cNvPr id="1061" name="Imagen 1060">
              <a:extLst>
                <a:ext uri="{FF2B5EF4-FFF2-40B4-BE49-F238E27FC236}">
                  <a16:creationId xmlns:a16="http://schemas.microsoft.com/office/drawing/2014/main" id="{2DB22FF4-A3DB-78B6-5D09-169E8E930F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257425" y="235356"/>
              <a:ext cx="3696886" cy="1848443"/>
            </a:xfrm>
            <a:prstGeom prst="rect">
              <a:avLst/>
            </a:prstGeom>
          </p:spPr>
        </p:pic>
        <p:grpSp>
          <p:nvGrpSpPr>
            <p:cNvPr id="41" name="Grupo 40">
              <a:extLst>
                <a:ext uri="{FF2B5EF4-FFF2-40B4-BE49-F238E27FC236}">
                  <a16:creationId xmlns:a16="http://schemas.microsoft.com/office/drawing/2014/main" id="{A7B94D04-17B5-8EBC-1DCC-B5BDDD4F60AE}"/>
                </a:ext>
              </a:extLst>
            </p:cNvPr>
            <p:cNvGrpSpPr/>
            <p:nvPr/>
          </p:nvGrpSpPr>
          <p:grpSpPr>
            <a:xfrm>
              <a:off x="3495051" y="1082675"/>
              <a:ext cx="6262108" cy="1053408"/>
              <a:chOff x="3495051" y="1082675"/>
              <a:chExt cx="6262108" cy="1053408"/>
            </a:xfrm>
          </p:grpSpPr>
          <p:grpSp>
            <p:nvGrpSpPr>
              <p:cNvPr id="20" name="Grupo 19">
                <a:extLst>
                  <a:ext uri="{FF2B5EF4-FFF2-40B4-BE49-F238E27FC236}">
                    <a16:creationId xmlns:a16="http://schemas.microsoft.com/office/drawing/2014/main" id="{E167B4B8-BDB5-926A-E81C-8A21FD1461E5}"/>
                  </a:ext>
                </a:extLst>
              </p:cNvPr>
              <p:cNvGrpSpPr/>
              <p:nvPr/>
            </p:nvGrpSpPr>
            <p:grpSpPr>
              <a:xfrm>
                <a:off x="5511736" y="1082675"/>
                <a:ext cx="4245423" cy="394031"/>
                <a:chOff x="5511736" y="1061317"/>
                <a:chExt cx="4245423" cy="394031"/>
              </a:xfrm>
            </p:grpSpPr>
            <p:grpSp>
              <p:nvGrpSpPr>
                <p:cNvPr id="19" name="Grupo 18">
                  <a:extLst>
                    <a:ext uri="{FF2B5EF4-FFF2-40B4-BE49-F238E27FC236}">
                      <a16:creationId xmlns:a16="http://schemas.microsoft.com/office/drawing/2014/main" id="{1385188E-EE7F-378A-FCDF-74D42C8FBD89}"/>
                    </a:ext>
                  </a:extLst>
                </p:cNvPr>
                <p:cNvGrpSpPr/>
                <p:nvPr/>
              </p:nvGrpSpPr>
              <p:grpSpPr>
                <a:xfrm>
                  <a:off x="5511736" y="1061317"/>
                  <a:ext cx="1168528" cy="261610"/>
                  <a:chOff x="5551019" y="1024313"/>
                  <a:chExt cx="1168528" cy="261610"/>
                </a:xfrm>
              </p:grpSpPr>
              <p:cxnSp>
                <p:nvCxnSpPr>
                  <p:cNvPr id="9" name="Conector recto de flecha 8">
                    <a:extLst>
                      <a:ext uri="{FF2B5EF4-FFF2-40B4-BE49-F238E27FC236}">
                        <a16:creationId xmlns:a16="http://schemas.microsoft.com/office/drawing/2014/main" id="{D22FA9FB-7FA3-6DBF-73A6-600F81E6C932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587596" y="1249067"/>
                    <a:ext cx="1131951" cy="0"/>
                  </a:xfrm>
                  <a:prstGeom prst="straightConnector1">
                    <a:avLst/>
                  </a:prstGeom>
                  <a:ln>
                    <a:tailEnd type="triangle"/>
                  </a:ln>
                </p:spPr>
                <p:style>
                  <a:lnRef idx="2">
                    <a:schemeClr val="dk1"/>
                  </a:lnRef>
                  <a:fillRef idx="0">
                    <a:schemeClr val="dk1"/>
                  </a:fillRef>
                  <a:effectRef idx="1">
                    <a:schemeClr val="dk1"/>
                  </a:effectRef>
                  <a:fontRef idx="minor">
                    <a:schemeClr val="tx1"/>
                  </a:fontRef>
                </p:style>
              </p:cxnSp>
              <p:sp>
                <p:nvSpPr>
                  <p:cNvPr id="10" name="CuadroTexto 9">
                    <a:extLst>
                      <a:ext uri="{FF2B5EF4-FFF2-40B4-BE49-F238E27FC236}">
                        <a16:creationId xmlns:a16="http://schemas.microsoft.com/office/drawing/2014/main" id="{F575386E-C0BD-8E0A-822E-8DC083E3FDC6}"/>
                      </a:ext>
                    </a:extLst>
                  </p:cNvPr>
                  <p:cNvSpPr txBox="1"/>
                  <p:nvPr/>
                </p:nvSpPr>
                <p:spPr>
                  <a:xfrm>
                    <a:off x="5551019" y="1024313"/>
                    <a:ext cx="1131951" cy="261610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en-US" sz="1100" b="1" noProof="1">
                        <a:latin typeface="Calibri" panose="020F0502020204030204" pitchFamily="34" charset="0"/>
                        <a:ea typeface="Calibri" panose="020F0502020204030204" pitchFamily="34" charset="0"/>
                        <a:cs typeface="Calibri" panose="020F0502020204030204" pitchFamily="34" charset="0"/>
                      </a:rPr>
                      <a:t>String encoding </a:t>
                    </a:r>
                  </a:p>
                </p:txBody>
              </p:sp>
            </p:grpSp>
            <p:sp>
              <p:nvSpPr>
                <p:cNvPr id="13" name="CuadroTexto 12">
                  <a:extLst>
                    <a:ext uri="{FF2B5EF4-FFF2-40B4-BE49-F238E27FC236}">
                      <a16:creationId xmlns:a16="http://schemas.microsoft.com/office/drawing/2014/main" id="{994FC89D-8F3A-E6DF-886B-9715B1D8E649}"/>
                    </a:ext>
                  </a:extLst>
                </p:cNvPr>
                <p:cNvSpPr txBox="1"/>
                <p:nvPr/>
              </p:nvSpPr>
              <p:spPr>
                <a:xfrm>
                  <a:off x="6756126" y="1116794"/>
                  <a:ext cx="3001033" cy="338554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 algn="ctr"/>
                  <a:r>
                    <a:rPr lang="en-US" sz="1600" b="1" noProof="1">
                      <a:solidFill>
                        <a:srgbClr val="FF9A25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CC(C)C</a:t>
                  </a:r>
                  <a:r>
                    <a:rPr lang="en-US" sz="1600" b="1" noProof="1">
                      <a:solidFill>
                        <a:srgbClr val="FF0000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C1=CC=C(C=C1)</a:t>
                  </a:r>
                  <a:r>
                    <a:rPr lang="en-US" sz="1600" b="1" noProof="1">
                      <a:solidFill>
                        <a:srgbClr val="FF69B4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C(C)</a:t>
                  </a:r>
                  <a:r>
                    <a:rPr lang="en-US" sz="1600" b="1" noProof="1">
                      <a:solidFill>
                        <a:srgbClr val="8CC253"/>
                      </a:solidFill>
                      <a:latin typeface="Calibri" panose="020F0502020204030204" pitchFamily="34" charset="0"/>
                      <a:ea typeface="Calibri" panose="020F0502020204030204" pitchFamily="34" charset="0"/>
                      <a:cs typeface="Calibri" panose="020F0502020204030204" pitchFamily="34" charset="0"/>
                    </a:rPr>
                    <a:t>C(=O)O</a:t>
                  </a:r>
                </a:p>
              </p:txBody>
            </p:sp>
          </p:grpSp>
          <p:sp>
            <p:nvSpPr>
              <p:cNvPr id="32" name="CuadroTexto 31">
                <a:extLst>
                  <a:ext uri="{FF2B5EF4-FFF2-40B4-BE49-F238E27FC236}">
                    <a16:creationId xmlns:a16="http://schemas.microsoft.com/office/drawing/2014/main" id="{FECC6823-9B0A-6311-5D64-53C52EF4B68A}"/>
                  </a:ext>
                </a:extLst>
              </p:cNvPr>
              <p:cNvSpPr txBox="1"/>
              <p:nvPr/>
            </p:nvSpPr>
            <p:spPr>
              <a:xfrm>
                <a:off x="3495051" y="1828306"/>
                <a:ext cx="1329941" cy="307777"/>
              </a:xfrm>
              <a:prstGeom prst="rect">
                <a:avLst/>
              </a:prstGeom>
              <a:solidFill>
                <a:srgbClr val="FCFCFC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Ibuprofen</a:t>
                </a:r>
              </a:p>
            </p:txBody>
          </p:sp>
        </p:grpSp>
      </p:grpSp>
      <p:cxnSp>
        <p:nvCxnSpPr>
          <p:cNvPr id="22" name="Conector recto 21">
            <a:extLst>
              <a:ext uri="{FF2B5EF4-FFF2-40B4-BE49-F238E27FC236}">
                <a16:creationId xmlns:a16="http://schemas.microsoft.com/office/drawing/2014/main" id="{41DA9A9A-25EE-2FC8-822A-3632977FE3D0}"/>
              </a:ext>
            </a:extLst>
          </p:cNvPr>
          <p:cNvCxnSpPr>
            <a:cxnSpLocks/>
          </p:cNvCxnSpPr>
          <p:nvPr/>
        </p:nvCxnSpPr>
        <p:spPr>
          <a:xfrm>
            <a:off x="-18289" y="2251531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3" name="CuadroTexto 22">
            <a:extLst>
              <a:ext uri="{FF2B5EF4-FFF2-40B4-BE49-F238E27FC236}">
                <a16:creationId xmlns:a16="http://schemas.microsoft.com/office/drawing/2014/main" id="{56BB3199-A4B3-71B1-628C-C121F5CE7F8E}"/>
              </a:ext>
            </a:extLst>
          </p:cNvPr>
          <p:cNvSpPr txBox="1"/>
          <p:nvPr/>
        </p:nvSpPr>
        <p:spPr>
          <a:xfrm>
            <a:off x="4134659" y="43387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Chemical representation → SMILES</a:t>
            </a:r>
          </a:p>
        </p:txBody>
      </p:sp>
      <p:cxnSp>
        <p:nvCxnSpPr>
          <p:cNvPr id="27" name="Conector recto 26">
            <a:extLst>
              <a:ext uri="{FF2B5EF4-FFF2-40B4-BE49-F238E27FC236}">
                <a16:creationId xmlns:a16="http://schemas.microsoft.com/office/drawing/2014/main" id="{8575DC62-F9B7-30CF-228B-67E2616B34B2}"/>
              </a:ext>
            </a:extLst>
          </p:cNvPr>
          <p:cNvCxnSpPr>
            <a:cxnSpLocks/>
          </p:cNvCxnSpPr>
          <p:nvPr/>
        </p:nvCxnSpPr>
        <p:spPr>
          <a:xfrm>
            <a:off x="-12273" y="4534935"/>
            <a:ext cx="12192000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8" name="CuadroTexto 27">
            <a:extLst>
              <a:ext uri="{FF2B5EF4-FFF2-40B4-BE49-F238E27FC236}">
                <a16:creationId xmlns:a16="http://schemas.microsoft.com/office/drawing/2014/main" id="{A453C512-6DD5-B6F5-66B9-E75E6014876F}"/>
              </a:ext>
            </a:extLst>
          </p:cNvPr>
          <p:cNvSpPr txBox="1"/>
          <p:nvPr/>
        </p:nvSpPr>
        <p:spPr>
          <a:xfrm>
            <a:off x="4173099" y="2308490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SMILES → Morgan Fingerprints</a:t>
            </a:r>
          </a:p>
        </p:txBody>
      </p:sp>
      <p:sp>
        <p:nvSpPr>
          <p:cNvPr id="31" name="CuadroTexto 30">
            <a:extLst>
              <a:ext uri="{FF2B5EF4-FFF2-40B4-BE49-F238E27FC236}">
                <a16:creationId xmlns:a16="http://schemas.microsoft.com/office/drawing/2014/main" id="{5F57696A-FD26-5FFD-D1B6-9AC79ADAE2CC}"/>
              </a:ext>
            </a:extLst>
          </p:cNvPr>
          <p:cNvSpPr txBox="1"/>
          <p:nvPr/>
        </p:nvSpPr>
        <p:spPr>
          <a:xfrm>
            <a:off x="6642484" y="1444819"/>
            <a:ext cx="311467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SMILES </a:t>
            </a:r>
          </a:p>
          <a:p>
            <a:pPr algn="ctr"/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(linear textual representation)</a:t>
            </a:r>
          </a:p>
        </p:txBody>
      </p:sp>
      <p:pic>
        <p:nvPicPr>
          <p:cNvPr id="34" name="Imagen 33">
            <a:extLst>
              <a:ext uri="{FF2B5EF4-FFF2-40B4-BE49-F238E27FC236}">
                <a16:creationId xmlns:a16="http://schemas.microsoft.com/office/drawing/2014/main" id="{6D4E31DC-68BC-C61C-612B-EBBAD7BA97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3947" y="2889124"/>
            <a:ext cx="2785700" cy="1260721"/>
          </a:xfrm>
          <a:prstGeom prst="rect">
            <a:avLst/>
          </a:prstGeom>
        </p:spPr>
      </p:pic>
      <p:sp>
        <p:nvSpPr>
          <p:cNvPr id="36" name="Elipse 35">
            <a:extLst>
              <a:ext uri="{FF2B5EF4-FFF2-40B4-BE49-F238E27FC236}">
                <a16:creationId xmlns:a16="http://schemas.microsoft.com/office/drawing/2014/main" id="{EF4DF477-0A16-CC26-E35B-C7330C3D7F63}"/>
              </a:ext>
            </a:extLst>
          </p:cNvPr>
          <p:cNvSpPr/>
          <p:nvPr/>
        </p:nvSpPr>
        <p:spPr>
          <a:xfrm>
            <a:off x="1836746" y="2752145"/>
            <a:ext cx="1154104" cy="1260723"/>
          </a:xfrm>
          <a:prstGeom prst="ellipse">
            <a:avLst/>
          </a:prstGeom>
          <a:noFill/>
          <a:ln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37" name="CuadroTexto 36">
            <a:extLst>
              <a:ext uri="{FF2B5EF4-FFF2-40B4-BE49-F238E27FC236}">
                <a16:creationId xmlns:a16="http://schemas.microsoft.com/office/drawing/2014/main" id="{F9C1D32E-085C-F5FB-357B-F2FC78D633CC}"/>
              </a:ext>
            </a:extLst>
          </p:cNvPr>
          <p:cNvSpPr txBox="1"/>
          <p:nvPr/>
        </p:nvSpPr>
        <p:spPr>
          <a:xfrm>
            <a:off x="401216" y="2600903"/>
            <a:ext cx="13821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1. Select </a:t>
            </a:r>
            <a:r>
              <a:rPr lang="en-US" sz="1100" b="1" noProof="1">
                <a:solidFill>
                  <a:srgbClr val="FF00FF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atom</a:t>
            </a:r>
          </a:p>
        </p:txBody>
      </p:sp>
      <p:sp>
        <p:nvSpPr>
          <p:cNvPr id="38" name="CuadroTexto 37">
            <a:extLst>
              <a:ext uri="{FF2B5EF4-FFF2-40B4-BE49-F238E27FC236}">
                <a16:creationId xmlns:a16="http://schemas.microsoft.com/office/drawing/2014/main" id="{82FC17F2-5F79-56AD-D857-0B1BCA0061DA}"/>
              </a:ext>
            </a:extLst>
          </p:cNvPr>
          <p:cNvSpPr txBox="1"/>
          <p:nvPr/>
        </p:nvSpPr>
        <p:spPr>
          <a:xfrm>
            <a:off x="2862488" y="2726275"/>
            <a:ext cx="1131951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2. Check substructures in </a:t>
            </a:r>
            <a:r>
              <a:rPr lang="en-US" sz="1100" b="1" noProof="1">
                <a:solidFill>
                  <a:schemeClr val="accent5">
                    <a:lumMod val="75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Radius = 3</a:t>
            </a:r>
          </a:p>
        </p:txBody>
      </p:sp>
      <p:sp>
        <p:nvSpPr>
          <p:cNvPr id="42" name="CuadroTexto 41">
            <a:extLst>
              <a:ext uri="{FF2B5EF4-FFF2-40B4-BE49-F238E27FC236}">
                <a16:creationId xmlns:a16="http://schemas.microsoft.com/office/drawing/2014/main" id="{3A9B3E78-660F-6A75-44F7-4FCC95B12EFF}"/>
              </a:ext>
            </a:extLst>
          </p:cNvPr>
          <p:cNvSpPr txBox="1"/>
          <p:nvPr/>
        </p:nvSpPr>
        <p:spPr>
          <a:xfrm>
            <a:off x="3767172" y="3290060"/>
            <a:ext cx="1420035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4. Hashing algorithm</a:t>
            </a:r>
          </a:p>
        </p:txBody>
      </p:sp>
      <p:cxnSp>
        <p:nvCxnSpPr>
          <p:cNvPr id="43" name="Conector recto de flecha 42">
            <a:extLst>
              <a:ext uri="{FF2B5EF4-FFF2-40B4-BE49-F238E27FC236}">
                <a16:creationId xmlns:a16="http://schemas.microsoft.com/office/drawing/2014/main" id="{637A5816-08BD-1C14-DF30-52C557AAF55E}"/>
              </a:ext>
            </a:extLst>
          </p:cNvPr>
          <p:cNvCxnSpPr>
            <a:cxnSpLocks/>
          </p:cNvCxnSpPr>
          <p:nvPr/>
        </p:nvCxnSpPr>
        <p:spPr>
          <a:xfrm>
            <a:off x="3890031" y="3536279"/>
            <a:ext cx="12616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39" name="CuadroTexto 1038">
            <a:extLst>
              <a:ext uri="{FF2B5EF4-FFF2-40B4-BE49-F238E27FC236}">
                <a16:creationId xmlns:a16="http://schemas.microsoft.com/office/drawing/2014/main" id="{C909B4C3-DB09-2160-3E68-DFA47E48305B}"/>
              </a:ext>
            </a:extLst>
          </p:cNvPr>
          <p:cNvSpPr txBox="1"/>
          <p:nvPr/>
        </p:nvSpPr>
        <p:spPr>
          <a:xfrm>
            <a:off x="1851334" y="4007179"/>
            <a:ext cx="137906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3. Iterative process for each atom</a:t>
            </a:r>
          </a:p>
        </p:txBody>
      </p:sp>
      <p:sp>
        <p:nvSpPr>
          <p:cNvPr id="1051" name="CuadroTexto 1050">
            <a:extLst>
              <a:ext uri="{FF2B5EF4-FFF2-40B4-BE49-F238E27FC236}">
                <a16:creationId xmlns:a16="http://schemas.microsoft.com/office/drawing/2014/main" id="{422AB256-2016-3AD6-E9F5-7784C184CDEB}"/>
              </a:ext>
            </a:extLst>
          </p:cNvPr>
          <p:cNvSpPr txBox="1"/>
          <p:nvPr/>
        </p:nvSpPr>
        <p:spPr>
          <a:xfrm>
            <a:off x="6542871" y="4111178"/>
            <a:ext cx="3319564" cy="261610"/>
          </a:xfrm>
          <a:prstGeom prst="rect">
            <a:avLst/>
          </a:prstGeom>
          <a:solidFill>
            <a:srgbClr val="9A9A9A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ECFP6 = […, 0, </a:t>
            </a:r>
            <a:r>
              <a:rPr lang="en-US" sz="1100" b="1" noProof="1">
                <a:solidFill>
                  <a:srgbClr val="FF66B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FF9A25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4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FFFF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8CC25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1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</a:t>
            </a:r>
            <a:r>
              <a:rPr lang="en-US" sz="1100" b="1" noProof="1">
                <a:solidFill>
                  <a:srgbClr val="00BBD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</a:t>
            </a: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, 0, 0, ...]</a:t>
            </a:r>
          </a:p>
        </p:txBody>
      </p:sp>
      <p:sp>
        <p:nvSpPr>
          <p:cNvPr id="1052" name="CuadroTexto 1051">
            <a:extLst>
              <a:ext uri="{FF2B5EF4-FFF2-40B4-BE49-F238E27FC236}">
                <a16:creationId xmlns:a16="http://schemas.microsoft.com/office/drawing/2014/main" id="{08BAA5DD-8691-780C-4BEB-2858763872D6}"/>
              </a:ext>
            </a:extLst>
          </p:cNvPr>
          <p:cNvSpPr txBox="1"/>
          <p:nvPr/>
        </p:nvSpPr>
        <p:spPr>
          <a:xfrm>
            <a:off x="10517978" y="2838853"/>
            <a:ext cx="1936418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Fixed length (2048)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Interpretable 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Sparse (Mostly 0s)</a:t>
            </a:r>
          </a:p>
          <a:p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• Discrete (Integers only)</a:t>
            </a:r>
          </a:p>
        </p:txBody>
      </p:sp>
      <p:sp>
        <p:nvSpPr>
          <p:cNvPr id="1054" name="CuadroTexto 1053">
            <a:extLst>
              <a:ext uri="{FF2B5EF4-FFF2-40B4-BE49-F238E27FC236}">
                <a16:creationId xmlns:a16="http://schemas.microsoft.com/office/drawing/2014/main" id="{0C7B6728-3D0B-3871-3716-D024D038983F}"/>
              </a:ext>
            </a:extLst>
          </p:cNvPr>
          <p:cNvSpPr txBox="1"/>
          <p:nvPr/>
        </p:nvSpPr>
        <p:spPr>
          <a:xfrm>
            <a:off x="5086351" y="3804850"/>
            <a:ext cx="318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…</a:t>
            </a:r>
          </a:p>
        </p:txBody>
      </p:sp>
      <p:sp>
        <p:nvSpPr>
          <p:cNvPr id="1055" name="CuadroTexto 1054">
            <a:extLst>
              <a:ext uri="{FF2B5EF4-FFF2-40B4-BE49-F238E27FC236}">
                <a16:creationId xmlns:a16="http://schemas.microsoft.com/office/drawing/2014/main" id="{F020B35C-4ED7-4D4A-2245-9DE7728CCCD7}"/>
              </a:ext>
            </a:extLst>
          </p:cNvPr>
          <p:cNvSpPr txBox="1"/>
          <p:nvPr/>
        </p:nvSpPr>
        <p:spPr>
          <a:xfrm>
            <a:off x="10722401" y="3804850"/>
            <a:ext cx="31834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1"/>
              <a:t>…</a:t>
            </a:r>
          </a:p>
        </p:txBody>
      </p:sp>
      <p:sp>
        <p:nvSpPr>
          <p:cNvPr id="1057" name="CuadroTexto 1056">
            <a:extLst>
              <a:ext uri="{FF2B5EF4-FFF2-40B4-BE49-F238E27FC236}">
                <a16:creationId xmlns:a16="http://schemas.microsoft.com/office/drawing/2014/main" id="{74DC6ABE-02ED-E9C0-7DEA-7056450D0938}"/>
              </a:ext>
            </a:extLst>
          </p:cNvPr>
          <p:cNvSpPr txBox="1"/>
          <p:nvPr/>
        </p:nvSpPr>
        <p:spPr>
          <a:xfrm>
            <a:off x="4151561" y="4601513"/>
            <a:ext cx="39254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u="sng" noProof="1"/>
              <a:t>SMILES → Neural Embedding</a:t>
            </a:r>
          </a:p>
        </p:txBody>
      </p:sp>
      <p:grpSp>
        <p:nvGrpSpPr>
          <p:cNvPr id="11" name="Grupo 10">
            <a:extLst>
              <a:ext uri="{FF2B5EF4-FFF2-40B4-BE49-F238E27FC236}">
                <a16:creationId xmlns:a16="http://schemas.microsoft.com/office/drawing/2014/main" id="{6F03835C-1AE9-A30F-2565-A76FABE9F554}"/>
              </a:ext>
            </a:extLst>
          </p:cNvPr>
          <p:cNvGrpSpPr/>
          <p:nvPr/>
        </p:nvGrpSpPr>
        <p:grpSpPr>
          <a:xfrm>
            <a:off x="519794" y="5130923"/>
            <a:ext cx="1665429" cy="1225578"/>
            <a:chOff x="392333" y="5187995"/>
            <a:chExt cx="1665429" cy="1225578"/>
          </a:xfrm>
        </p:grpSpPr>
        <p:pic>
          <p:nvPicPr>
            <p:cNvPr id="8" name="Imagen 7">
              <a:extLst>
                <a:ext uri="{FF2B5EF4-FFF2-40B4-BE49-F238E27FC236}">
                  <a16:creationId xmlns:a16="http://schemas.microsoft.com/office/drawing/2014/main" id="{7133E526-6554-A0B4-9013-1420CE0C4DC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42353" y="5238273"/>
              <a:ext cx="1565388" cy="1125022"/>
            </a:xfrm>
            <a:prstGeom prst="rect">
              <a:avLst/>
            </a:prstGeom>
          </p:spPr>
        </p:pic>
        <p:sp>
          <p:nvSpPr>
            <p:cNvPr id="4" name="Rectángulo: esquinas redondeadas 3">
              <a:extLst>
                <a:ext uri="{FF2B5EF4-FFF2-40B4-BE49-F238E27FC236}">
                  <a16:creationId xmlns:a16="http://schemas.microsoft.com/office/drawing/2014/main" id="{666C8195-F7A6-7FB8-0417-ED469BE7C332}"/>
                </a:ext>
              </a:extLst>
            </p:cNvPr>
            <p:cNvSpPr/>
            <p:nvPr/>
          </p:nvSpPr>
          <p:spPr>
            <a:xfrm>
              <a:off x="392333" y="5187995"/>
              <a:ext cx="1665429" cy="1225578"/>
            </a:xfrm>
            <a:prstGeom prst="round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6" name="CuadroTexto 5">
            <a:extLst>
              <a:ext uri="{FF2B5EF4-FFF2-40B4-BE49-F238E27FC236}">
                <a16:creationId xmlns:a16="http://schemas.microsoft.com/office/drawing/2014/main" id="{A3593480-D2E9-9E32-3655-C4B92FBC82D1}"/>
              </a:ext>
            </a:extLst>
          </p:cNvPr>
          <p:cNvSpPr txBox="1"/>
          <p:nvPr/>
        </p:nvSpPr>
        <p:spPr>
          <a:xfrm>
            <a:off x="721681" y="6319000"/>
            <a:ext cx="1261654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Large chemical db</a:t>
            </a:r>
          </a:p>
        </p:txBody>
      </p:sp>
      <p:sp>
        <p:nvSpPr>
          <p:cNvPr id="12" name="CuadroTexto 11">
            <a:extLst>
              <a:ext uri="{FF2B5EF4-FFF2-40B4-BE49-F238E27FC236}">
                <a16:creationId xmlns:a16="http://schemas.microsoft.com/office/drawing/2014/main" id="{786F06E1-519C-2534-70F3-A9A0C4D8C9E7}"/>
              </a:ext>
            </a:extLst>
          </p:cNvPr>
          <p:cNvSpPr txBox="1"/>
          <p:nvPr/>
        </p:nvSpPr>
        <p:spPr>
          <a:xfrm>
            <a:off x="2221535" y="5402013"/>
            <a:ext cx="1261654" cy="57394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sz="11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Representation learning</a:t>
            </a:r>
          </a:p>
        </p:txBody>
      </p:sp>
      <p:cxnSp>
        <p:nvCxnSpPr>
          <p:cNvPr id="14" name="Conector recto de flecha 13">
            <a:extLst>
              <a:ext uri="{FF2B5EF4-FFF2-40B4-BE49-F238E27FC236}">
                <a16:creationId xmlns:a16="http://schemas.microsoft.com/office/drawing/2014/main" id="{D996592F-04BF-1057-63AD-12576F18153D}"/>
              </a:ext>
            </a:extLst>
          </p:cNvPr>
          <p:cNvCxnSpPr>
            <a:cxnSpLocks/>
          </p:cNvCxnSpPr>
          <p:nvPr/>
        </p:nvCxnSpPr>
        <p:spPr>
          <a:xfrm>
            <a:off x="2260001" y="5730981"/>
            <a:ext cx="12616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grpSp>
        <p:nvGrpSpPr>
          <p:cNvPr id="1069" name="Grupo 1068">
            <a:extLst>
              <a:ext uri="{FF2B5EF4-FFF2-40B4-BE49-F238E27FC236}">
                <a16:creationId xmlns:a16="http://schemas.microsoft.com/office/drawing/2014/main" id="{2D803080-2D22-61C3-6B40-4FB518EBAE14}"/>
              </a:ext>
            </a:extLst>
          </p:cNvPr>
          <p:cNvGrpSpPr/>
          <p:nvPr/>
        </p:nvGrpSpPr>
        <p:grpSpPr>
          <a:xfrm flipH="1">
            <a:off x="4725731" y="5737387"/>
            <a:ext cx="1944183" cy="1391162"/>
            <a:chOff x="6105440" y="5672578"/>
            <a:chExt cx="1944183" cy="1391162"/>
          </a:xfrm>
        </p:grpSpPr>
        <p:cxnSp>
          <p:nvCxnSpPr>
            <p:cNvPr id="1033" name="Conector recto de flecha 1032">
              <a:extLst>
                <a:ext uri="{FF2B5EF4-FFF2-40B4-BE49-F238E27FC236}">
                  <a16:creationId xmlns:a16="http://schemas.microsoft.com/office/drawing/2014/main" id="{280527BD-4A85-6C64-DA4E-49C5BB2654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05440" y="5672578"/>
              <a:ext cx="1944183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038" name="Arco 1037">
              <a:extLst>
                <a:ext uri="{FF2B5EF4-FFF2-40B4-BE49-F238E27FC236}">
                  <a16:creationId xmlns:a16="http://schemas.microsoft.com/office/drawing/2014/main" id="{CD130AED-A103-0004-10B3-14072A2C77E3}"/>
                </a:ext>
              </a:extLst>
            </p:cNvPr>
            <p:cNvSpPr/>
            <p:nvPr/>
          </p:nvSpPr>
          <p:spPr>
            <a:xfrm>
              <a:off x="6162672" y="5672578"/>
              <a:ext cx="1504774" cy="1391162"/>
            </a:xfrm>
            <a:prstGeom prst="arc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</p:grpSp>
      <p:sp>
        <p:nvSpPr>
          <p:cNvPr id="1041" name="CuadroTexto 1040">
            <a:extLst>
              <a:ext uri="{FF2B5EF4-FFF2-40B4-BE49-F238E27FC236}">
                <a16:creationId xmlns:a16="http://schemas.microsoft.com/office/drawing/2014/main" id="{62B676EA-0B9E-FD55-BD2B-EF0FE755F8A9}"/>
              </a:ext>
            </a:extLst>
          </p:cNvPr>
          <p:cNvSpPr txBox="1"/>
          <p:nvPr/>
        </p:nvSpPr>
        <p:spPr>
          <a:xfrm>
            <a:off x="4470784" y="6366356"/>
            <a:ext cx="13299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b="1" noProof="1">
                <a:solidFill>
                  <a:srgbClr val="78206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Ibuprofen</a:t>
            </a:r>
            <a:r>
              <a:rPr lang="en-US" sz="1400" b="1" noProof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SMILES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59" name="CuadroTexto 1058">
                <a:extLst>
                  <a:ext uri="{FF2B5EF4-FFF2-40B4-BE49-F238E27FC236}">
                    <a16:creationId xmlns:a16="http://schemas.microsoft.com/office/drawing/2014/main" id="{058A701C-8BB5-4B70-1972-43EBBFB96102}"/>
                  </a:ext>
                </a:extLst>
              </p:cNvPr>
              <p:cNvSpPr txBox="1"/>
              <p:nvPr/>
            </p:nvSpPr>
            <p:spPr>
              <a:xfrm>
                <a:off x="4961465" y="5374719"/>
                <a:ext cx="1617552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GB" i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  <m:d>
                        <m:dPr>
                          <m:ctrlPr>
                            <a:rPr lang="en-GB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s-ES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59" name="CuadroTexto 1058">
                <a:extLst>
                  <a:ext uri="{FF2B5EF4-FFF2-40B4-BE49-F238E27FC236}">
                    <a16:creationId xmlns:a16="http://schemas.microsoft.com/office/drawing/2014/main" id="{058A701C-8BB5-4B70-1972-43EBBFB961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1465" y="5374719"/>
                <a:ext cx="1617552" cy="369332"/>
              </a:xfrm>
              <a:prstGeom prst="rect">
                <a:avLst/>
              </a:prstGeom>
              <a:blipFill>
                <a:blip r:embed="rId10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0" name="Grupo 1069">
            <a:extLst>
              <a:ext uri="{FF2B5EF4-FFF2-40B4-BE49-F238E27FC236}">
                <a16:creationId xmlns:a16="http://schemas.microsoft.com/office/drawing/2014/main" id="{3460D1AC-6972-B8AC-7AE7-A01AC6555CAF}"/>
              </a:ext>
            </a:extLst>
          </p:cNvPr>
          <p:cNvGrpSpPr/>
          <p:nvPr/>
        </p:nvGrpSpPr>
        <p:grpSpPr>
          <a:xfrm>
            <a:off x="4698415" y="5884213"/>
            <a:ext cx="2524936" cy="429640"/>
            <a:chOff x="6429333" y="5916389"/>
            <a:chExt cx="2524936" cy="429640"/>
          </a:xfrm>
        </p:grpSpPr>
        <p:sp>
          <p:nvSpPr>
            <p:cNvPr id="1044" name="CuadroTexto 1043">
              <a:extLst>
                <a:ext uri="{FF2B5EF4-FFF2-40B4-BE49-F238E27FC236}">
                  <a16:creationId xmlns:a16="http://schemas.microsoft.com/office/drawing/2014/main" id="{17FEF3F5-9E50-6314-9181-F38C0A73F42B}"/>
                </a:ext>
              </a:extLst>
            </p:cNvPr>
            <p:cNvSpPr txBox="1"/>
            <p:nvPr/>
          </p:nvSpPr>
          <p:spPr>
            <a:xfrm>
              <a:off x="7103049" y="5916389"/>
              <a:ext cx="1261655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 algn="ctr">
                <a:defRPr sz="1100" b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defRPr>
              </a:lvl1pPr>
            </a:lstStyle>
            <a:p>
              <a:r>
                <a:rPr lang="en-GB" dirty="0"/>
                <a:t>Feature extraction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4" name="CuadroTexto 1063">
                  <a:extLst>
                    <a:ext uri="{FF2B5EF4-FFF2-40B4-BE49-F238E27FC236}">
                      <a16:creationId xmlns:a16="http://schemas.microsoft.com/office/drawing/2014/main" id="{F319FD34-1111-1226-576B-2296FD938214}"/>
                    </a:ext>
                  </a:extLst>
                </p:cNvPr>
                <p:cNvSpPr txBox="1"/>
                <p:nvPr/>
              </p:nvSpPr>
              <p:spPr>
                <a:xfrm>
                  <a:off x="6429333" y="6084419"/>
                  <a:ext cx="2524936" cy="26161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S" sz="1050" b="1" i="1" smtClean="0">
                            <a:latin typeface="Cambria Math" panose="02040503050406030204" pitchFamily="18" charset="0"/>
                          </a:rPr>
                          <m:t>𝒙</m:t>
                        </m:r>
                        <m:r>
                          <a:rPr lang="es-ES" sz="105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GB" sz="105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en-GB" sz="1050" i="0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GB" sz="105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</m:e>
                        </m:d>
                        <m:r>
                          <a:rPr lang="en-GB" sz="1050" i="0">
                            <a:latin typeface="Cambria Math" panose="02040503050406030204" pitchFamily="18" charset="0"/>
                          </a:rPr>
                          <m:t>, … , </m:t>
                        </m:r>
                        <m:r>
                          <a:rPr lang="en-GB" sz="1050" i="1">
                            <a:latin typeface="Cambria Math" panose="02040503050406030204" pitchFamily="18" charset="0"/>
                          </a:rPr>
                          <m:t>𝑒</m:t>
                        </m:r>
                        <m:d>
                          <m:dPr>
                            <m:ctrlPr>
                              <a:rPr lang="en-GB" sz="105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GB" sz="105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𝑡</m:t>
                                </m:r>
                              </m:e>
                              <m:sub>
                                <m:r>
                                  <a:rPr lang="en-GB" sz="105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</m:e>
                        </m:d>
                      </m:oMath>
                    </m:oMathPara>
                  </a14:m>
                  <a:endParaRPr lang="en-GB" sz="1050" dirty="0"/>
                </a:p>
              </p:txBody>
            </p:sp>
          </mc:Choice>
          <mc:Fallback xmlns="">
            <p:sp>
              <p:nvSpPr>
                <p:cNvPr id="1064" name="CuadroTexto 1063">
                  <a:extLst>
                    <a:ext uri="{FF2B5EF4-FFF2-40B4-BE49-F238E27FC236}">
                      <a16:creationId xmlns:a16="http://schemas.microsoft.com/office/drawing/2014/main" id="{F319FD34-1111-1226-576B-2296FD93821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429333" y="6084419"/>
                  <a:ext cx="2524936" cy="261610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65" name="CuadroTexto 1064">
                <a:extLst>
                  <a:ext uri="{FF2B5EF4-FFF2-40B4-BE49-F238E27FC236}">
                    <a16:creationId xmlns:a16="http://schemas.microsoft.com/office/drawing/2014/main" id="{EA134F5B-32EC-4276-E7FC-5E4929ECC5F7}"/>
                  </a:ext>
                </a:extLst>
              </p:cNvPr>
              <p:cNvSpPr txBox="1"/>
              <p:nvPr/>
            </p:nvSpPr>
            <p:spPr>
              <a:xfrm>
                <a:off x="6331242" y="5568848"/>
                <a:ext cx="3057525" cy="30777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1400" i="1" smtClean="0"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=[1.12, 0.33, −1.34, …,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𝑛</m:t>
                      </m:r>
                      <m:r>
                        <a:rPr lang="es-ES" sz="14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GB" sz="1400" dirty="0"/>
              </a:p>
            </p:txBody>
          </p:sp>
        </mc:Choice>
        <mc:Fallback xmlns="">
          <p:sp>
            <p:nvSpPr>
              <p:cNvPr id="1065" name="CuadroTexto 1064">
                <a:extLst>
                  <a:ext uri="{FF2B5EF4-FFF2-40B4-BE49-F238E27FC236}">
                    <a16:creationId xmlns:a16="http://schemas.microsoft.com/office/drawing/2014/main" id="{EA134F5B-32EC-4276-E7FC-5E4929ECC5F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31242" y="5568848"/>
                <a:ext cx="3057525" cy="307777"/>
              </a:xfrm>
              <a:prstGeom prst="rect">
                <a:avLst/>
              </a:prstGeom>
              <a:blipFill>
                <a:blip r:embed="rId12"/>
                <a:stretch>
                  <a:fillRect b="-8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E8BE35-1D53-D7D6-FC94-87A873EFB8CB}"/>
                  </a:ext>
                </a:extLst>
              </p:cNvPr>
              <p:cNvSpPr txBox="1"/>
              <p:nvPr/>
            </p:nvSpPr>
            <p:spPr>
              <a:xfrm>
                <a:off x="9647944" y="6386836"/>
                <a:ext cx="2141439" cy="4308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>
                <a:defPPr>
                  <a:defRPr lang="en-US"/>
                </a:defPPr>
                <a:lvl1pPr algn="ctr">
                  <a:defRPr sz="1100" b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defRPr>
                </a:lvl1pPr>
              </a:lstStyle>
              <a:p>
                <a:r>
                  <a:rPr lang="en-US" noProof="1"/>
                  <a:t>Learned molecular embedding space (</a:t>
                </a:r>
                <a14:m>
                  <m:oMath xmlns:m="http://schemas.openxmlformats.org/officeDocument/2006/math">
                    <m:r>
                      <a:rPr lang="es-ES" b="1" i="1" noProof="1" smtClean="0">
                        <a:latin typeface="Cambria Math" panose="02040503050406030204" pitchFamily="18" charset="0"/>
                      </a:rPr>
                      <m:t>𝒌</m:t>
                    </m:r>
                  </m:oMath>
                </a14:m>
                <a:r>
                  <a:rPr lang="en-US" noProof="1"/>
                  <a:t>-dimensional)</a:t>
                </a:r>
              </a:p>
            </p:txBody>
          </p:sp>
        </mc:Choice>
        <mc:Fallback xmlns="">
          <p:sp>
            <p:nvSpPr>
              <p:cNvPr id="16" name="CuadroTexto 15">
                <a:extLst>
                  <a:ext uri="{FF2B5EF4-FFF2-40B4-BE49-F238E27FC236}">
                    <a16:creationId xmlns:a16="http://schemas.microsoft.com/office/drawing/2014/main" id="{A6E8BE35-1D53-D7D6-FC94-87A873EFB8C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47944" y="6386836"/>
                <a:ext cx="2141439" cy="430887"/>
              </a:xfrm>
              <a:prstGeom prst="rect">
                <a:avLst/>
              </a:prstGeom>
              <a:blipFill>
                <a:blip r:embed="rId13"/>
                <a:stretch>
                  <a:fillRect t="-1429" b="-1000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78" name="Grupo 1077">
            <a:extLst>
              <a:ext uri="{FF2B5EF4-FFF2-40B4-BE49-F238E27FC236}">
                <a16:creationId xmlns:a16="http://schemas.microsoft.com/office/drawing/2014/main" id="{F864B66A-D158-9D1C-4A01-A66CB32440EF}"/>
              </a:ext>
            </a:extLst>
          </p:cNvPr>
          <p:cNvGrpSpPr/>
          <p:nvPr/>
        </p:nvGrpSpPr>
        <p:grpSpPr>
          <a:xfrm>
            <a:off x="9885890" y="5110978"/>
            <a:ext cx="1523852" cy="1247749"/>
            <a:chOff x="9896949" y="5021422"/>
            <a:chExt cx="1523852" cy="1247749"/>
          </a:xfrm>
        </p:grpSpPr>
        <p:sp>
          <p:nvSpPr>
            <p:cNvPr id="60" name="Rectángulo: esquinas redondeadas 59">
              <a:extLst>
                <a:ext uri="{FF2B5EF4-FFF2-40B4-BE49-F238E27FC236}">
                  <a16:creationId xmlns:a16="http://schemas.microsoft.com/office/drawing/2014/main" id="{534EB05A-F451-63E2-1D4C-F0A1BEC37A4E}"/>
                </a:ext>
              </a:extLst>
            </p:cNvPr>
            <p:cNvSpPr/>
            <p:nvPr/>
          </p:nvSpPr>
          <p:spPr>
            <a:xfrm>
              <a:off x="10098896" y="5061989"/>
              <a:ext cx="1261654" cy="1201693"/>
            </a:xfrm>
            <a:prstGeom prst="roundRect">
              <a:avLst/>
            </a:prstGeom>
            <a:solidFill>
              <a:schemeClr val="bg2">
                <a:lumMod val="9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cxnSp>
          <p:nvCxnSpPr>
            <p:cNvPr id="18" name="Conector recto 17">
              <a:extLst>
                <a:ext uri="{FF2B5EF4-FFF2-40B4-BE49-F238E27FC236}">
                  <a16:creationId xmlns:a16="http://schemas.microsoft.com/office/drawing/2014/main" id="{E3C5FCA5-3EB2-DE35-4A48-C2A335EFEE1A}"/>
                </a:ext>
              </a:extLst>
            </p:cNvPr>
            <p:cNvCxnSpPr/>
            <p:nvPr/>
          </p:nvCxnSpPr>
          <p:spPr>
            <a:xfrm>
              <a:off x="10659984" y="5199960"/>
              <a:ext cx="0" cy="60007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1" name="Conector recto 20">
              <a:extLst>
                <a:ext uri="{FF2B5EF4-FFF2-40B4-BE49-F238E27FC236}">
                  <a16:creationId xmlns:a16="http://schemas.microsoft.com/office/drawing/2014/main" id="{245A6979-7A6E-E67C-EE16-F698EEE8186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387608" y="5800807"/>
              <a:ext cx="276074" cy="294503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Conector recto 23">
              <a:extLst>
                <a:ext uri="{FF2B5EF4-FFF2-40B4-BE49-F238E27FC236}">
                  <a16:creationId xmlns:a16="http://schemas.microsoft.com/office/drawing/2014/main" id="{B31CB71B-A635-3F28-6E75-E5F79A6925C8}"/>
                </a:ext>
              </a:extLst>
            </p:cNvPr>
            <p:cNvCxnSpPr>
              <a:cxnSpLocks/>
            </p:cNvCxnSpPr>
            <p:nvPr/>
          </p:nvCxnSpPr>
          <p:spPr>
            <a:xfrm>
              <a:off x="10663682" y="5800035"/>
              <a:ext cx="545534" cy="0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4" name="Conector recto 43">
              <a:extLst>
                <a:ext uri="{FF2B5EF4-FFF2-40B4-BE49-F238E27FC236}">
                  <a16:creationId xmlns:a16="http://schemas.microsoft.com/office/drawing/2014/main" id="{D49C5B09-32F9-6E03-D448-4352EEC0460C}"/>
                </a:ext>
              </a:extLst>
            </p:cNvPr>
            <p:cNvCxnSpPr>
              <a:cxnSpLocks/>
            </p:cNvCxnSpPr>
            <p:nvPr/>
          </p:nvCxnSpPr>
          <p:spPr>
            <a:xfrm>
              <a:off x="10252878" y="5800035"/>
              <a:ext cx="545534" cy="0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8" name="Conector recto 47">
              <a:extLst>
                <a:ext uri="{FF2B5EF4-FFF2-40B4-BE49-F238E27FC236}">
                  <a16:creationId xmlns:a16="http://schemas.microsoft.com/office/drawing/2014/main" id="{6D59460C-3393-4D6C-2F6C-3C66C7DF0468}"/>
                </a:ext>
              </a:extLst>
            </p:cNvPr>
            <p:cNvCxnSpPr>
              <a:cxnSpLocks/>
            </p:cNvCxnSpPr>
            <p:nvPr/>
          </p:nvCxnSpPr>
          <p:spPr>
            <a:xfrm>
              <a:off x="10659984" y="5671053"/>
              <a:ext cx="1317" cy="398063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51" name="Conector recto 50">
              <a:extLst>
                <a:ext uri="{FF2B5EF4-FFF2-40B4-BE49-F238E27FC236}">
                  <a16:creationId xmlns:a16="http://schemas.microsoft.com/office/drawing/2014/main" id="{CF2DD38A-A57C-D645-0680-5C90A42506C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593010" y="5580182"/>
              <a:ext cx="276074" cy="294503"/>
            </a:xfrm>
            <a:prstGeom prst="line">
              <a:avLst/>
            </a:prstGeom>
            <a:ln>
              <a:prstDash val="sysDot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52" name="Elipse 51">
              <a:extLst>
                <a:ext uri="{FF2B5EF4-FFF2-40B4-BE49-F238E27FC236}">
                  <a16:creationId xmlns:a16="http://schemas.microsoft.com/office/drawing/2014/main" id="{277DC9C2-00C1-45B0-452C-F1B342A8F0E9}"/>
                </a:ext>
              </a:extLst>
            </p:cNvPr>
            <p:cNvSpPr/>
            <p:nvPr/>
          </p:nvSpPr>
          <p:spPr>
            <a:xfrm>
              <a:off x="10400821" y="5822116"/>
              <a:ext cx="76013" cy="77817"/>
            </a:xfrm>
            <a:prstGeom prst="ellipse">
              <a:avLst/>
            </a:prstGeom>
            <a:solidFill>
              <a:srgbClr val="FF9A25"/>
            </a:solidFill>
            <a:ln w="6350">
              <a:solidFill>
                <a:schemeClr val="accent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3" name="Elipse 52">
              <a:extLst>
                <a:ext uri="{FF2B5EF4-FFF2-40B4-BE49-F238E27FC236}">
                  <a16:creationId xmlns:a16="http://schemas.microsoft.com/office/drawing/2014/main" id="{BC38FBB1-45A1-DDB6-FEC0-50C2EC82D519}"/>
                </a:ext>
              </a:extLst>
            </p:cNvPr>
            <p:cNvSpPr/>
            <p:nvPr/>
          </p:nvSpPr>
          <p:spPr>
            <a:xfrm>
              <a:off x="10595217" y="5329354"/>
              <a:ext cx="76014" cy="73003"/>
            </a:xfrm>
            <a:prstGeom prst="ellipse">
              <a:avLst/>
            </a:prstGeom>
            <a:solidFill>
              <a:srgbClr val="FFEA4E"/>
            </a:solidFill>
            <a:ln w="6350">
              <a:solidFill>
                <a:srgbClr val="CCCC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4" name="Elipse 53">
              <a:extLst>
                <a:ext uri="{FF2B5EF4-FFF2-40B4-BE49-F238E27FC236}">
                  <a16:creationId xmlns:a16="http://schemas.microsoft.com/office/drawing/2014/main" id="{A26FFCD0-314B-C18A-3EAD-B117FEE82D3F}"/>
                </a:ext>
              </a:extLst>
            </p:cNvPr>
            <p:cNvSpPr/>
            <p:nvPr/>
          </p:nvSpPr>
          <p:spPr>
            <a:xfrm>
              <a:off x="10540915" y="5930665"/>
              <a:ext cx="73376" cy="73002"/>
            </a:xfrm>
            <a:prstGeom prst="ellipse">
              <a:avLst/>
            </a:prstGeom>
            <a:solidFill>
              <a:srgbClr val="8CC253"/>
            </a:solidFill>
            <a:ln w="6350">
              <a:solidFill>
                <a:srgbClr val="3B7D2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55" name="Elipse 54">
              <a:extLst>
                <a:ext uri="{FF2B5EF4-FFF2-40B4-BE49-F238E27FC236}">
                  <a16:creationId xmlns:a16="http://schemas.microsoft.com/office/drawing/2014/main" id="{BAA8330C-AE21-C3E6-CC40-D763D79721F8}"/>
                </a:ext>
              </a:extLst>
            </p:cNvPr>
            <p:cNvSpPr/>
            <p:nvPr/>
          </p:nvSpPr>
          <p:spPr>
            <a:xfrm>
              <a:off x="10985725" y="5622403"/>
              <a:ext cx="76015" cy="73004"/>
            </a:xfrm>
            <a:prstGeom prst="ellipse">
              <a:avLst/>
            </a:prstGeom>
            <a:solidFill>
              <a:srgbClr val="00BBD3"/>
            </a:solidFill>
            <a:ln w="6350">
              <a:solidFill>
                <a:srgbClr val="0B76A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61" name="CuadroTexto 60">
              <a:extLst>
                <a:ext uri="{FF2B5EF4-FFF2-40B4-BE49-F238E27FC236}">
                  <a16:creationId xmlns:a16="http://schemas.microsoft.com/office/drawing/2014/main" id="{DE36A8B2-A17C-671A-1D6E-A57C188052E2}"/>
                </a:ext>
              </a:extLst>
            </p:cNvPr>
            <p:cNvSpPr txBox="1"/>
            <p:nvPr/>
          </p:nvSpPr>
          <p:spPr>
            <a:xfrm>
              <a:off x="11003814" y="5770056"/>
              <a:ext cx="41698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700"/>
              </a:lvl1pPr>
            </a:lstStyle>
            <a:p>
              <a:r>
                <a:rPr lang="en-US" noProof="1"/>
                <a:t>Dim 1</a:t>
              </a:r>
            </a:p>
          </p:txBody>
        </p:sp>
        <p:sp>
          <p:nvSpPr>
            <p:cNvPr id="62" name="CuadroTexto 61">
              <a:extLst>
                <a:ext uri="{FF2B5EF4-FFF2-40B4-BE49-F238E27FC236}">
                  <a16:creationId xmlns:a16="http://schemas.microsoft.com/office/drawing/2014/main" id="{6C713316-87F6-812A-BB8C-447D028AA1F6}"/>
                </a:ext>
              </a:extLst>
            </p:cNvPr>
            <p:cNvSpPr txBox="1"/>
            <p:nvPr/>
          </p:nvSpPr>
          <p:spPr>
            <a:xfrm>
              <a:off x="10479783" y="5021422"/>
              <a:ext cx="456666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700" noProof="1"/>
                <a:t>Dim 2</a:t>
              </a:r>
            </a:p>
          </p:txBody>
        </p:sp>
        <p:sp>
          <p:nvSpPr>
            <p:cNvPr id="63" name="CuadroTexto 62">
              <a:extLst>
                <a:ext uri="{FF2B5EF4-FFF2-40B4-BE49-F238E27FC236}">
                  <a16:creationId xmlns:a16="http://schemas.microsoft.com/office/drawing/2014/main" id="{761E8BFA-933E-FDF5-4D3F-DE3C722CD609}"/>
                </a:ext>
              </a:extLst>
            </p:cNvPr>
            <p:cNvSpPr txBox="1"/>
            <p:nvPr/>
          </p:nvSpPr>
          <p:spPr>
            <a:xfrm>
              <a:off x="10191782" y="6069116"/>
              <a:ext cx="413367" cy="2000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>
              <a:defPPr>
                <a:defRPr lang="en-US"/>
              </a:defPPr>
              <a:lvl1pPr>
                <a:defRPr sz="700"/>
              </a:lvl1pPr>
            </a:lstStyle>
            <a:p>
              <a:r>
                <a:rPr lang="en-US" noProof="1"/>
                <a:t>Dim 3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68" name="CuadroTexto 1067">
                  <a:extLst>
                    <a:ext uri="{FF2B5EF4-FFF2-40B4-BE49-F238E27FC236}">
                      <a16:creationId xmlns:a16="http://schemas.microsoft.com/office/drawing/2014/main" id="{B9C10625-41F6-2217-7AF5-F1301949B2BE}"/>
                    </a:ext>
                  </a:extLst>
                </p:cNvPr>
                <p:cNvSpPr txBox="1"/>
                <p:nvPr/>
              </p:nvSpPr>
              <p:spPr>
                <a:xfrm>
                  <a:off x="9896949" y="5061989"/>
                  <a:ext cx="883222" cy="374270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GB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GB">
                                <a:latin typeface="Cambria Math" panose="02040503050406030204" pitchFamily="18" charset="0"/>
                              </a:rPr>
                              <m:t>ℝ</m:t>
                            </m:r>
                          </m:e>
                          <m:sup>
                            <m:r>
                              <a:rPr lang="es-E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p>
                        </m:sSup>
                      </m:oMath>
                    </m:oMathPara>
                  </a14:m>
                  <a:endParaRPr lang="en-GB" dirty="0"/>
                </a:p>
              </p:txBody>
            </p:sp>
          </mc:Choice>
          <mc:Fallback xmlns="">
            <p:sp>
              <p:nvSpPr>
                <p:cNvPr id="1068" name="CuadroTexto 1067">
                  <a:extLst>
                    <a:ext uri="{FF2B5EF4-FFF2-40B4-BE49-F238E27FC236}">
                      <a16:creationId xmlns:a16="http://schemas.microsoft.com/office/drawing/2014/main" id="{B9C10625-41F6-2217-7AF5-F1301949B2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896949" y="5061989"/>
                  <a:ext cx="883222" cy="374270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GB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071" name="CuadroTexto 1070">
                <a:extLst>
                  <a:ext uri="{FF2B5EF4-FFF2-40B4-BE49-F238E27FC236}">
                    <a16:creationId xmlns:a16="http://schemas.microsoft.com/office/drawing/2014/main" id="{7AA5FE89-C135-743C-F5FD-DDE00641107F}"/>
                  </a:ext>
                </a:extLst>
              </p:cNvPr>
              <p:cNvSpPr txBox="1"/>
              <p:nvPr/>
            </p:nvSpPr>
            <p:spPr>
              <a:xfrm>
                <a:off x="3452849" y="5427373"/>
                <a:ext cx="1261654" cy="52322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sz="14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Embedder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GB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GB" sz="1400" i="1">
                              <a:latin typeface="Cambria Math" panose="02040503050406030204" pitchFamily="18" charset="0"/>
                            </a:rPr>
                            <m:t>𝜃</m:t>
                          </m:r>
                        </m:sub>
                      </m:sSub>
                    </m:oMath>
                  </m:oMathPara>
                </a14:m>
                <a:endParaRPr lang="en-US" sz="1400" b="1" noProof="1">
                  <a:latin typeface="Calibri" panose="020F0502020204030204" pitchFamily="34" charset="0"/>
                  <a:ea typeface="Calibri" panose="020F0502020204030204" pitchFamily="34" charset="0"/>
                  <a:cs typeface="Calibri" panose="020F0502020204030204" pitchFamily="34" charset="0"/>
                </a:endParaRPr>
              </a:p>
            </p:txBody>
          </p:sp>
        </mc:Choice>
        <mc:Fallback xmlns="">
          <p:sp>
            <p:nvSpPr>
              <p:cNvPr id="1071" name="CuadroTexto 1070">
                <a:extLst>
                  <a:ext uri="{FF2B5EF4-FFF2-40B4-BE49-F238E27FC236}">
                    <a16:creationId xmlns:a16="http://schemas.microsoft.com/office/drawing/2014/main" id="{7AA5FE89-C135-743C-F5FD-DDE00641107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2849" y="5427373"/>
                <a:ext cx="1261654" cy="523220"/>
              </a:xfrm>
              <a:prstGeom prst="rect">
                <a:avLst/>
              </a:prstGeom>
              <a:blipFill>
                <a:blip r:embed="rId15"/>
                <a:stretch>
                  <a:fillRect t="-1163" b="-348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3" name="CuadroTexto 1072">
                <a:extLst>
                  <a:ext uri="{FF2B5EF4-FFF2-40B4-BE49-F238E27FC236}">
                    <a16:creationId xmlns:a16="http://schemas.microsoft.com/office/drawing/2014/main" id="{897A4D00-6302-83EF-B51F-2FC39C43F804}"/>
                  </a:ext>
                </a:extLst>
              </p:cNvPr>
              <p:cNvSpPr txBox="1"/>
              <p:nvPr/>
            </p:nvSpPr>
            <p:spPr>
              <a:xfrm>
                <a:off x="7391927" y="5927450"/>
                <a:ext cx="1339913" cy="76944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Fixed length (</a:t>
                </a:r>
                <a14:m>
                  <m:oMath xmlns:m="http://schemas.openxmlformats.org/officeDocument/2006/math">
                    <m:r>
                      <a:rPr lang="es-ES" sz="1100" b="1" i="1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)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Obscure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Dense</a:t>
                </a:r>
              </a:p>
              <a:p>
                <a:r>
                  <a:rPr lang="en-GB" sz="1100" b="1" noProof="1">
                    <a:latin typeface="Calibri" panose="020F0502020204030204" pitchFamily="34" charset="0"/>
                    <a:ea typeface="Calibri" panose="020F0502020204030204" pitchFamily="34" charset="0"/>
                    <a:cs typeface="Calibri" panose="020F0502020204030204" pitchFamily="34" charset="0"/>
                  </a:rPr>
                  <a:t>• Continuous</a:t>
                </a:r>
              </a:p>
            </p:txBody>
          </p:sp>
        </mc:Choice>
        <mc:Fallback xmlns="">
          <p:sp>
            <p:nvSpPr>
              <p:cNvPr id="1073" name="CuadroTexto 1072">
                <a:extLst>
                  <a:ext uri="{FF2B5EF4-FFF2-40B4-BE49-F238E27FC236}">
                    <a16:creationId xmlns:a16="http://schemas.microsoft.com/office/drawing/2014/main" id="{897A4D00-6302-83EF-B51F-2FC39C43F8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1927" y="5927450"/>
                <a:ext cx="1339913" cy="769441"/>
              </a:xfrm>
              <a:prstGeom prst="rect">
                <a:avLst/>
              </a:prstGeom>
              <a:blipFill>
                <a:blip r:embed="rId16"/>
                <a:stretch>
                  <a:fillRect b="-393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75" name="CuadroTexto 1074">
                <a:extLst>
                  <a:ext uri="{FF2B5EF4-FFF2-40B4-BE49-F238E27FC236}">
                    <a16:creationId xmlns:a16="http://schemas.microsoft.com/office/drawing/2014/main" id="{5882E7B7-6110-BB3E-2988-4EA9DE2A0E5F}"/>
                  </a:ext>
                </a:extLst>
              </p:cNvPr>
              <p:cNvSpPr txBox="1"/>
              <p:nvPr/>
            </p:nvSpPr>
            <p:spPr>
              <a:xfrm>
                <a:off x="9071626" y="5395786"/>
                <a:ext cx="635962" cy="3742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GB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m:rPr>
                              <m:sty m:val="p"/>
                            </m:rPr>
                            <a:rPr lang="es-ES" b="0" i="0" smtClean="0">
                              <a:latin typeface="Cambria Math" panose="02040503050406030204" pitchFamily="18" charset="0"/>
                            </a:rPr>
                            <m:t>z</m:t>
                          </m:r>
                          <m:r>
                            <a:rPr lang="es-ES" b="0" i="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m:rPr>
                              <m:sty m:val="p"/>
                            </m:rPr>
                            <a:rPr lang="el-GR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ϵ</m:t>
                          </m:r>
                          <m:r>
                            <a:rPr lang="es-E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GB">
                              <a:latin typeface="Cambria Math" panose="02040503050406030204" pitchFamily="18" charset="0"/>
                            </a:rPr>
                            <m:t>ℝ</m:t>
                          </m:r>
                        </m:e>
                        <m:sup>
                          <m:r>
                            <a:rPr lang="es-E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p>
                      </m:sSup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1075" name="CuadroTexto 1074">
                <a:extLst>
                  <a:ext uri="{FF2B5EF4-FFF2-40B4-BE49-F238E27FC236}">
                    <a16:creationId xmlns:a16="http://schemas.microsoft.com/office/drawing/2014/main" id="{5882E7B7-6110-BB3E-2988-4EA9DE2A0E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71626" y="5395786"/>
                <a:ext cx="635962" cy="374270"/>
              </a:xfrm>
              <a:prstGeom prst="rect">
                <a:avLst/>
              </a:prstGeom>
              <a:blipFill>
                <a:blip r:embed="rId17"/>
                <a:stretch>
                  <a:fillRect r="-1538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76" name="Conector recto de flecha 1075">
            <a:extLst>
              <a:ext uri="{FF2B5EF4-FFF2-40B4-BE49-F238E27FC236}">
                <a16:creationId xmlns:a16="http://schemas.microsoft.com/office/drawing/2014/main" id="{B1301A2F-53FB-B1D4-4902-44CE14A54D87}"/>
              </a:ext>
            </a:extLst>
          </p:cNvPr>
          <p:cNvCxnSpPr>
            <a:cxnSpLocks/>
          </p:cNvCxnSpPr>
          <p:nvPr/>
        </p:nvCxnSpPr>
        <p:spPr>
          <a:xfrm>
            <a:off x="9009519" y="5737387"/>
            <a:ext cx="908988" cy="666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79" name="Elipse 1078">
            <a:extLst>
              <a:ext uri="{FF2B5EF4-FFF2-40B4-BE49-F238E27FC236}">
                <a16:creationId xmlns:a16="http://schemas.microsoft.com/office/drawing/2014/main" id="{9CDD35AF-0284-96B3-3A9E-9F985A4DECB5}"/>
              </a:ext>
            </a:extLst>
          </p:cNvPr>
          <p:cNvSpPr/>
          <p:nvPr/>
        </p:nvSpPr>
        <p:spPr>
          <a:xfrm>
            <a:off x="10784681" y="5983718"/>
            <a:ext cx="76015" cy="73004"/>
          </a:xfrm>
          <a:prstGeom prst="ellipse">
            <a:avLst/>
          </a:prstGeom>
          <a:solidFill>
            <a:srgbClr val="78206E"/>
          </a:solidFill>
          <a:ln w="63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>
              <a:solidFill>
                <a:srgbClr val="78206E"/>
              </a:solidFill>
            </a:endParaRPr>
          </a:p>
        </p:txBody>
      </p:sp>
      <p:sp>
        <p:nvSpPr>
          <p:cNvPr id="1082" name="CuadroTexto 1081">
            <a:extLst>
              <a:ext uri="{FF2B5EF4-FFF2-40B4-BE49-F238E27FC236}">
                <a16:creationId xmlns:a16="http://schemas.microsoft.com/office/drawing/2014/main" id="{8D918043-6CE0-2B47-30E8-9FDE4F38BE59}"/>
              </a:ext>
            </a:extLst>
          </p:cNvPr>
          <p:cNvSpPr txBox="1"/>
          <p:nvPr/>
        </p:nvSpPr>
        <p:spPr>
          <a:xfrm>
            <a:off x="10747397" y="6004777"/>
            <a:ext cx="656929" cy="2154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800" b="1" noProof="1">
                <a:solidFill>
                  <a:srgbClr val="78206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Ibuprofen</a:t>
            </a:r>
            <a:endParaRPr lang="en-GB" sz="800" dirty="0"/>
          </a:p>
        </p:txBody>
      </p:sp>
      <p:grpSp>
        <p:nvGrpSpPr>
          <p:cNvPr id="5" name="Grupo 4">
            <a:extLst>
              <a:ext uri="{FF2B5EF4-FFF2-40B4-BE49-F238E27FC236}">
                <a16:creationId xmlns:a16="http://schemas.microsoft.com/office/drawing/2014/main" id="{1370DFA1-252A-F32B-FB64-E2D0B34626F5}"/>
              </a:ext>
            </a:extLst>
          </p:cNvPr>
          <p:cNvGrpSpPr/>
          <p:nvPr/>
        </p:nvGrpSpPr>
        <p:grpSpPr>
          <a:xfrm>
            <a:off x="5392664" y="2836104"/>
            <a:ext cx="5408529" cy="1227381"/>
            <a:chOff x="5392664" y="2836104"/>
            <a:chExt cx="5408529" cy="1227381"/>
          </a:xfrm>
        </p:grpSpPr>
        <p:pic>
          <p:nvPicPr>
            <p:cNvPr id="3" name="Imagen 2">
              <a:extLst>
                <a:ext uri="{FF2B5EF4-FFF2-40B4-BE49-F238E27FC236}">
                  <a16:creationId xmlns:a16="http://schemas.microsoft.com/office/drawing/2014/main" id="{6D7ADA22-65AA-0476-31B9-05EC1314604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5392664" y="2836104"/>
              <a:ext cx="1003307" cy="907911"/>
            </a:xfrm>
            <a:prstGeom prst="rect">
              <a:avLst/>
            </a:prstGeom>
          </p:spPr>
        </p:pic>
        <p:pic>
          <p:nvPicPr>
            <p:cNvPr id="1049" name="Imagen 1048">
              <a:extLst>
                <a:ext uri="{FF2B5EF4-FFF2-40B4-BE49-F238E27FC236}">
                  <a16:creationId xmlns:a16="http://schemas.microsoft.com/office/drawing/2014/main" id="{30171FFD-6E96-EC4B-C747-A41BBF61F4BE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9408222" y="2877502"/>
              <a:ext cx="1049161" cy="888087"/>
            </a:xfrm>
            <a:prstGeom prst="rect">
              <a:avLst/>
            </a:prstGeom>
          </p:spPr>
        </p:pic>
        <p:pic>
          <p:nvPicPr>
            <p:cNvPr id="1047" name="Imagen 1046">
              <a:extLst>
                <a:ext uri="{FF2B5EF4-FFF2-40B4-BE49-F238E27FC236}">
                  <a16:creationId xmlns:a16="http://schemas.microsoft.com/office/drawing/2014/main" id="{8CEF6736-A743-0551-D7BF-84D678EEDC1A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8534663" y="2952481"/>
              <a:ext cx="956235" cy="824037"/>
            </a:xfrm>
            <a:prstGeom prst="rect">
              <a:avLst/>
            </a:prstGeom>
          </p:spPr>
        </p:pic>
        <p:pic>
          <p:nvPicPr>
            <p:cNvPr id="1045" name="Imagen 1044">
              <a:extLst>
                <a:ext uri="{FF2B5EF4-FFF2-40B4-BE49-F238E27FC236}">
                  <a16:creationId xmlns:a16="http://schemas.microsoft.com/office/drawing/2014/main" id="{EB889269-FF30-2244-8F87-31E5200D8F67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7385846" y="2844906"/>
              <a:ext cx="1087584" cy="918090"/>
            </a:xfrm>
            <a:prstGeom prst="rect">
              <a:avLst/>
            </a:prstGeom>
          </p:spPr>
        </p:pic>
        <p:pic>
          <p:nvPicPr>
            <p:cNvPr id="1037" name="Imagen 1036">
              <a:extLst>
                <a:ext uri="{FF2B5EF4-FFF2-40B4-BE49-F238E27FC236}">
                  <a16:creationId xmlns:a16="http://schemas.microsoft.com/office/drawing/2014/main" id="{D7213B68-699B-F83E-49D5-3499F6AF31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14800" y="2934392"/>
              <a:ext cx="868533" cy="752729"/>
            </a:xfrm>
            <a:prstGeom prst="rect">
              <a:avLst/>
            </a:prstGeom>
          </p:spPr>
        </p:pic>
        <p:sp>
          <p:nvSpPr>
            <p:cNvPr id="57" name="Rectángulo 56">
              <a:extLst>
                <a:ext uri="{FF2B5EF4-FFF2-40B4-BE49-F238E27FC236}">
                  <a16:creationId xmlns:a16="http://schemas.microsoft.com/office/drawing/2014/main" id="{E3530447-450B-73E4-A0B3-9E6792B0B693}"/>
                </a:ext>
              </a:extLst>
            </p:cNvPr>
            <p:cNvSpPr/>
            <p:nvPr/>
          </p:nvSpPr>
          <p:spPr>
            <a:xfrm>
              <a:off x="708506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8" name="Rectángulo 57">
              <a:extLst>
                <a:ext uri="{FF2B5EF4-FFF2-40B4-BE49-F238E27FC236}">
                  <a16:creationId xmlns:a16="http://schemas.microsoft.com/office/drawing/2014/main" id="{D6A46203-80E3-A713-536F-7F7649F924EE}"/>
                </a:ext>
              </a:extLst>
            </p:cNvPr>
            <p:cNvSpPr/>
            <p:nvPr/>
          </p:nvSpPr>
          <p:spPr>
            <a:xfrm>
              <a:off x="742289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9" name="Rectángulo 1028">
              <a:extLst>
                <a:ext uri="{FF2B5EF4-FFF2-40B4-BE49-F238E27FC236}">
                  <a16:creationId xmlns:a16="http://schemas.microsoft.com/office/drawing/2014/main" id="{EFE7F150-310D-5F3D-26A6-43FAEBCBFD96}"/>
                </a:ext>
              </a:extLst>
            </p:cNvPr>
            <p:cNvSpPr/>
            <p:nvPr/>
          </p:nvSpPr>
          <p:spPr>
            <a:xfrm>
              <a:off x="809855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30" name="Rectángulo 1029">
              <a:extLst>
                <a:ext uri="{FF2B5EF4-FFF2-40B4-BE49-F238E27FC236}">
                  <a16:creationId xmlns:a16="http://schemas.microsoft.com/office/drawing/2014/main" id="{C2B690CC-90DF-899E-A66B-CAE6ACFDE4AA}"/>
                </a:ext>
              </a:extLst>
            </p:cNvPr>
            <p:cNvSpPr/>
            <p:nvPr/>
          </p:nvSpPr>
          <p:spPr>
            <a:xfrm>
              <a:off x="843638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32" name="Rectángulo 1031">
              <a:extLst>
                <a:ext uri="{FF2B5EF4-FFF2-40B4-BE49-F238E27FC236}">
                  <a16:creationId xmlns:a16="http://schemas.microsoft.com/office/drawing/2014/main" id="{1A6470AC-E948-7F3E-0300-2F511AF6A0C2}"/>
                </a:ext>
              </a:extLst>
            </p:cNvPr>
            <p:cNvSpPr/>
            <p:nvPr/>
          </p:nvSpPr>
          <p:spPr>
            <a:xfrm>
              <a:off x="911204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4" name="Rectángulo 1023">
              <a:extLst>
                <a:ext uri="{FF2B5EF4-FFF2-40B4-BE49-F238E27FC236}">
                  <a16:creationId xmlns:a16="http://schemas.microsoft.com/office/drawing/2014/main" id="{59E1345C-7BDA-E379-3647-F1A6B91E89C9}"/>
                </a:ext>
              </a:extLst>
            </p:cNvPr>
            <p:cNvSpPr/>
            <p:nvPr/>
          </p:nvSpPr>
          <p:spPr>
            <a:xfrm>
              <a:off x="944987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7" name="Rectángulo 1026">
              <a:extLst>
                <a:ext uri="{FF2B5EF4-FFF2-40B4-BE49-F238E27FC236}">
                  <a16:creationId xmlns:a16="http://schemas.microsoft.com/office/drawing/2014/main" id="{6FD4FD63-4104-EC83-694B-A8688C02603D}"/>
                </a:ext>
              </a:extLst>
            </p:cNvPr>
            <p:cNvSpPr/>
            <p:nvPr/>
          </p:nvSpPr>
          <p:spPr>
            <a:xfrm>
              <a:off x="1012553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1028" name="Rectángulo 1027">
              <a:extLst>
                <a:ext uri="{FF2B5EF4-FFF2-40B4-BE49-F238E27FC236}">
                  <a16:creationId xmlns:a16="http://schemas.microsoft.com/office/drawing/2014/main" id="{882496BE-3D6B-9FCE-FC35-5D90FED32610}"/>
                </a:ext>
              </a:extLst>
            </p:cNvPr>
            <p:cNvSpPr/>
            <p:nvPr/>
          </p:nvSpPr>
          <p:spPr>
            <a:xfrm>
              <a:off x="1046336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45" name="Rectángulo 44">
              <a:extLst>
                <a:ext uri="{FF2B5EF4-FFF2-40B4-BE49-F238E27FC236}">
                  <a16:creationId xmlns:a16="http://schemas.microsoft.com/office/drawing/2014/main" id="{69ACFBF6-58C3-D303-855A-6EA257996C77}"/>
                </a:ext>
              </a:extLst>
            </p:cNvPr>
            <p:cNvSpPr/>
            <p:nvPr/>
          </p:nvSpPr>
          <p:spPr>
            <a:xfrm>
              <a:off x="539591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47" name="Rectángulo 46">
              <a:extLst>
                <a:ext uri="{FF2B5EF4-FFF2-40B4-BE49-F238E27FC236}">
                  <a16:creationId xmlns:a16="http://schemas.microsoft.com/office/drawing/2014/main" id="{E8DCCE86-445E-1077-ED0A-DA6F3155CC68}"/>
                </a:ext>
              </a:extLst>
            </p:cNvPr>
            <p:cNvSpPr/>
            <p:nvPr/>
          </p:nvSpPr>
          <p:spPr>
            <a:xfrm>
              <a:off x="607157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9" name="Rectángulo 58">
              <a:extLst>
                <a:ext uri="{FF2B5EF4-FFF2-40B4-BE49-F238E27FC236}">
                  <a16:creationId xmlns:a16="http://schemas.microsoft.com/office/drawing/2014/main" id="{DEC51D03-9A87-7A1C-3349-74CBF0F31317}"/>
                </a:ext>
              </a:extLst>
            </p:cNvPr>
            <p:cNvSpPr/>
            <p:nvPr/>
          </p:nvSpPr>
          <p:spPr>
            <a:xfrm>
              <a:off x="7760723" y="3757035"/>
              <a:ext cx="337830" cy="306450"/>
            </a:xfrm>
            <a:prstGeom prst="rect">
              <a:avLst/>
            </a:prstGeom>
            <a:solidFill>
              <a:srgbClr val="FFEA4E"/>
            </a:solidFill>
            <a:ln>
              <a:solidFill>
                <a:srgbClr val="CCCC00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1</a:t>
              </a:r>
            </a:p>
          </p:txBody>
        </p:sp>
        <p:sp>
          <p:nvSpPr>
            <p:cNvPr id="1025" name="Rectángulo 1024">
              <a:extLst>
                <a:ext uri="{FF2B5EF4-FFF2-40B4-BE49-F238E27FC236}">
                  <a16:creationId xmlns:a16="http://schemas.microsoft.com/office/drawing/2014/main" id="{C55BF753-165B-1D7D-B6D6-0108AC4D937B}"/>
                </a:ext>
              </a:extLst>
            </p:cNvPr>
            <p:cNvSpPr/>
            <p:nvPr/>
          </p:nvSpPr>
          <p:spPr>
            <a:xfrm>
              <a:off x="9787703" y="3757035"/>
              <a:ext cx="337830" cy="306450"/>
            </a:xfrm>
            <a:prstGeom prst="rect">
              <a:avLst/>
            </a:prstGeom>
            <a:solidFill>
              <a:srgbClr val="00BBD3"/>
            </a:solidFill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0</a:t>
              </a:r>
            </a:p>
          </p:txBody>
        </p:sp>
        <p:sp>
          <p:nvSpPr>
            <p:cNvPr id="1053" name="Rectángulo 1052">
              <a:extLst>
                <a:ext uri="{FF2B5EF4-FFF2-40B4-BE49-F238E27FC236}">
                  <a16:creationId xmlns:a16="http://schemas.microsoft.com/office/drawing/2014/main" id="{E3A926DF-9DA7-BF9B-8BFC-31C903000E8B}"/>
                </a:ext>
              </a:extLst>
            </p:cNvPr>
            <p:cNvSpPr/>
            <p:nvPr/>
          </p:nvSpPr>
          <p:spPr>
            <a:xfrm>
              <a:off x="6411153" y="3757035"/>
              <a:ext cx="337830" cy="306450"/>
            </a:xfrm>
            <a:prstGeom prst="rect">
              <a:avLst/>
            </a:prstGeom>
            <a:ln/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sz="1100" noProof="1"/>
                <a:t>0</a:t>
              </a:r>
            </a:p>
          </p:txBody>
        </p:sp>
        <p:sp>
          <p:nvSpPr>
            <p:cNvPr id="56" name="Rectángulo 55">
              <a:extLst>
                <a:ext uri="{FF2B5EF4-FFF2-40B4-BE49-F238E27FC236}">
                  <a16:creationId xmlns:a16="http://schemas.microsoft.com/office/drawing/2014/main" id="{C666F80B-684C-F638-A8A5-528CB77EC7C7}"/>
                </a:ext>
              </a:extLst>
            </p:cNvPr>
            <p:cNvSpPr/>
            <p:nvPr/>
          </p:nvSpPr>
          <p:spPr>
            <a:xfrm>
              <a:off x="6747233" y="3757035"/>
              <a:ext cx="337830" cy="306450"/>
            </a:xfrm>
            <a:prstGeom prst="rect">
              <a:avLst/>
            </a:prstGeom>
            <a:solidFill>
              <a:srgbClr val="FF9A25"/>
            </a:solidFill>
            <a:ln>
              <a:solidFill>
                <a:schemeClr val="accent2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4</a:t>
              </a:r>
            </a:p>
          </p:txBody>
        </p:sp>
        <p:sp>
          <p:nvSpPr>
            <p:cNvPr id="46" name="Rectángulo 45">
              <a:extLst>
                <a:ext uri="{FF2B5EF4-FFF2-40B4-BE49-F238E27FC236}">
                  <a16:creationId xmlns:a16="http://schemas.microsoft.com/office/drawing/2014/main" id="{08C14244-D2BC-2158-5A7F-C938E83054C7}"/>
                </a:ext>
              </a:extLst>
            </p:cNvPr>
            <p:cNvSpPr/>
            <p:nvPr/>
          </p:nvSpPr>
          <p:spPr>
            <a:xfrm>
              <a:off x="5733743" y="3757035"/>
              <a:ext cx="337830" cy="306450"/>
            </a:xfrm>
            <a:prstGeom prst="rect">
              <a:avLst/>
            </a:prstGeom>
            <a:solidFill>
              <a:srgbClr val="FF66B3"/>
            </a:solidFill>
            <a:ln>
              <a:solidFill>
                <a:schemeClr val="accent5"/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0</a:t>
              </a:r>
            </a:p>
          </p:txBody>
        </p:sp>
        <p:sp>
          <p:nvSpPr>
            <p:cNvPr id="1031" name="Rectángulo 1030">
              <a:extLst>
                <a:ext uri="{FF2B5EF4-FFF2-40B4-BE49-F238E27FC236}">
                  <a16:creationId xmlns:a16="http://schemas.microsoft.com/office/drawing/2014/main" id="{04677E3B-A939-6146-5F66-E718CBA9026C}"/>
                </a:ext>
              </a:extLst>
            </p:cNvPr>
            <p:cNvSpPr/>
            <p:nvPr/>
          </p:nvSpPr>
          <p:spPr>
            <a:xfrm>
              <a:off x="8774213" y="3757035"/>
              <a:ext cx="337830" cy="306450"/>
            </a:xfrm>
            <a:prstGeom prst="rect">
              <a:avLst/>
            </a:prstGeom>
            <a:solidFill>
              <a:srgbClr val="8CC253"/>
            </a:solidFill>
            <a:ln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dk1"/>
            </a:lnRef>
            <a:fillRef idx="2">
              <a:schemeClr val="dk1"/>
            </a:fillRef>
            <a:effectRef idx="1">
              <a:schemeClr val="dk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US" noProof="1"/>
                <a:t>1</a:t>
              </a:r>
            </a:p>
          </p:txBody>
        </p:sp>
      </p:grpSp>
      <p:sp>
        <p:nvSpPr>
          <p:cNvPr id="2" name="Text Box 1">
            <a:extLst>
              <a:ext uri="{FF2B5EF4-FFF2-40B4-BE49-F238E27FC236}">
                <a16:creationId xmlns:a16="http://schemas.microsoft.com/office/drawing/2014/main" id="{AB779B5B-CEF6-1AA0-9261-EDCDCCE371B9}"/>
              </a:ext>
            </a:extLst>
          </p:cNvPr>
          <p:cNvSpPr txBox="1"/>
          <p:nvPr/>
        </p:nvSpPr>
        <p:spPr>
          <a:xfrm>
            <a:off x="-50671" y="133585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Text Box 1">
            <a:extLst>
              <a:ext uri="{FF2B5EF4-FFF2-40B4-BE49-F238E27FC236}">
                <a16:creationId xmlns:a16="http://schemas.microsoft.com/office/drawing/2014/main" id="{C0376401-464F-A6FC-FAC1-ED020B54C875}"/>
              </a:ext>
            </a:extLst>
          </p:cNvPr>
          <p:cNvSpPr txBox="1"/>
          <p:nvPr/>
        </p:nvSpPr>
        <p:spPr>
          <a:xfrm>
            <a:off x="-41108" y="2274599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" name="Text Box 1">
            <a:extLst>
              <a:ext uri="{FF2B5EF4-FFF2-40B4-BE49-F238E27FC236}">
                <a16:creationId xmlns:a16="http://schemas.microsoft.com/office/drawing/2014/main" id="{4D1353D1-625C-2244-F83D-787641C8F19B}"/>
              </a:ext>
            </a:extLst>
          </p:cNvPr>
          <p:cNvSpPr txBox="1"/>
          <p:nvPr/>
        </p:nvSpPr>
        <p:spPr>
          <a:xfrm>
            <a:off x="-45573" y="4554832"/>
            <a:ext cx="630110" cy="461179"/>
          </a:xfrm>
          <a:prstGeom prst="rect">
            <a:avLst/>
          </a:prstGeom>
          <a:noFill/>
          <a:ln>
            <a:noFill/>
          </a:ln>
        </p:spPr>
        <p:txBody>
          <a:bodyPr rot="0" spcFirstLastPara="0" vert="horz" wrap="non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lnSpc>
                <a:spcPct val="107000"/>
              </a:lnSpc>
              <a:spcAft>
                <a:spcPts val="800"/>
              </a:spcAft>
              <a:buNone/>
            </a:pPr>
            <a:r>
              <a:rPr lang="es-ES" sz="2000" b="1" dirty="0">
                <a:ln>
                  <a:noFill/>
                </a:ln>
                <a:solidFill>
                  <a:srgbClr val="000000"/>
                </a:solidFill>
                <a:effectLst>
                  <a:outerShdw blurRad="38100" dist="19050" dir="2700000" algn="tl">
                    <a:schemeClr val="dk1">
                      <a:alpha val="40000"/>
                    </a:schemeClr>
                  </a:outerShdw>
                </a:effectLst>
                <a:latin typeface="Calibri" panose="020F0502020204030204" pitchFamily="34" charset="0"/>
                <a:ea typeface="Times New Roman" panose="02020603050405020304" pitchFamily="18" charset="0"/>
                <a:cs typeface="Times New Roman" panose="02020603050405020304" pitchFamily="18" charset="0"/>
              </a:rPr>
              <a:t>C</a:t>
            </a:r>
            <a:endParaRPr lang="en-GB" sz="1100" b="1" dirty="0">
              <a:effectLst/>
              <a:latin typeface="Calibri" panose="020F0502020204030204" pitchFamily="34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22406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279</Words>
  <Application>Microsoft Office PowerPoint</Application>
  <PresentationFormat>Widescreen</PresentationFormat>
  <Paragraphs>76</Paragraphs>
  <Slides>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8" baseType="lpstr">
      <vt:lpstr>Aptos</vt:lpstr>
      <vt:lpstr>Aptos Display</vt:lpstr>
      <vt:lpstr>Arial</vt:lpstr>
      <vt:lpstr>Calibri</vt:lpstr>
      <vt:lpstr>Cambria Math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Gonzalo Robles Criado</dc:creator>
  <cp:lastModifiedBy>Gonzalo Robles Criado</cp:lastModifiedBy>
  <cp:revision>4</cp:revision>
  <dcterms:created xsi:type="dcterms:W3CDTF">2025-09-28T13:54:23Z</dcterms:created>
  <dcterms:modified xsi:type="dcterms:W3CDTF">2026-04-15T20:01:56Z</dcterms:modified>
</cp:coreProperties>
</file>